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C4D56"/>
          </a:solidFill>
          <a:ln w="12700">
            <a:solidFill>
              <a:srgbClr val="FC4D56"/>
            </a:solidFill>
            <a:prstDash val="solid"/>
          </a:ln>
        </p:spPr>
      </p:sp>
      <p:sp>
        <p:nvSpPr>
          <p:cNvPr id="3" name="Shape 1"/>
          <p:cNvSpPr/>
          <p:nvPr/>
        </p:nvSpPr>
        <p:spPr>
          <a:xfrm>
            <a:off x="0" y="82296"/>
            <a:ext cx="411480" cy="5061204"/>
          </a:xfrm>
          <a:prstGeom prst="rect">
            <a:avLst/>
          </a:prstGeom>
          <a:solidFill>
            <a:srgbClr val="51AFE9"/>
          </a:solidFill>
          <a:ln w="12700">
            <a:solidFill>
              <a:srgbClr val="51AFE9"/>
            </a:solidFill>
            <a:prstDash val="solid"/>
          </a:ln>
        </p:spPr>
      </p:sp>
      <p:sp>
        <p:nvSpPr>
          <p:cNvPr id="4" name="Shape 2"/>
          <p:cNvSpPr/>
          <p:nvPr/>
        </p:nvSpPr>
        <p:spPr>
          <a:xfrm>
            <a:off x="5852160" y="0"/>
            <a:ext cx="3291840" cy="5143500"/>
          </a:xfrm>
          <a:prstGeom prst="rect">
            <a:avLst/>
          </a:prstGeom>
          <a:solidFill>
            <a:srgbClr val="020304"/>
          </a:solidFill>
          <a:ln w="12700">
            <a:solidFill>
              <a:srgbClr val="020304"/>
            </a:solidFill>
            <a:prstDash val="solid"/>
          </a:ln>
        </p:spPr>
      </p:sp>
      <p:sp>
        <p:nvSpPr>
          <p:cNvPr id="5" name="Text 3"/>
          <p:cNvSpPr/>
          <p:nvPr/>
        </p:nvSpPr>
        <p:spPr>
          <a:xfrm>
            <a:off x="594360" y="1005840"/>
            <a:ext cx="5029200" cy="292608"/>
          </a:xfrm>
          <a:prstGeom prst="rect">
            <a:avLst/>
          </a:prstGeom>
          <a:noFill/>
          <a:ln/>
        </p:spPr>
        <p:txBody>
          <a:bodyPr wrap="square" lIns="0" tIns="0" rIns="0" bIns="0" rtlCol="0" anchor="ctr"/>
          <a:lstStyle/>
          <a:p>
            <a:pPr algn="l" indent="0" marL="0">
              <a:buNone/>
            </a:pPr>
            <a:r>
              <a:rPr lang="en-US" sz="950" b="1" spc="300" kern="0" dirty="0">
                <a:solidFill>
                  <a:srgbClr val="FC4D56"/>
                </a:solidFill>
                <a:latin typeface="Calibri" pitchFamily="34" charset="0"/>
                <a:ea typeface="Calibri" pitchFamily="34" charset="-122"/>
                <a:cs typeface="Calibri" pitchFamily="34" charset="-120"/>
              </a:rPr>
              <a:t>OPERATIONAL DIAGNOSTICS</a:t>
            </a:r>
            <a:endParaRPr lang="en-US" sz="950" dirty="0"/>
          </a:p>
        </p:txBody>
      </p:sp>
      <p:sp>
        <p:nvSpPr>
          <p:cNvPr id="6" name="Text 4"/>
          <p:cNvSpPr/>
          <p:nvPr/>
        </p:nvSpPr>
        <p:spPr>
          <a:xfrm>
            <a:off x="594360" y="1371600"/>
            <a:ext cx="5029200" cy="1691640"/>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Closing the Gap Between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Technology and Ecosystem</a:t>
            </a:r>
            <a:endParaRPr lang="en-US" sz="3000" dirty="0"/>
          </a:p>
        </p:txBody>
      </p:sp>
      <p:sp>
        <p:nvSpPr>
          <p:cNvPr id="7" name="Text 5"/>
          <p:cNvSpPr/>
          <p:nvPr/>
        </p:nvSpPr>
        <p:spPr>
          <a:xfrm>
            <a:off x="594360" y="3200400"/>
            <a:ext cx="4937760" cy="685800"/>
          </a:xfrm>
          <a:prstGeom prst="rect">
            <a:avLst/>
          </a:prstGeom>
          <a:noFill/>
          <a:ln/>
        </p:spPr>
        <p:txBody>
          <a:bodyPr wrap="square" lIns="0" tIns="0" rIns="0" bIns="0" rtlCol="0" anchor="t"/>
          <a:lstStyle/>
          <a:p>
            <a:pPr algn="l" indent="0" marL="0">
              <a:buNone/>
            </a:pPr>
            <a:r>
              <a:rPr lang="en-US" sz="1200" dirty="0">
                <a:solidFill>
                  <a:srgbClr val="C0C0C0"/>
                </a:solidFill>
                <a:latin typeface="Calibri" pitchFamily="34" charset="0"/>
                <a:ea typeface="Calibri" pitchFamily="34" charset="-122"/>
                <a:cs typeface="Calibri" pitchFamily="34" charset="-120"/>
              </a:rPr>
              <a:t>Why Yoma's operational infrastructure needs to catch up with its technology — and what it takes to get there.</a:t>
            </a:r>
            <a:endParaRPr lang="en-US" sz="1200" dirty="0"/>
          </a:p>
        </p:txBody>
      </p:sp>
      <p:sp>
        <p:nvSpPr>
          <p:cNvPr id="8" name="Shape 6"/>
          <p:cNvSpPr/>
          <p:nvPr/>
        </p:nvSpPr>
        <p:spPr>
          <a:xfrm>
            <a:off x="594360" y="4005072"/>
            <a:ext cx="914400" cy="45720"/>
          </a:xfrm>
          <a:prstGeom prst="rect">
            <a:avLst/>
          </a:prstGeom>
          <a:solidFill>
            <a:srgbClr val="FC4D56"/>
          </a:solidFill>
          <a:ln w="12700">
            <a:solidFill>
              <a:srgbClr val="FC4D56"/>
            </a:solidFill>
            <a:prstDash val="solid"/>
          </a:ln>
        </p:spPr>
      </p:sp>
      <p:sp>
        <p:nvSpPr>
          <p:cNvPr id="9" name="Shape 7"/>
          <p:cNvSpPr/>
          <p:nvPr/>
        </p:nvSpPr>
        <p:spPr>
          <a:xfrm>
            <a:off x="594360" y="4160520"/>
            <a:ext cx="64008" cy="182880"/>
          </a:xfrm>
          <a:prstGeom prst="rect">
            <a:avLst/>
          </a:prstGeom>
          <a:solidFill>
            <a:srgbClr val="51AFE9"/>
          </a:solidFill>
          <a:ln w="12700">
            <a:solidFill>
              <a:srgbClr val="51AFE9"/>
            </a:solidFill>
            <a:prstDash val="solid"/>
          </a:ln>
        </p:spPr>
      </p:sp>
      <p:sp>
        <p:nvSpPr>
          <p:cNvPr id="10" name="Text 8"/>
          <p:cNvSpPr/>
          <p:nvPr/>
        </p:nvSpPr>
        <p:spPr>
          <a:xfrm>
            <a:off x="731520" y="4160520"/>
            <a:ext cx="2286000" cy="182880"/>
          </a:xfrm>
          <a:prstGeom prst="rect">
            <a:avLst/>
          </a:prstGeom>
          <a:noFill/>
          <a:ln/>
        </p:spPr>
        <p:txBody>
          <a:bodyPr wrap="square" lIns="0" tIns="0" rIns="0" bIns="0" rtlCol="0" anchor="ctr"/>
          <a:lstStyle/>
          <a:p>
            <a:pPr algn="l" indent="0" marL="0">
              <a:buNone/>
            </a:pPr>
            <a:r>
              <a:rPr lang="en-US" sz="900" dirty="0">
                <a:solidFill>
                  <a:srgbClr val="737373"/>
                </a:solidFill>
                <a:latin typeface="Calibri" pitchFamily="34" charset="0"/>
                <a:ea typeface="Calibri" pitchFamily="34" charset="-122"/>
                <a:cs typeface="Calibri" pitchFamily="34" charset="-120"/>
              </a:rPr>
              <a:t>Opportunity Side</a:t>
            </a:r>
            <a:endParaRPr lang="en-US" sz="900" dirty="0"/>
          </a:p>
        </p:txBody>
      </p:sp>
      <p:sp>
        <p:nvSpPr>
          <p:cNvPr id="11" name="Shape 9"/>
          <p:cNvSpPr/>
          <p:nvPr/>
        </p:nvSpPr>
        <p:spPr>
          <a:xfrm>
            <a:off x="594360" y="4407408"/>
            <a:ext cx="64008" cy="182880"/>
          </a:xfrm>
          <a:prstGeom prst="rect">
            <a:avLst/>
          </a:prstGeom>
          <a:solidFill>
            <a:srgbClr val="FC4D56"/>
          </a:solidFill>
          <a:ln w="12700">
            <a:solidFill>
              <a:srgbClr val="FC4D56"/>
            </a:solidFill>
            <a:prstDash val="solid"/>
          </a:ln>
        </p:spPr>
      </p:sp>
      <p:sp>
        <p:nvSpPr>
          <p:cNvPr id="12" name="Text 10"/>
          <p:cNvSpPr/>
          <p:nvPr/>
        </p:nvSpPr>
        <p:spPr>
          <a:xfrm>
            <a:off x="731520" y="4407408"/>
            <a:ext cx="2286000" cy="182880"/>
          </a:xfrm>
          <a:prstGeom prst="rect">
            <a:avLst/>
          </a:prstGeom>
          <a:noFill/>
          <a:ln/>
        </p:spPr>
        <p:txBody>
          <a:bodyPr wrap="square" lIns="0" tIns="0" rIns="0" bIns="0" rtlCol="0" anchor="ctr"/>
          <a:lstStyle/>
          <a:p>
            <a:pPr algn="l" indent="0" marL="0">
              <a:buNone/>
            </a:pPr>
            <a:r>
              <a:rPr lang="en-US" sz="900" dirty="0">
                <a:solidFill>
                  <a:srgbClr val="737373"/>
                </a:solidFill>
                <a:latin typeface="Calibri" pitchFamily="34" charset="0"/>
                <a:ea typeface="Calibri" pitchFamily="34" charset="-122"/>
                <a:cs typeface="Calibri" pitchFamily="34" charset="-120"/>
              </a:rPr>
              <a:t>Reward Side</a:t>
            </a:r>
            <a:endParaRPr lang="en-US" sz="900" dirty="0"/>
          </a:p>
        </p:txBody>
      </p:sp>
      <p:sp>
        <p:nvSpPr>
          <p:cNvPr id="13" name="Shape 11"/>
          <p:cNvSpPr/>
          <p:nvPr/>
        </p:nvSpPr>
        <p:spPr>
          <a:xfrm>
            <a:off x="594360" y="4654296"/>
            <a:ext cx="64008" cy="182880"/>
          </a:xfrm>
          <a:prstGeom prst="rect">
            <a:avLst/>
          </a:prstGeom>
          <a:solidFill>
            <a:srgbClr val="387F6A"/>
          </a:solidFill>
          <a:ln w="12700">
            <a:solidFill>
              <a:srgbClr val="387F6A"/>
            </a:solidFill>
            <a:prstDash val="solid"/>
          </a:ln>
        </p:spPr>
      </p:sp>
      <p:sp>
        <p:nvSpPr>
          <p:cNvPr id="14" name="Text 12"/>
          <p:cNvSpPr/>
          <p:nvPr/>
        </p:nvSpPr>
        <p:spPr>
          <a:xfrm>
            <a:off x="731520" y="4654296"/>
            <a:ext cx="2286000" cy="182880"/>
          </a:xfrm>
          <a:prstGeom prst="rect">
            <a:avLst/>
          </a:prstGeom>
          <a:noFill/>
          <a:ln/>
        </p:spPr>
        <p:txBody>
          <a:bodyPr wrap="square" lIns="0" tIns="0" rIns="0" bIns="0" rtlCol="0" anchor="ctr"/>
          <a:lstStyle/>
          <a:p>
            <a:pPr algn="l" indent="0" marL="0">
              <a:buNone/>
            </a:pPr>
            <a:r>
              <a:rPr lang="en-US" sz="900" dirty="0">
                <a:solidFill>
                  <a:srgbClr val="737373"/>
                </a:solidFill>
                <a:latin typeface="Calibri" pitchFamily="34" charset="0"/>
                <a:ea typeface="Calibri" pitchFamily="34" charset="-122"/>
                <a:cs typeface="Calibri" pitchFamily="34" charset="-120"/>
              </a:rPr>
              <a:t>Youth Side</a:t>
            </a:r>
            <a:endParaRPr lang="en-US" sz="900" dirty="0"/>
          </a:p>
        </p:txBody>
      </p:sp>
      <p:pic>
        <p:nvPicPr>
          <p:cNvPr id="15" name="Image 0" descr="preencoded.png">    </p:cNvPr>
          <p:cNvPicPr>
            <a:picLocks noChangeAspect="1"/>
          </p:cNvPicPr>
          <p:nvPr/>
        </p:nvPicPr>
        <p:blipFill>
          <a:blip r:embed="rId1">
            <a:alphaModFix amt="60000"/>
          </a:blip>
          <a:stretch>
            <a:fillRect/>
          </a:stretch>
        </p:blipFill>
        <p:spPr>
          <a:xfrm>
            <a:off x="7040880" y="1280160"/>
            <a:ext cx="548640" cy="548640"/>
          </a:xfrm>
          <a:prstGeom prst="rect">
            <a:avLst/>
          </a:prstGeom>
        </p:spPr>
      </p:pic>
      <p:sp>
        <p:nvSpPr>
          <p:cNvPr id="16" name="Text 13"/>
          <p:cNvSpPr/>
          <p:nvPr/>
        </p:nvSpPr>
        <p:spPr>
          <a:xfrm>
            <a:off x="6035040" y="2011680"/>
            <a:ext cx="2926080" cy="777240"/>
          </a:xfrm>
          <a:prstGeom prst="rect">
            <a:avLst/>
          </a:prstGeom>
          <a:noFill/>
          <a:ln/>
        </p:spPr>
        <p:txBody>
          <a:bodyPr wrap="square" lIns="0" tIns="0" rIns="0" bIns="0" rtlCol="0" anchor="ctr"/>
          <a:lstStyle/>
          <a:p>
            <a:pPr algn="ctr" indent="0" marL="0">
              <a:buNone/>
            </a:pPr>
            <a:r>
              <a:rPr lang="en-US" sz="1050" i="1" dirty="0">
                <a:solidFill>
                  <a:srgbClr val="737373"/>
                </a:solidFill>
                <a:latin typeface="Calibri" pitchFamily="34" charset="0"/>
                <a:ea typeface="Calibri" pitchFamily="34" charset="-122"/>
                <a:cs typeface="Calibri" pitchFamily="34" charset="-120"/>
              </a:rPr>
              <a:t>A structured analysis for implementing organisations, funders, and platform partners</a:t>
            </a:r>
            <a:endParaRPr lang="en-US" sz="1050" dirty="0"/>
          </a:p>
        </p:txBody>
      </p:sp>
      <p:sp>
        <p:nvSpPr>
          <p:cNvPr id="17" name="Shape 14"/>
          <p:cNvSpPr/>
          <p:nvPr/>
        </p:nvSpPr>
        <p:spPr>
          <a:xfrm>
            <a:off x="5989320" y="3291840"/>
            <a:ext cx="2971800" cy="347472"/>
          </a:xfrm>
          <a:prstGeom prst="rect">
            <a:avLst/>
          </a:prstGeom>
          <a:solidFill>
            <a:srgbClr val="51AFE9">
              <a:alpha val="50000"/>
            </a:srgbClr>
          </a:solidFill>
          <a:ln w="12700">
            <a:solidFill>
              <a:srgbClr val="51AFE9"/>
            </a:solidFill>
            <a:prstDash val="solid"/>
          </a:ln>
        </p:spPr>
      </p:sp>
      <p:sp>
        <p:nvSpPr>
          <p:cNvPr id="18" name="Text 15"/>
          <p:cNvSpPr/>
          <p:nvPr/>
        </p:nvSpPr>
        <p:spPr>
          <a:xfrm>
            <a:off x="5989320" y="3291840"/>
            <a:ext cx="297180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marketplace sides diagnosed</a:t>
            </a:r>
            <a:endParaRPr lang="en-US" sz="950" dirty="0"/>
          </a:p>
        </p:txBody>
      </p:sp>
      <p:sp>
        <p:nvSpPr>
          <p:cNvPr id="19" name="Shape 16"/>
          <p:cNvSpPr/>
          <p:nvPr/>
        </p:nvSpPr>
        <p:spPr>
          <a:xfrm>
            <a:off x="5989320" y="3730752"/>
            <a:ext cx="2971800" cy="347472"/>
          </a:xfrm>
          <a:prstGeom prst="rect">
            <a:avLst/>
          </a:prstGeom>
          <a:solidFill>
            <a:srgbClr val="FC4D56">
              <a:alpha val="50000"/>
            </a:srgbClr>
          </a:solidFill>
          <a:ln w="12700">
            <a:solidFill>
              <a:srgbClr val="FC4D56"/>
            </a:solidFill>
            <a:prstDash val="solid"/>
          </a:ln>
        </p:spPr>
      </p:sp>
      <p:sp>
        <p:nvSpPr>
          <p:cNvPr id="20" name="Text 17"/>
          <p:cNvSpPr/>
          <p:nvPr/>
        </p:nvSpPr>
        <p:spPr>
          <a:xfrm>
            <a:off x="5989320" y="3730752"/>
            <a:ext cx="297180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cross-cutting failures</a:t>
            </a:r>
            <a:endParaRPr lang="en-US" sz="950" dirty="0"/>
          </a:p>
        </p:txBody>
      </p:sp>
      <p:sp>
        <p:nvSpPr>
          <p:cNvPr id="21" name="Shape 18"/>
          <p:cNvSpPr/>
          <p:nvPr/>
        </p:nvSpPr>
        <p:spPr>
          <a:xfrm>
            <a:off x="5989320" y="4169664"/>
            <a:ext cx="2971800" cy="347472"/>
          </a:xfrm>
          <a:prstGeom prst="rect">
            <a:avLst/>
          </a:prstGeom>
          <a:solidFill>
            <a:srgbClr val="387F6A">
              <a:alpha val="50000"/>
            </a:srgbClr>
          </a:solidFill>
          <a:ln w="12700">
            <a:solidFill>
              <a:srgbClr val="387F6A"/>
            </a:solidFill>
            <a:prstDash val="solid"/>
          </a:ln>
        </p:spPr>
      </p:sp>
      <p:sp>
        <p:nvSpPr>
          <p:cNvPr id="22" name="Text 19"/>
          <p:cNvSpPr/>
          <p:nvPr/>
        </p:nvSpPr>
        <p:spPr>
          <a:xfrm>
            <a:off x="5989320" y="4169664"/>
            <a:ext cx="297180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 structural actions needed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1204B"/>
          </a:solidFill>
          <a:ln w="12700">
            <a:solidFill>
              <a:srgbClr val="41204B"/>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WHY OPERATIONAL GAPS MATTER</a:t>
            </a:r>
            <a:endParaRPr lang="en-US" sz="1100" dirty="0"/>
          </a:p>
        </p:txBody>
      </p:sp>
      <p:sp>
        <p:nvSpPr>
          <p:cNvPr id="4" name="Text 2"/>
          <p:cNvSpPr/>
          <p:nvPr/>
        </p:nvSpPr>
        <p:spPr>
          <a:xfrm>
            <a:off x="457200" y="777240"/>
            <a:ext cx="8229600" cy="384048"/>
          </a:xfrm>
          <a:prstGeom prst="rect">
            <a:avLst/>
          </a:prstGeom>
          <a:noFill/>
          <a:ln/>
        </p:spPr>
        <p:txBody>
          <a:bodyPr wrap="square" lIns="0" tIns="0" rIns="0" bIns="0" rtlCol="0" anchor="ctr"/>
          <a:lstStyle/>
          <a:p>
            <a:pPr algn="l" indent="0" marL="0">
              <a:buNone/>
            </a:pPr>
            <a:r>
              <a:rPr lang="en-US" sz="1300" b="1" dirty="0">
                <a:solidFill>
                  <a:srgbClr val="41204B"/>
                </a:solidFill>
                <a:latin typeface="Calibri" pitchFamily="34" charset="0"/>
                <a:ea typeface="Calibri" pitchFamily="34" charset="-122"/>
                <a:cs typeface="Calibri" pitchFamily="34" charset="-120"/>
              </a:rPr>
              <a:t>Yoma is production-ready. The platform works. Adoption barriers are not technical — they are operational.</a:t>
            </a:r>
            <a:endParaRPr lang="en-US" sz="1300" dirty="0"/>
          </a:p>
        </p:txBody>
      </p:sp>
      <p:sp>
        <p:nvSpPr>
          <p:cNvPr id="5" name="Shape 3"/>
          <p:cNvSpPr/>
          <p:nvPr/>
        </p:nvSpPr>
        <p:spPr>
          <a:xfrm>
            <a:off x="457200" y="1298448"/>
            <a:ext cx="3840480" cy="347472"/>
          </a:xfrm>
          <a:prstGeom prst="rect">
            <a:avLst/>
          </a:prstGeom>
          <a:solidFill>
            <a:srgbClr val="51AFE9"/>
          </a:solidFill>
          <a:ln w="12700">
            <a:solidFill>
              <a:srgbClr val="51AFE9"/>
            </a:solidFill>
            <a:prstDash val="solid"/>
          </a:ln>
        </p:spPr>
      </p:sp>
      <p:sp>
        <p:nvSpPr>
          <p:cNvPr id="6" name="Text 4"/>
          <p:cNvSpPr/>
          <p:nvPr/>
        </p:nvSpPr>
        <p:spPr>
          <a:xfrm>
            <a:off x="457200" y="1298448"/>
            <a:ext cx="38404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PLATFORM PROMISE</a:t>
            </a:r>
            <a:endParaRPr lang="en-US" sz="1000" dirty="0"/>
          </a:p>
        </p:txBody>
      </p:sp>
      <p:sp>
        <p:nvSpPr>
          <p:cNvPr id="7" name="Shape 5"/>
          <p:cNvSpPr/>
          <p:nvPr/>
        </p:nvSpPr>
        <p:spPr>
          <a:xfrm>
            <a:off x="4846320" y="1298448"/>
            <a:ext cx="3840480" cy="347472"/>
          </a:xfrm>
          <a:prstGeom prst="rect">
            <a:avLst/>
          </a:prstGeom>
          <a:solidFill>
            <a:srgbClr val="FC4D56"/>
          </a:solidFill>
          <a:ln w="12700">
            <a:solidFill>
              <a:srgbClr val="FC4D56"/>
            </a:solidFill>
            <a:prstDash val="solid"/>
          </a:ln>
        </p:spPr>
      </p:sp>
      <p:sp>
        <p:nvSpPr>
          <p:cNvPr id="8" name="Text 6"/>
          <p:cNvSpPr/>
          <p:nvPr/>
        </p:nvSpPr>
        <p:spPr>
          <a:xfrm>
            <a:off x="4846320" y="1298448"/>
            <a:ext cx="38404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OPERATIONAL REALITY</a:t>
            </a:r>
            <a:endParaRPr lang="en-US" sz="1000" dirty="0"/>
          </a:p>
        </p:txBody>
      </p:sp>
      <p:sp>
        <p:nvSpPr>
          <p:cNvPr id="9" name="Shape 7"/>
          <p:cNvSpPr/>
          <p:nvPr/>
        </p:nvSpPr>
        <p:spPr>
          <a:xfrm>
            <a:off x="4453128" y="1298448"/>
            <a:ext cx="54864" cy="3246120"/>
          </a:xfrm>
          <a:prstGeom prst="rect">
            <a:avLst/>
          </a:prstGeom>
          <a:solidFill>
            <a:srgbClr val="C0C0C0"/>
          </a:solidFill>
          <a:ln w="12700">
            <a:solidFill>
              <a:srgbClr val="C0C0C0"/>
            </a:solidFill>
            <a:prstDash val="solid"/>
          </a:ln>
        </p:spPr>
      </p:sp>
      <p:pic>
        <p:nvPicPr>
          <p:cNvPr id="10" name="Image 0" descr="preencoded.png">    </p:cNvPr>
          <p:cNvPicPr>
            <a:picLocks noChangeAspect="1"/>
          </p:cNvPicPr>
          <p:nvPr/>
        </p:nvPicPr>
        <p:blipFill>
          <a:blip r:embed="rId1"/>
          <a:stretch>
            <a:fillRect/>
          </a:stretch>
        </p:blipFill>
        <p:spPr>
          <a:xfrm>
            <a:off x="457200" y="1783080"/>
            <a:ext cx="201168" cy="201168"/>
          </a:xfrm>
          <a:prstGeom prst="rect">
            <a:avLst/>
          </a:prstGeom>
        </p:spPr>
      </p:pic>
      <p:sp>
        <p:nvSpPr>
          <p:cNvPr id="11" name="Text 8"/>
          <p:cNvSpPr/>
          <p:nvPr/>
        </p:nvSpPr>
        <p:spPr>
          <a:xfrm>
            <a:off x="731520" y="1773936"/>
            <a:ext cx="352044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Three-sided marketplace connecting youth, opportunity partners, and reward partners</a:t>
            </a:r>
            <a:endParaRPr lang="en-US" sz="1000" dirty="0"/>
          </a:p>
        </p:txBody>
      </p:sp>
      <p:pic>
        <p:nvPicPr>
          <p:cNvPr id="12" name="Image 1" descr="preencoded.png">    </p:cNvPr>
          <p:cNvPicPr>
            <a:picLocks noChangeAspect="1"/>
          </p:cNvPicPr>
          <p:nvPr/>
        </p:nvPicPr>
        <p:blipFill>
          <a:blip r:embed="rId2"/>
          <a:stretch>
            <a:fillRect/>
          </a:stretch>
        </p:blipFill>
        <p:spPr>
          <a:xfrm>
            <a:off x="457200" y="2276856"/>
            <a:ext cx="201168" cy="201168"/>
          </a:xfrm>
          <a:prstGeom prst="rect">
            <a:avLst/>
          </a:prstGeom>
        </p:spPr>
      </p:pic>
      <p:sp>
        <p:nvSpPr>
          <p:cNvPr id="13" name="Text 9"/>
          <p:cNvSpPr/>
          <p:nvPr/>
        </p:nvSpPr>
        <p:spPr>
          <a:xfrm>
            <a:off x="731520" y="2267712"/>
            <a:ext cx="352044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Free for youth and partners — globally accessible at yoma.world</a:t>
            </a:r>
            <a:endParaRPr lang="en-US" sz="1000" dirty="0"/>
          </a:p>
        </p:txBody>
      </p:sp>
      <p:pic>
        <p:nvPicPr>
          <p:cNvPr id="14" name="Image 2" descr="preencoded.png">    </p:cNvPr>
          <p:cNvPicPr>
            <a:picLocks noChangeAspect="1"/>
          </p:cNvPicPr>
          <p:nvPr/>
        </p:nvPicPr>
        <p:blipFill>
          <a:blip r:embed="rId3"/>
          <a:stretch>
            <a:fillRect/>
          </a:stretch>
        </p:blipFill>
        <p:spPr>
          <a:xfrm>
            <a:off x="457200" y="2770632"/>
            <a:ext cx="201168" cy="201168"/>
          </a:xfrm>
          <a:prstGeom prst="rect">
            <a:avLst/>
          </a:prstGeom>
        </p:spPr>
      </p:pic>
      <p:sp>
        <p:nvSpPr>
          <p:cNvPr id="15" name="Text 10"/>
          <p:cNvSpPr/>
          <p:nvPr/>
        </p:nvSpPr>
        <p:spPr>
          <a:xfrm>
            <a:off x="731520" y="2761488"/>
            <a:ext cx="352044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Blockchain-verified credentials building each youth's digital identity (YoID)</a:t>
            </a:r>
            <a:endParaRPr lang="en-US" sz="1000" dirty="0"/>
          </a:p>
        </p:txBody>
      </p:sp>
      <p:pic>
        <p:nvPicPr>
          <p:cNvPr id="16" name="Image 3" descr="preencoded.png">    </p:cNvPr>
          <p:cNvPicPr>
            <a:picLocks noChangeAspect="1"/>
          </p:cNvPicPr>
          <p:nvPr/>
        </p:nvPicPr>
        <p:blipFill>
          <a:blip r:embed="rId4"/>
          <a:stretch>
            <a:fillRect/>
          </a:stretch>
        </p:blipFill>
        <p:spPr>
          <a:xfrm>
            <a:off x="457200" y="3264408"/>
            <a:ext cx="201168" cy="201168"/>
          </a:xfrm>
          <a:prstGeom prst="rect">
            <a:avLst/>
          </a:prstGeom>
        </p:spPr>
      </p:pic>
      <p:sp>
        <p:nvSpPr>
          <p:cNvPr id="17" name="Text 11"/>
          <p:cNvSpPr/>
          <p:nvPr/>
        </p:nvSpPr>
        <p:spPr>
          <a:xfrm>
            <a:off x="731520" y="3255264"/>
            <a:ext cx="352044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Scalable single global instance, deployable across any local context</a:t>
            </a:r>
            <a:endParaRPr lang="en-US" sz="1000" dirty="0"/>
          </a:p>
        </p:txBody>
      </p:sp>
      <p:pic>
        <p:nvPicPr>
          <p:cNvPr id="18" name="Image 4" descr="preencoded.png">    </p:cNvPr>
          <p:cNvPicPr>
            <a:picLocks noChangeAspect="1"/>
          </p:cNvPicPr>
          <p:nvPr/>
        </p:nvPicPr>
        <p:blipFill>
          <a:blip r:embed="rId5"/>
          <a:stretch>
            <a:fillRect/>
          </a:stretch>
        </p:blipFill>
        <p:spPr>
          <a:xfrm>
            <a:off x="457200" y="3758184"/>
            <a:ext cx="201168" cy="201168"/>
          </a:xfrm>
          <a:prstGeom prst="rect">
            <a:avLst/>
          </a:prstGeom>
        </p:spPr>
      </p:pic>
      <p:sp>
        <p:nvSpPr>
          <p:cNvPr id="19" name="Text 12"/>
          <p:cNvSpPr/>
          <p:nvPr/>
        </p:nvSpPr>
        <p:spPr>
          <a:xfrm>
            <a:off x="731520" y="3749040"/>
            <a:ext cx="352044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Open source, backed by UNICEF, Generation Unlimited, and development agencies</a:t>
            </a:r>
            <a:endParaRPr lang="en-US" sz="1000" dirty="0"/>
          </a:p>
        </p:txBody>
      </p:sp>
      <p:pic>
        <p:nvPicPr>
          <p:cNvPr id="20" name="Image 5" descr="preencoded.png">    </p:cNvPr>
          <p:cNvPicPr>
            <a:picLocks noChangeAspect="1"/>
          </p:cNvPicPr>
          <p:nvPr/>
        </p:nvPicPr>
        <p:blipFill>
          <a:blip r:embed="rId6"/>
          <a:stretch>
            <a:fillRect/>
          </a:stretch>
        </p:blipFill>
        <p:spPr>
          <a:xfrm>
            <a:off x="4846320" y="1783080"/>
            <a:ext cx="201168" cy="201168"/>
          </a:xfrm>
          <a:prstGeom prst="rect">
            <a:avLst/>
          </a:prstGeom>
        </p:spPr>
      </p:pic>
      <p:sp>
        <p:nvSpPr>
          <p:cNvPr id="21" name="Text 13"/>
          <p:cNvSpPr/>
          <p:nvPr/>
        </p:nvSpPr>
        <p:spPr>
          <a:xfrm>
            <a:off x="5120640" y="1773936"/>
            <a:ext cx="342900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No single authoritative source of what Yoma can and cannot do today</a:t>
            </a:r>
            <a:endParaRPr lang="en-US" sz="1000" dirty="0"/>
          </a:p>
        </p:txBody>
      </p:sp>
      <p:pic>
        <p:nvPicPr>
          <p:cNvPr id="22" name="Image 6" descr="preencoded.png">    </p:cNvPr>
          <p:cNvPicPr>
            <a:picLocks noChangeAspect="1"/>
          </p:cNvPicPr>
          <p:nvPr/>
        </p:nvPicPr>
        <p:blipFill>
          <a:blip r:embed="rId7"/>
          <a:stretch>
            <a:fillRect/>
          </a:stretch>
        </p:blipFill>
        <p:spPr>
          <a:xfrm>
            <a:off x="4846320" y="2276856"/>
            <a:ext cx="201168" cy="201168"/>
          </a:xfrm>
          <a:prstGeom prst="rect">
            <a:avLst/>
          </a:prstGeom>
        </p:spPr>
      </p:pic>
      <p:sp>
        <p:nvSpPr>
          <p:cNvPr id="23" name="Text 14"/>
          <p:cNvSpPr/>
          <p:nvPr/>
        </p:nvSpPr>
        <p:spPr>
          <a:xfrm>
            <a:off x="5120640" y="2267712"/>
            <a:ext cx="342900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Onboarding dependent on 2–3 individuals with inconsistent institutional knowledge</a:t>
            </a:r>
            <a:endParaRPr lang="en-US" sz="1000" dirty="0"/>
          </a:p>
        </p:txBody>
      </p:sp>
      <p:pic>
        <p:nvPicPr>
          <p:cNvPr id="24" name="Image 7" descr="preencoded.png">    </p:cNvPr>
          <p:cNvPicPr>
            <a:picLocks noChangeAspect="1"/>
          </p:cNvPicPr>
          <p:nvPr/>
        </p:nvPicPr>
        <p:blipFill>
          <a:blip r:embed="rId8"/>
          <a:stretch>
            <a:fillRect/>
          </a:stretch>
        </p:blipFill>
        <p:spPr>
          <a:xfrm>
            <a:off x="4846320" y="2770632"/>
            <a:ext cx="201168" cy="201168"/>
          </a:xfrm>
          <a:prstGeom prst="rect">
            <a:avLst/>
          </a:prstGeom>
        </p:spPr>
      </p:pic>
      <p:sp>
        <p:nvSpPr>
          <p:cNvPr id="25" name="Text 15"/>
          <p:cNvSpPr/>
          <p:nvPr/>
        </p:nvSpPr>
        <p:spPr>
          <a:xfrm>
            <a:off x="5120640" y="2761488"/>
            <a:ext cx="342900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Reward side under-documented; all configuration requires Zlto team as intermediary</a:t>
            </a:r>
            <a:endParaRPr lang="en-US" sz="1000" dirty="0"/>
          </a:p>
        </p:txBody>
      </p:sp>
      <p:pic>
        <p:nvPicPr>
          <p:cNvPr id="26" name="Image 8" descr="preencoded.png">    </p:cNvPr>
          <p:cNvPicPr>
            <a:picLocks noChangeAspect="1"/>
          </p:cNvPicPr>
          <p:nvPr/>
        </p:nvPicPr>
        <p:blipFill>
          <a:blip r:embed="rId9"/>
          <a:stretch>
            <a:fillRect/>
          </a:stretch>
        </p:blipFill>
        <p:spPr>
          <a:xfrm>
            <a:off x="4846320" y="3264408"/>
            <a:ext cx="201168" cy="201168"/>
          </a:xfrm>
          <a:prstGeom prst="rect">
            <a:avLst/>
          </a:prstGeom>
        </p:spPr>
      </p:pic>
      <p:sp>
        <p:nvSpPr>
          <p:cNvPr id="27" name="Text 16"/>
          <p:cNvSpPr/>
          <p:nvPr/>
        </p:nvSpPr>
        <p:spPr>
          <a:xfrm>
            <a:off x="5120640" y="3255264"/>
            <a:ext cx="342900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Youth acquisition is entirely the deployer's responsibility — with zero guidance provided</a:t>
            </a:r>
            <a:endParaRPr lang="en-US" sz="1000" dirty="0"/>
          </a:p>
        </p:txBody>
      </p:sp>
      <p:pic>
        <p:nvPicPr>
          <p:cNvPr id="28" name="Image 9" descr="preencoded.png">    </p:cNvPr>
          <p:cNvPicPr>
            <a:picLocks noChangeAspect="1"/>
          </p:cNvPicPr>
          <p:nvPr/>
        </p:nvPicPr>
        <p:blipFill>
          <a:blip r:embed="rId10"/>
          <a:stretch>
            <a:fillRect/>
          </a:stretch>
        </p:blipFill>
        <p:spPr>
          <a:xfrm>
            <a:off x="4846320" y="3758184"/>
            <a:ext cx="201168" cy="201168"/>
          </a:xfrm>
          <a:prstGeom prst="rect">
            <a:avLst/>
          </a:prstGeom>
        </p:spPr>
      </p:pic>
      <p:sp>
        <p:nvSpPr>
          <p:cNvPr id="29" name="Text 17"/>
          <p:cNvSpPr/>
          <p:nvPr/>
        </p:nvSpPr>
        <p:spPr>
          <a:xfrm>
            <a:off x="5120640" y="3749040"/>
            <a:ext cx="3429000" cy="402336"/>
          </a:xfrm>
          <a:prstGeom prst="rect">
            <a:avLst/>
          </a:prstGeom>
          <a:noFill/>
          <a:ln/>
        </p:spPr>
        <p:txBody>
          <a:bodyPr wrap="square" lIns="0" tIns="0" rIns="0" bIns="0" rtlCol="0" anchor="ctr"/>
          <a:lstStyle/>
          <a:p>
            <a:pPr algn="l" indent="0" marL="0">
              <a:buNone/>
            </a:pPr>
            <a:r>
              <a:rPr lang="en-US" sz="1000" dirty="0">
                <a:solidFill>
                  <a:srgbClr val="020304"/>
                </a:solidFill>
                <a:latin typeface="Calibri" pitchFamily="34" charset="0"/>
                <a:ea typeface="Calibri" pitchFamily="34" charset="-122"/>
                <a:cs typeface="Calibri" pitchFamily="34" charset="-120"/>
              </a:rPr>
              <a:t>Case studies present single-funder models as replicable ecosystem success stories</a:t>
            </a:r>
            <a:endParaRPr lang="en-US" sz="1000" dirty="0"/>
          </a:p>
        </p:txBody>
      </p:sp>
      <p:sp>
        <p:nvSpPr>
          <p:cNvPr id="30" name="Shape 18"/>
          <p:cNvSpPr/>
          <p:nvPr/>
        </p:nvSpPr>
        <p:spPr>
          <a:xfrm>
            <a:off x="457200" y="4462272"/>
            <a:ext cx="8229600" cy="457200"/>
          </a:xfrm>
          <a:prstGeom prst="rect">
            <a:avLst/>
          </a:prstGeom>
          <a:solidFill>
            <a:srgbClr val="FFFFFF"/>
          </a:solidFill>
          <a:ln w="12700">
            <a:solidFill>
              <a:srgbClr val="FC4D56"/>
            </a:solidFill>
            <a:prstDash val="solid"/>
          </a:ln>
        </p:spPr>
      </p:sp>
      <p:sp>
        <p:nvSpPr>
          <p:cNvPr id="31" name="Text 19"/>
          <p:cNvSpPr/>
          <p:nvPr/>
        </p:nvSpPr>
        <p:spPr>
          <a:xfrm>
            <a:off x="594360" y="4462272"/>
            <a:ext cx="7955280" cy="457200"/>
          </a:xfrm>
          <a:prstGeom prst="rect">
            <a:avLst/>
          </a:prstGeom>
          <a:noFill/>
          <a:ln/>
        </p:spPr>
        <p:txBody>
          <a:bodyPr wrap="square" lIns="0" tIns="0" rIns="0" bIns="0" rtlCol="0" anchor="ctr"/>
          <a:lstStyle/>
          <a:p>
            <a:pPr algn="l" indent="0" marL="0">
              <a:buNone/>
            </a:pPr>
            <a:r>
              <a:rPr lang="en-US" sz="1000" b="1" i="1" dirty="0">
                <a:solidFill>
                  <a:srgbClr val="FC4D56"/>
                </a:solidFill>
                <a:latin typeface="Calibri" pitchFamily="34" charset="0"/>
                <a:ea typeface="Calibri" pitchFamily="34" charset="-122"/>
                <a:cs typeface="Calibri" pitchFamily="34" charset="-120"/>
              </a:rPr>
              <a:t>The risk: without operational infrastructure to match the technology, Yoma deployments will stall — regardless of how good the platform 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1204B"/>
          </a:solidFill>
          <a:ln w="12700">
            <a:solidFill>
              <a:srgbClr val="41204B"/>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ROOT CAUSES: WHY THESE GAPS EXIST</a:t>
            </a:r>
            <a:endParaRPr lang="en-US" sz="1100" dirty="0"/>
          </a:p>
        </p:txBody>
      </p:sp>
      <p:sp>
        <p:nvSpPr>
          <p:cNvPr id="4" name="Text 2"/>
          <p:cNvSpPr/>
          <p:nvPr/>
        </p:nvSpPr>
        <p:spPr>
          <a:xfrm>
            <a:off x="457200" y="758952"/>
            <a:ext cx="8229600" cy="347472"/>
          </a:xfrm>
          <a:prstGeom prst="rect">
            <a:avLst/>
          </a:prstGeom>
          <a:noFill/>
          <a:ln/>
        </p:spPr>
        <p:txBody>
          <a:bodyPr wrap="square" lIns="0" tIns="0" rIns="0" bIns="0" rtlCol="0" anchor="ctr"/>
          <a:lstStyle/>
          <a:p>
            <a:pPr algn="l" indent="0" marL="0">
              <a:buNone/>
            </a:pPr>
            <a:r>
              <a:rPr lang="en-US" sz="1200" dirty="0">
                <a:solidFill>
                  <a:srgbClr val="41204B"/>
                </a:solidFill>
                <a:latin typeface="Calibri" pitchFamily="34" charset="0"/>
                <a:ea typeface="Calibri" pitchFamily="34" charset="-122"/>
                <a:cs typeface="Calibri" pitchFamily="34" charset="-120"/>
              </a:rPr>
              <a:t>Understanding the origin of these gaps is the first step to closing them.</a:t>
            </a:r>
            <a:endParaRPr lang="en-US" sz="1200" dirty="0"/>
          </a:p>
        </p:txBody>
      </p:sp>
      <p:sp>
        <p:nvSpPr>
          <p:cNvPr id="5" name="Shape 3"/>
          <p:cNvSpPr/>
          <p:nvPr/>
        </p:nvSpPr>
        <p:spPr>
          <a:xfrm>
            <a:off x="320040" y="1261872"/>
            <a:ext cx="2697480" cy="3520440"/>
          </a:xfrm>
          <a:prstGeom prst="rect">
            <a:avLst/>
          </a:prstGeom>
          <a:solidFill>
            <a:srgbClr val="F5F5F5"/>
          </a:solidFill>
          <a:ln w="12700">
            <a:solidFill>
              <a:srgbClr val="E8E8E8"/>
            </a:solidFill>
            <a:prstDash val="solid"/>
          </a:ln>
        </p:spPr>
      </p:sp>
      <p:sp>
        <p:nvSpPr>
          <p:cNvPr id="6" name="Shape 4"/>
          <p:cNvSpPr/>
          <p:nvPr/>
        </p:nvSpPr>
        <p:spPr>
          <a:xfrm>
            <a:off x="320040" y="1261872"/>
            <a:ext cx="2697480" cy="64008"/>
          </a:xfrm>
          <a:prstGeom prst="rect">
            <a:avLst/>
          </a:prstGeom>
          <a:solidFill>
            <a:srgbClr val="FC4D56"/>
          </a:solidFill>
          <a:ln w="12700">
            <a:solidFill>
              <a:srgbClr val="FC4D56"/>
            </a:solidFill>
            <a:prstDash val="solid"/>
          </a:ln>
        </p:spPr>
      </p:sp>
      <p:sp>
        <p:nvSpPr>
          <p:cNvPr id="7" name="Text 5"/>
          <p:cNvSpPr/>
          <p:nvPr/>
        </p:nvSpPr>
        <p:spPr>
          <a:xfrm>
            <a:off x="457200" y="1371600"/>
            <a:ext cx="594360" cy="502920"/>
          </a:xfrm>
          <a:prstGeom prst="rect">
            <a:avLst/>
          </a:prstGeom>
          <a:noFill/>
          <a:ln/>
        </p:spPr>
        <p:txBody>
          <a:bodyPr wrap="square" lIns="0" tIns="0" rIns="0" bIns="0" rtlCol="0" anchor="ctr"/>
          <a:lstStyle/>
          <a:p>
            <a:pPr algn="l" indent="0" marL="0">
              <a:buNone/>
            </a:pPr>
            <a:r>
              <a:rPr lang="en-US" sz="2800" b="1" dirty="0">
                <a:solidFill>
                  <a:srgbClr val="FC4D56"/>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457200" y="1920240"/>
            <a:ext cx="2423160" cy="594360"/>
          </a:xfrm>
          <a:prstGeom prst="rect">
            <a:avLst/>
          </a:prstGeom>
          <a:noFill/>
          <a:ln/>
        </p:spPr>
        <p:txBody>
          <a:bodyPr wrap="square" lIns="0" tIns="0" rIns="0" bIns="0" rtlCol="0" anchor="t"/>
          <a:lstStyle/>
          <a:p>
            <a:pPr algn="l" indent="0" marL="0">
              <a:buNone/>
            </a:pPr>
            <a:r>
              <a:rPr lang="en-US" sz="1250" b="1" dirty="0">
                <a:solidFill>
                  <a:srgbClr val="41204B"/>
                </a:solidFill>
                <a:latin typeface="Calibri" pitchFamily="34" charset="0"/>
                <a:ea typeface="Calibri" pitchFamily="34" charset="-122"/>
                <a:cs typeface="Calibri" pitchFamily="34" charset="-120"/>
              </a:rPr>
              <a:t>Platform-first, operations-later</a:t>
            </a:r>
            <a:endParaRPr lang="en-US" sz="1250" dirty="0"/>
          </a:p>
        </p:txBody>
      </p:sp>
      <p:sp>
        <p:nvSpPr>
          <p:cNvPr id="9" name="Text 7"/>
          <p:cNvSpPr/>
          <p:nvPr/>
        </p:nvSpPr>
        <p:spPr>
          <a:xfrm>
            <a:off x="457200" y="2578608"/>
            <a:ext cx="2423160" cy="2103120"/>
          </a:xfrm>
          <a:prstGeom prst="rect">
            <a:avLst/>
          </a:prstGeom>
          <a:noFill/>
          <a:ln/>
        </p:spPr>
        <p:txBody>
          <a:bodyPr wrap="square" lIns="0" tIns="0" rIns="0" bIns="0" rtlCol="0" anchor="t"/>
          <a:lstStyle/>
          <a:p>
            <a:pPr algn="l" indent="0" marL="0">
              <a:buNone/>
            </a:pPr>
            <a:r>
              <a:rPr lang="en-US" sz="1000" dirty="0">
                <a:solidFill>
                  <a:srgbClr val="020304"/>
                </a:solidFill>
                <a:latin typeface="Calibri" pitchFamily="34" charset="0"/>
                <a:ea typeface="Calibri" pitchFamily="34" charset="-122"/>
                <a:cs typeface="Calibri" pitchFamily="34" charset="-120"/>
              </a:rPr>
              <a:t>Yoma was built as a technology platform designed for global scale. Operational guidance — how to recruit partners, calibrate rewards, and acquire youth — was assumed to follow the platform. It has not kept pace. The result is a technically strong platform sitting on a weak operational foundation.</a:t>
            </a:r>
            <a:endParaRPr lang="en-US" sz="1000" dirty="0"/>
          </a:p>
        </p:txBody>
      </p:sp>
      <p:sp>
        <p:nvSpPr>
          <p:cNvPr id="10" name="Shape 8"/>
          <p:cNvSpPr/>
          <p:nvPr/>
        </p:nvSpPr>
        <p:spPr>
          <a:xfrm>
            <a:off x="3154680" y="1261872"/>
            <a:ext cx="2697480" cy="3520440"/>
          </a:xfrm>
          <a:prstGeom prst="rect">
            <a:avLst/>
          </a:prstGeom>
          <a:solidFill>
            <a:srgbClr val="F5F5F5"/>
          </a:solidFill>
          <a:ln w="12700">
            <a:solidFill>
              <a:srgbClr val="E8E8E8"/>
            </a:solidFill>
            <a:prstDash val="solid"/>
          </a:ln>
        </p:spPr>
      </p:sp>
      <p:sp>
        <p:nvSpPr>
          <p:cNvPr id="11" name="Shape 9"/>
          <p:cNvSpPr/>
          <p:nvPr/>
        </p:nvSpPr>
        <p:spPr>
          <a:xfrm>
            <a:off x="3154680" y="1261872"/>
            <a:ext cx="2697480" cy="64008"/>
          </a:xfrm>
          <a:prstGeom prst="rect">
            <a:avLst/>
          </a:prstGeom>
          <a:solidFill>
            <a:srgbClr val="51AFE9"/>
          </a:solidFill>
          <a:ln w="12700">
            <a:solidFill>
              <a:srgbClr val="51AFE9"/>
            </a:solidFill>
            <a:prstDash val="solid"/>
          </a:ln>
        </p:spPr>
      </p:sp>
      <p:sp>
        <p:nvSpPr>
          <p:cNvPr id="12" name="Text 10"/>
          <p:cNvSpPr/>
          <p:nvPr/>
        </p:nvSpPr>
        <p:spPr>
          <a:xfrm>
            <a:off x="3291840" y="1371600"/>
            <a:ext cx="594360" cy="502920"/>
          </a:xfrm>
          <a:prstGeom prst="rect">
            <a:avLst/>
          </a:prstGeom>
          <a:noFill/>
          <a:ln/>
        </p:spPr>
        <p:txBody>
          <a:bodyPr wrap="square" lIns="0" tIns="0" rIns="0" bIns="0" rtlCol="0" anchor="ctr"/>
          <a:lstStyle/>
          <a:p>
            <a:pPr algn="l" indent="0" marL="0">
              <a:buNone/>
            </a:pPr>
            <a:r>
              <a:rPr lang="en-US" sz="2800" b="1" dirty="0">
                <a:solidFill>
                  <a:srgbClr val="51AFE9"/>
                </a:solidFill>
                <a:latin typeface="Calibri" pitchFamily="34" charset="0"/>
                <a:ea typeface="Calibri" pitchFamily="34" charset="-122"/>
                <a:cs typeface="Calibri" pitchFamily="34" charset="-120"/>
              </a:rPr>
              <a:t>02</a:t>
            </a:r>
            <a:endParaRPr lang="en-US" sz="2800" dirty="0"/>
          </a:p>
        </p:txBody>
      </p:sp>
      <p:sp>
        <p:nvSpPr>
          <p:cNvPr id="13" name="Text 11"/>
          <p:cNvSpPr/>
          <p:nvPr/>
        </p:nvSpPr>
        <p:spPr>
          <a:xfrm>
            <a:off x="3291840" y="1920240"/>
            <a:ext cx="2423160" cy="594360"/>
          </a:xfrm>
          <a:prstGeom prst="rect">
            <a:avLst/>
          </a:prstGeom>
          <a:noFill/>
          <a:ln/>
        </p:spPr>
        <p:txBody>
          <a:bodyPr wrap="square" lIns="0" tIns="0" rIns="0" bIns="0" rtlCol="0" anchor="t"/>
          <a:lstStyle/>
          <a:p>
            <a:pPr algn="l" indent="0" marL="0">
              <a:buNone/>
            </a:pPr>
            <a:r>
              <a:rPr lang="en-US" sz="1250" b="1" dirty="0">
                <a:solidFill>
                  <a:srgbClr val="41204B"/>
                </a:solidFill>
                <a:latin typeface="Calibri" pitchFamily="34" charset="0"/>
                <a:ea typeface="Calibri" pitchFamily="34" charset="-122"/>
                <a:cs typeface="Calibri" pitchFamily="34" charset="-120"/>
              </a:rPr>
              <a:t>Knowledge concentrated in too few hands</a:t>
            </a:r>
            <a:endParaRPr lang="en-US" sz="1250" dirty="0"/>
          </a:p>
        </p:txBody>
      </p:sp>
      <p:sp>
        <p:nvSpPr>
          <p:cNvPr id="14" name="Text 12"/>
          <p:cNvSpPr/>
          <p:nvPr/>
        </p:nvSpPr>
        <p:spPr>
          <a:xfrm>
            <a:off x="3291840" y="2578608"/>
            <a:ext cx="2423160" cy="2103120"/>
          </a:xfrm>
          <a:prstGeom prst="rect">
            <a:avLst/>
          </a:prstGeom>
          <a:noFill/>
          <a:ln/>
        </p:spPr>
        <p:txBody>
          <a:bodyPr wrap="square" lIns="0" tIns="0" rIns="0" bIns="0" rtlCol="0" anchor="t"/>
          <a:lstStyle/>
          <a:p>
            <a:pPr algn="l" indent="0" marL="0">
              <a:buNone/>
            </a:pPr>
            <a:r>
              <a:rPr lang="en-US" sz="1000" dirty="0">
                <a:solidFill>
                  <a:srgbClr val="020304"/>
                </a:solidFill>
                <a:latin typeface="Calibri" pitchFamily="34" charset="0"/>
                <a:ea typeface="Calibri" pitchFamily="34" charset="-122"/>
                <a:cs typeface="Calibri" pitchFamily="34" charset="-120"/>
              </a:rPr>
              <a:t>The institutional knowledge of how Yoma actually works in practice is held by a handful of individuals across RLabs, the Zlto team, and UNICEF. There is no shared knowledge base. Answers to common questions require reaching the right person — who may be unavailable, or may give a different answer to the same question.</a:t>
            </a:r>
            <a:endParaRPr lang="en-US" sz="1000" dirty="0"/>
          </a:p>
        </p:txBody>
      </p:sp>
      <p:sp>
        <p:nvSpPr>
          <p:cNvPr id="15" name="Shape 13"/>
          <p:cNvSpPr/>
          <p:nvPr/>
        </p:nvSpPr>
        <p:spPr>
          <a:xfrm>
            <a:off x="5989320" y="1261872"/>
            <a:ext cx="2697480" cy="3520440"/>
          </a:xfrm>
          <a:prstGeom prst="rect">
            <a:avLst/>
          </a:prstGeom>
          <a:solidFill>
            <a:srgbClr val="F5F5F5"/>
          </a:solidFill>
          <a:ln w="12700">
            <a:solidFill>
              <a:srgbClr val="E8E8E8"/>
            </a:solidFill>
            <a:prstDash val="solid"/>
          </a:ln>
        </p:spPr>
      </p:sp>
      <p:sp>
        <p:nvSpPr>
          <p:cNvPr id="16" name="Shape 14"/>
          <p:cNvSpPr/>
          <p:nvPr/>
        </p:nvSpPr>
        <p:spPr>
          <a:xfrm>
            <a:off x="5989320" y="1261872"/>
            <a:ext cx="2697480" cy="64008"/>
          </a:xfrm>
          <a:prstGeom prst="rect">
            <a:avLst/>
          </a:prstGeom>
          <a:solidFill>
            <a:srgbClr val="387F6A"/>
          </a:solidFill>
          <a:ln w="12700">
            <a:solidFill>
              <a:srgbClr val="387F6A"/>
            </a:solidFill>
            <a:prstDash val="solid"/>
          </a:ln>
        </p:spPr>
      </p:sp>
      <p:sp>
        <p:nvSpPr>
          <p:cNvPr id="17" name="Text 15"/>
          <p:cNvSpPr/>
          <p:nvPr/>
        </p:nvSpPr>
        <p:spPr>
          <a:xfrm>
            <a:off x="6126480" y="1371600"/>
            <a:ext cx="594360" cy="502920"/>
          </a:xfrm>
          <a:prstGeom prst="rect">
            <a:avLst/>
          </a:prstGeom>
          <a:noFill/>
          <a:ln/>
        </p:spPr>
        <p:txBody>
          <a:bodyPr wrap="square" lIns="0" tIns="0" rIns="0" bIns="0" rtlCol="0" anchor="ctr"/>
          <a:lstStyle/>
          <a:p>
            <a:pPr algn="l" indent="0" marL="0">
              <a:buNone/>
            </a:pPr>
            <a:r>
              <a:rPr lang="en-US" sz="2800" b="1" dirty="0">
                <a:solidFill>
                  <a:srgbClr val="387F6A"/>
                </a:solidFill>
                <a:latin typeface="Calibri" pitchFamily="34" charset="0"/>
                <a:ea typeface="Calibri" pitchFamily="34" charset="-122"/>
                <a:cs typeface="Calibri" pitchFamily="34" charset="-120"/>
              </a:rPr>
              <a:t>03</a:t>
            </a:r>
            <a:endParaRPr lang="en-US" sz="2800" dirty="0"/>
          </a:p>
        </p:txBody>
      </p:sp>
      <p:sp>
        <p:nvSpPr>
          <p:cNvPr id="18" name="Text 16"/>
          <p:cNvSpPr/>
          <p:nvPr/>
        </p:nvSpPr>
        <p:spPr>
          <a:xfrm>
            <a:off x="6126480" y="1920240"/>
            <a:ext cx="2423160" cy="594360"/>
          </a:xfrm>
          <a:prstGeom prst="rect">
            <a:avLst/>
          </a:prstGeom>
          <a:noFill/>
          <a:ln/>
        </p:spPr>
        <p:txBody>
          <a:bodyPr wrap="square" lIns="0" tIns="0" rIns="0" bIns="0" rtlCol="0" anchor="t"/>
          <a:lstStyle/>
          <a:p>
            <a:pPr algn="l" indent="0" marL="0">
              <a:buNone/>
            </a:pPr>
            <a:r>
              <a:rPr lang="en-US" sz="1250" b="1" dirty="0">
                <a:solidFill>
                  <a:srgbClr val="41204B"/>
                </a:solidFill>
                <a:latin typeface="Calibri" pitchFamily="34" charset="0"/>
                <a:ea typeface="Calibri" pitchFamily="34" charset="-122"/>
                <a:cs typeface="Calibri" pitchFamily="34" charset="-120"/>
              </a:rPr>
              <a:t>No canonical source of current capability</a:t>
            </a:r>
            <a:endParaRPr lang="en-US" sz="1250" dirty="0"/>
          </a:p>
        </p:txBody>
      </p:sp>
      <p:sp>
        <p:nvSpPr>
          <p:cNvPr id="19" name="Text 17"/>
          <p:cNvSpPr/>
          <p:nvPr/>
        </p:nvSpPr>
        <p:spPr>
          <a:xfrm>
            <a:off x="6126480" y="2578608"/>
            <a:ext cx="2423160" cy="2103120"/>
          </a:xfrm>
          <a:prstGeom prst="rect">
            <a:avLst/>
          </a:prstGeom>
          <a:noFill/>
          <a:ln/>
        </p:spPr>
        <p:txBody>
          <a:bodyPr wrap="square" lIns="0" tIns="0" rIns="0" bIns="0" rtlCol="0" anchor="t"/>
          <a:lstStyle/>
          <a:p>
            <a:pPr algn="l" indent="0" marL="0">
              <a:buNone/>
            </a:pPr>
            <a:r>
              <a:rPr lang="en-US" sz="1000" dirty="0">
                <a:solidFill>
                  <a:srgbClr val="020304"/>
                </a:solidFill>
                <a:latin typeface="Calibri" pitchFamily="34" charset="0"/>
                <a:ea typeface="Calibri" pitchFamily="34" charset="-122"/>
                <a:cs typeface="Calibri" pitchFamily="34" charset="-120"/>
              </a:rPr>
              <a:t>No single document clearly separates what Yoma can do now from what is on the roadmap. Future features — the Impact Marketplace, downloadable CVs, fiat off-ramp — are discussed alongside current ones. Partners enter deployment with fundamentally misaligned expectations about what the platform will do for them.</a:t>
            </a:r>
            <a:endParaRPr lang="en-US" sz="1000" dirty="0"/>
          </a:p>
        </p:txBody>
      </p:sp>
      <p:sp>
        <p:nvSpPr>
          <p:cNvPr id="20" name="Text 18"/>
          <p:cNvSpPr/>
          <p:nvPr/>
        </p:nvSpPr>
        <p:spPr>
          <a:xfrm>
            <a:off x="457200" y="4773168"/>
            <a:ext cx="8229600" cy="256032"/>
          </a:xfrm>
          <a:prstGeom prst="rect">
            <a:avLst/>
          </a:prstGeom>
          <a:noFill/>
          <a:ln/>
        </p:spPr>
        <p:txBody>
          <a:bodyPr wrap="square" lIns="0" tIns="0" rIns="0" bIns="0" rtlCol="0" anchor="ctr"/>
          <a:lstStyle/>
          <a:p>
            <a:pPr algn="ctr" indent="0" marL="0">
              <a:buNone/>
            </a:pPr>
            <a:r>
              <a:rPr lang="en-US" sz="1000" b="1" i="1" dirty="0">
                <a:solidFill>
                  <a:srgbClr val="737373"/>
                </a:solidFill>
                <a:latin typeface="Calibri" pitchFamily="34" charset="0"/>
                <a:ea typeface="Calibri" pitchFamily="34" charset="-122"/>
                <a:cs typeface="Calibri" pitchFamily="34" charset="-120"/>
              </a:rPr>
              <a:t>These are structural issues, not individual failures. They require structural solutions.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1204B"/>
        </a:solidFill>
      </p:bgPr>
    </p:bg>
    <p:spTree>
      <p:nvGrpSpPr>
        <p:cNvPr id="1" name=""/>
        <p:cNvGrpSpPr/>
        <p:nvPr/>
      </p:nvGrpSpPr>
      <p:grpSpPr>
        <a:xfrm>
          <a:off x="0" y="0"/>
          <a:ext cx="0" cy="0"/>
          <a:chOff x="0" y="0"/>
          <a:chExt cx="0" cy="0"/>
        </a:xfrm>
      </p:grpSpPr>
      <p:sp>
        <p:nvSpPr>
          <p:cNvPr id="2" name="Text 0"/>
          <p:cNvSpPr/>
          <p:nvPr/>
        </p:nvSpPr>
        <p:spPr>
          <a:xfrm>
            <a:off x="457200" y="201168"/>
            <a:ext cx="8229600" cy="365760"/>
          </a:xfrm>
          <a:prstGeom prst="rect">
            <a:avLst/>
          </a:prstGeom>
          <a:noFill/>
          <a:ln/>
        </p:spPr>
        <p:txBody>
          <a:bodyPr wrap="square" lIns="0" tIns="0" rIns="0" bIns="0" rtlCol="0" anchor="ctr"/>
          <a:lstStyle/>
          <a:p>
            <a:pPr algn="l" indent="0" marL="0">
              <a:buNone/>
            </a:pPr>
            <a:r>
              <a:rPr lang="en-US" sz="1100" b="1" spc="200" kern="0" dirty="0">
                <a:solidFill>
                  <a:srgbClr val="FC4D56"/>
                </a:solidFill>
                <a:latin typeface="Calibri" pitchFamily="34" charset="0"/>
                <a:ea typeface="Calibri" pitchFamily="34" charset="-122"/>
                <a:cs typeface="Calibri" pitchFamily="34" charset="-120"/>
              </a:rPr>
              <a:t>THE THREE-SIDED CHALLENGE</a:t>
            </a:r>
            <a:endParaRPr lang="en-US" sz="1100" dirty="0"/>
          </a:p>
        </p:txBody>
      </p:sp>
      <p:sp>
        <p:nvSpPr>
          <p:cNvPr id="3" name="Text 1"/>
          <p:cNvSpPr/>
          <p:nvPr/>
        </p:nvSpPr>
        <p:spPr>
          <a:xfrm>
            <a:off x="457200" y="621792"/>
            <a:ext cx="822960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All three sides must be built simultaneously. Each side's weakness limits the other two.</a:t>
            </a:r>
            <a:endParaRPr lang="en-US" sz="1300" dirty="0"/>
          </a:p>
        </p:txBody>
      </p:sp>
      <p:sp>
        <p:nvSpPr>
          <p:cNvPr id="4" name="Shape 2"/>
          <p:cNvSpPr/>
          <p:nvPr/>
        </p:nvSpPr>
        <p:spPr>
          <a:xfrm>
            <a:off x="320040" y="1115568"/>
            <a:ext cx="2697480" cy="3657600"/>
          </a:xfrm>
          <a:prstGeom prst="rect">
            <a:avLst/>
          </a:prstGeom>
          <a:solidFill>
            <a:srgbClr val="FFFFFF">
              <a:alpha val="25000"/>
            </a:srgbClr>
          </a:solidFill>
          <a:ln w="12700">
            <a:solidFill>
              <a:srgbClr val="51AFE9"/>
            </a:solidFill>
            <a:prstDash val="solid"/>
          </a:ln>
        </p:spPr>
      </p:sp>
      <p:sp>
        <p:nvSpPr>
          <p:cNvPr id="5" name="Shape 3"/>
          <p:cNvSpPr/>
          <p:nvPr/>
        </p:nvSpPr>
        <p:spPr>
          <a:xfrm>
            <a:off x="320040" y="1115568"/>
            <a:ext cx="2697480" cy="457200"/>
          </a:xfrm>
          <a:prstGeom prst="rect">
            <a:avLst/>
          </a:prstGeom>
          <a:solidFill>
            <a:srgbClr val="51AFE9"/>
          </a:solidFill>
          <a:ln w="12700">
            <a:solidFill>
              <a:srgbClr val="51AFE9"/>
            </a:solidFill>
            <a:prstDash val="solid"/>
          </a:ln>
        </p:spPr>
      </p:sp>
      <p:pic>
        <p:nvPicPr>
          <p:cNvPr id="6" name="Image 0" descr="preencoded.png">    </p:cNvPr>
          <p:cNvPicPr>
            <a:picLocks noChangeAspect="1"/>
          </p:cNvPicPr>
          <p:nvPr/>
        </p:nvPicPr>
        <p:blipFill>
          <a:blip r:embed="rId1"/>
          <a:stretch>
            <a:fillRect/>
          </a:stretch>
        </p:blipFill>
        <p:spPr>
          <a:xfrm>
            <a:off x="457200" y="1216152"/>
            <a:ext cx="256032" cy="256032"/>
          </a:xfrm>
          <a:prstGeom prst="rect">
            <a:avLst/>
          </a:prstGeom>
        </p:spPr>
      </p:pic>
      <p:sp>
        <p:nvSpPr>
          <p:cNvPr id="7" name="Text 4"/>
          <p:cNvSpPr/>
          <p:nvPr/>
        </p:nvSpPr>
        <p:spPr>
          <a:xfrm>
            <a:off x="777240" y="1216152"/>
            <a:ext cx="2103120" cy="256032"/>
          </a:xfrm>
          <a:prstGeom prst="rect">
            <a:avLst/>
          </a:prstGeom>
          <a:noFill/>
          <a:ln/>
        </p:spPr>
        <p:txBody>
          <a:bodyPr wrap="square" lIns="0" tIns="0" rIns="0" bIns="0" rtlCol="0" anchor="ctr"/>
          <a:lstStyle/>
          <a:p>
            <a:pPr algn="l" indent="0" marL="0">
              <a:buNone/>
            </a:pPr>
            <a:r>
              <a:rPr lang="en-US" sz="900" b="1" spc="100" kern="0" dirty="0">
                <a:solidFill>
                  <a:srgbClr val="FFFFFF"/>
                </a:solidFill>
                <a:latin typeface="Calibri" pitchFamily="34" charset="0"/>
                <a:ea typeface="Calibri" pitchFamily="34" charset="-122"/>
                <a:cs typeface="Calibri" pitchFamily="34" charset="-120"/>
              </a:rPr>
              <a:t>OPPORTUNITY SIDE</a:t>
            </a:r>
            <a:endParaRPr lang="en-US" sz="900" dirty="0"/>
          </a:p>
        </p:txBody>
      </p:sp>
      <p:sp>
        <p:nvSpPr>
          <p:cNvPr id="8" name="Shape 5"/>
          <p:cNvSpPr/>
          <p:nvPr/>
        </p:nvSpPr>
        <p:spPr>
          <a:xfrm>
            <a:off x="457200" y="1691640"/>
            <a:ext cx="2423160" cy="256032"/>
          </a:xfrm>
          <a:prstGeom prst="rect">
            <a:avLst/>
          </a:prstGeom>
          <a:solidFill>
            <a:srgbClr val="51AFE9">
              <a:alpha val="50000"/>
            </a:srgbClr>
          </a:solidFill>
          <a:ln w="12700">
            <a:solidFill>
              <a:srgbClr val="51AFE9"/>
            </a:solidFill>
            <a:prstDash val="solid"/>
          </a:ln>
        </p:spPr>
      </p:sp>
      <p:sp>
        <p:nvSpPr>
          <p:cNvPr id="9" name="Text 6"/>
          <p:cNvSpPr/>
          <p:nvPr/>
        </p:nvSpPr>
        <p:spPr>
          <a:xfrm>
            <a:off x="457200" y="1691640"/>
            <a:ext cx="2423160" cy="256032"/>
          </a:xfrm>
          <a:prstGeom prst="rect">
            <a:avLst/>
          </a:prstGeom>
          <a:noFill/>
          <a:ln/>
        </p:spPr>
        <p:txBody>
          <a:bodyPr wrap="square" lIns="0" tIns="0" rIns="0" bIns="0" rtlCol="0" anchor="ctr"/>
          <a:lstStyle/>
          <a:p>
            <a:pPr algn="ctr" indent="0" marL="0">
              <a:buNone/>
            </a:pPr>
            <a:r>
              <a:rPr lang="en-US" sz="900" b="1" dirty="0">
                <a:solidFill>
                  <a:srgbClr val="51AFE9"/>
                </a:solidFill>
                <a:latin typeface="Calibri" pitchFamily="34" charset="0"/>
                <a:ea typeface="Calibri" pitchFamily="34" charset="-122"/>
                <a:cs typeface="Calibri" pitchFamily="34" charset="-120"/>
              </a:rPr>
              <a:t>Most developed</a:t>
            </a:r>
            <a:endParaRPr lang="en-US" sz="900" dirty="0"/>
          </a:p>
        </p:txBody>
      </p:sp>
      <p:sp>
        <p:nvSpPr>
          <p:cNvPr id="10" name="Text 7"/>
          <p:cNvSpPr/>
          <p:nvPr/>
        </p:nvSpPr>
        <p:spPr>
          <a:xfrm>
            <a:off x="457200" y="2057400"/>
            <a:ext cx="2423160" cy="640080"/>
          </a:xfrm>
          <a:prstGeom prst="rect">
            <a:avLst/>
          </a:prstGeom>
          <a:noFill/>
          <a:ln/>
        </p:spPr>
        <p:txBody>
          <a:bodyPr wrap="square" lIns="0" tIns="0" rIns="0" bIns="0" rtlCol="0" anchor="t"/>
          <a:lstStyle/>
          <a:p>
            <a:pPr algn="l" indent="0" marL="0">
              <a:buNone/>
            </a:pPr>
            <a:r>
              <a:rPr lang="en-US" sz="1000" dirty="0">
                <a:solidFill>
                  <a:srgbClr val="C0C0C0"/>
                </a:solidFill>
                <a:latin typeface="Calibri" pitchFamily="34" charset="0"/>
                <a:ea typeface="Calibri" pitchFamily="34" charset="-122"/>
                <a:cs typeface="Calibri" pitchFamily="34" charset="-120"/>
              </a:rPr>
              <a:t>Opportunity partners create listings, verify completion, and issue credentials to youth.</a:t>
            </a:r>
            <a:endParaRPr lang="en-US" sz="1000" dirty="0"/>
          </a:p>
        </p:txBody>
      </p:sp>
      <p:sp>
        <p:nvSpPr>
          <p:cNvPr id="11" name="Shape 8"/>
          <p:cNvSpPr/>
          <p:nvPr/>
        </p:nvSpPr>
        <p:spPr>
          <a:xfrm>
            <a:off x="457200" y="2788920"/>
            <a:ext cx="2423160" cy="18288"/>
          </a:xfrm>
          <a:prstGeom prst="rect">
            <a:avLst/>
          </a:prstGeom>
          <a:solidFill>
            <a:srgbClr val="E0E0E0"/>
          </a:solidFill>
          <a:ln w="12700">
            <a:solidFill>
              <a:srgbClr val="E0E0E0"/>
            </a:solidFill>
            <a:prstDash val="solid"/>
          </a:ln>
        </p:spPr>
      </p:sp>
      <p:sp>
        <p:nvSpPr>
          <p:cNvPr id="12" name="Text 9"/>
          <p:cNvSpPr/>
          <p:nvPr/>
        </p:nvSpPr>
        <p:spPr>
          <a:xfrm>
            <a:off x="457200" y="2852928"/>
            <a:ext cx="2423160" cy="320040"/>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Technology: Self-service via partner portal</a:t>
            </a:r>
            <a:endParaRPr lang="en-US" sz="950" dirty="0"/>
          </a:p>
        </p:txBody>
      </p:sp>
      <p:sp>
        <p:nvSpPr>
          <p:cNvPr id="13" name="Text 10"/>
          <p:cNvSpPr/>
          <p:nvPr/>
        </p:nvSpPr>
        <p:spPr>
          <a:xfrm>
            <a:off x="457200" y="3200400"/>
            <a:ext cx="2423160" cy="548640"/>
          </a:xfrm>
          <a:prstGeom prst="rect">
            <a:avLst/>
          </a:prstGeom>
          <a:noFill/>
          <a:ln/>
        </p:spPr>
        <p:txBody>
          <a:bodyPr wrap="square" lIns="0" tIns="0" rIns="0" bIns="0" rtlCol="0" anchor="t"/>
          <a:lstStyle/>
          <a:p>
            <a:pPr algn="l" indent="0" marL="0">
              <a:buNone/>
            </a:pPr>
            <a:r>
              <a:rPr lang="en-US" sz="950" dirty="0">
                <a:solidFill>
                  <a:srgbClr val="D0D0D0"/>
                </a:solidFill>
                <a:latin typeface="Calibri" pitchFamily="34" charset="0"/>
                <a:ea typeface="Calibri" pitchFamily="34" charset="-122"/>
                <a:cs typeface="Calibri" pitchFamily="34" charset="-120"/>
              </a:rPr>
              <a:t>Operations: Constrained by reward confusion and inconsistent onboarding</a:t>
            </a:r>
            <a:endParaRPr lang="en-US" sz="950" dirty="0"/>
          </a:p>
        </p:txBody>
      </p:sp>
      <p:sp>
        <p:nvSpPr>
          <p:cNvPr id="14" name="Shape 11"/>
          <p:cNvSpPr/>
          <p:nvPr/>
        </p:nvSpPr>
        <p:spPr>
          <a:xfrm>
            <a:off x="3154680" y="1115568"/>
            <a:ext cx="2697480" cy="3657600"/>
          </a:xfrm>
          <a:prstGeom prst="rect">
            <a:avLst/>
          </a:prstGeom>
          <a:solidFill>
            <a:srgbClr val="FFFFFF">
              <a:alpha val="25000"/>
            </a:srgbClr>
          </a:solidFill>
          <a:ln w="12700">
            <a:solidFill>
              <a:srgbClr val="F0A02D"/>
            </a:solidFill>
            <a:prstDash val="solid"/>
          </a:ln>
        </p:spPr>
      </p:sp>
      <p:sp>
        <p:nvSpPr>
          <p:cNvPr id="15" name="Shape 12"/>
          <p:cNvSpPr/>
          <p:nvPr/>
        </p:nvSpPr>
        <p:spPr>
          <a:xfrm>
            <a:off x="3154680" y="1115568"/>
            <a:ext cx="2697480" cy="457200"/>
          </a:xfrm>
          <a:prstGeom prst="rect">
            <a:avLst/>
          </a:prstGeom>
          <a:solidFill>
            <a:srgbClr val="F0A02D"/>
          </a:solidFill>
          <a:ln w="12700">
            <a:solidFill>
              <a:srgbClr val="F0A02D"/>
            </a:solidFill>
            <a:prstDash val="solid"/>
          </a:ln>
        </p:spPr>
      </p:sp>
      <p:pic>
        <p:nvPicPr>
          <p:cNvPr id="16" name="Image 1" descr="preencoded.png">    </p:cNvPr>
          <p:cNvPicPr>
            <a:picLocks noChangeAspect="1"/>
          </p:cNvPicPr>
          <p:nvPr/>
        </p:nvPicPr>
        <p:blipFill>
          <a:blip r:embed="rId2"/>
          <a:stretch>
            <a:fillRect/>
          </a:stretch>
        </p:blipFill>
        <p:spPr>
          <a:xfrm>
            <a:off x="3291840" y="1216152"/>
            <a:ext cx="256032" cy="256032"/>
          </a:xfrm>
          <a:prstGeom prst="rect">
            <a:avLst/>
          </a:prstGeom>
        </p:spPr>
      </p:pic>
      <p:sp>
        <p:nvSpPr>
          <p:cNvPr id="17" name="Text 13"/>
          <p:cNvSpPr/>
          <p:nvPr/>
        </p:nvSpPr>
        <p:spPr>
          <a:xfrm>
            <a:off x="3611880" y="1216152"/>
            <a:ext cx="2103120" cy="256032"/>
          </a:xfrm>
          <a:prstGeom prst="rect">
            <a:avLst/>
          </a:prstGeom>
          <a:noFill/>
          <a:ln/>
        </p:spPr>
        <p:txBody>
          <a:bodyPr wrap="square" lIns="0" tIns="0" rIns="0" bIns="0" rtlCol="0" anchor="ctr"/>
          <a:lstStyle/>
          <a:p>
            <a:pPr algn="l" indent="0" marL="0">
              <a:buNone/>
            </a:pPr>
            <a:r>
              <a:rPr lang="en-US" sz="900" b="1" spc="100" kern="0" dirty="0">
                <a:solidFill>
                  <a:srgbClr val="FFFFFF"/>
                </a:solidFill>
                <a:latin typeface="Calibri" pitchFamily="34" charset="0"/>
                <a:ea typeface="Calibri" pitchFamily="34" charset="-122"/>
                <a:cs typeface="Calibri" pitchFamily="34" charset="-120"/>
              </a:rPr>
              <a:t>YOUTH SIDE</a:t>
            </a:r>
            <a:endParaRPr lang="en-US" sz="900" dirty="0"/>
          </a:p>
        </p:txBody>
      </p:sp>
      <p:sp>
        <p:nvSpPr>
          <p:cNvPr id="18" name="Shape 14"/>
          <p:cNvSpPr/>
          <p:nvPr/>
        </p:nvSpPr>
        <p:spPr>
          <a:xfrm>
            <a:off x="3291840" y="1691640"/>
            <a:ext cx="2423160" cy="256032"/>
          </a:xfrm>
          <a:prstGeom prst="rect">
            <a:avLst/>
          </a:prstGeom>
          <a:solidFill>
            <a:srgbClr val="F0A02D">
              <a:alpha val="50000"/>
            </a:srgbClr>
          </a:solidFill>
          <a:ln w="12700">
            <a:solidFill>
              <a:srgbClr val="F0A02D"/>
            </a:solidFill>
            <a:prstDash val="solid"/>
          </a:ln>
        </p:spPr>
      </p:sp>
      <p:sp>
        <p:nvSpPr>
          <p:cNvPr id="19" name="Text 15"/>
          <p:cNvSpPr/>
          <p:nvPr/>
        </p:nvSpPr>
        <p:spPr>
          <a:xfrm>
            <a:off x="3291840" y="1691640"/>
            <a:ext cx="2423160" cy="256032"/>
          </a:xfrm>
          <a:prstGeom prst="rect">
            <a:avLst/>
          </a:prstGeom>
          <a:noFill/>
          <a:ln/>
        </p:spPr>
        <p:txBody>
          <a:bodyPr wrap="square" lIns="0" tIns="0" rIns="0" bIns="0" rtlCol="0" anchor="ctr"/>
          <a:lstStyle/>
          <a:p>
            <a:pPr algn="ctr" indent="0" marL="0">
              <a:buNone/>
            </a:pPr>
            <a:r>
              <a:rPr lang="en-US" sz="900" b="1" dirty="0">
                <a:solidFill>
                  <a:srgbClr val="F0A02D"/>
                </a:solidFill>
                <a:latin typeface="Calibri" pitchFamily="34" charset="0"/>
                <a:ea typeface="Calibri" pitchFamily="34" charset="-122"/>
                <a:cs typeface="Calibri" pitchFamily="34" charset="-120"/>
              </a:rPr>
              <a:t>Structurally unsupported</a:t>
            </a:r>
            <a:endParaRPr lang="en-US" sz="900" dirty="0"/>
          </a:p>
        </p:txBody>
      </p:sp>
      <p:sp>
        <p:nvSpPr>
          <p:cNvPr id="20" name="Text 16"/>
          <p:cNvSpPr/>
          <p:nvPr/>
        </p:nvSpPr>
        <p:spPr>
          <a:xfrm>
            <a:off x="3291840" y="2057400"/>
            <a:ext cx="2423160" cy="640080"/>
          </a:xfrm>
          <a:prstGeom prst="rect">
            <a:avLst/>
          </a:prstGeom>
          <a:noFill/>
          <a:ln/>
        </p:spPr>
        <p:txBody>
          <a:bodyPr wrap="square" lIns="0" tIns="0" rIns="0" bIns="0" rtlCol="0" anchor="t"/>
          <a:lstStyle/>
          <a:p>
            <a:pPr algn="l" indent="0" marL="0">
              <a:buNone/>
            </a:pPr>
            <a:r>
              <a:rPr lang="en-US" sz="1000" dirty="0">
                <a:solidFill>
                  <a:srgbClr val="C0C0C0"/>
                </a:solidFill>
                <a:latin typeface="Calibri" pitchFamily="34" charset="0"/>
                <a:ea typeface="Calibri" pitchFamily="34" charset="-122"/>
                <a:cs typeface="Calibri" pitchFamily="34" charset="-120"/>
              </a:rPr>
              <a:t>Young people discover opportunities, complete them, earn Zlto, and build their YoID.</a:t>
            </a:r>
            <a:endParaRPr lang="en-US" sz="1000" dirty="0"/>
          </a:p>
        </p:txBody>
      </p:sp>
      <p:sp>
        <p:nvSpPr>
          <p:cNvPr id="21" name="Shape 17"/>
          <p:cNvSpPr/>
          <p:nvPr/>
        </p:nvSpPr>
        <p:spPr>
          <a:xfrm>
            <a:off x="3291840" y="2788920"/>
            <a:ext cx="2423160" cy="18288"/>
          </a:xfrm>
          <a:prstGeom prst="rect">
            <a:avLst/>
          </a:prstGeom>
          <a:solidFill>
            <a:srgbClr val="E0E0E0"/>
          </a:solidFill>
          <a:ln w="12700">
            <a:solidFill>
              <a:srgbClr val="E0E0E0"/>
            </a:solidFill>
            <a:prstDash val="solid"/>
          </a:ln>
        </p:spPr>
      </p:sp>
      <p:sp>
        <p:nvSpPr>
          <p:cNvPr id="22" name="Text 18"/>
          <p:cNvSpPr/>
          <p:nvPr/>
        </p:nvSpPr>
        <p:spPr>
          <a:xfrm>
            <a:off x="3291840" y="2852928"/>
            <a:ext cx="2423160" cy="320040"/>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Technology: Functional</a:t>
            </a:r>
            <a:endParaRPr lang="en-US" sz="950" dirty="0"/>
          </a:p>
        </p:txBody>
      </p:sp>
      <p:sp>
        <p:nvSpPr>
          <p:cNvPr id="23" name="Text 19"/>
          <p:cNvSpPr/>
          <p:nvPr/>
        </p:nvSpPr>
        <p:spPr>
          <a:xfrm>
            <a:off x="3291840" y="3200400"/>
            <a:ext cx="2423160" cy="548640"/>
          </a:xfrm>
          <a:prstGeom prst="rect">
            <a:avLst/>
          </a:prstGeom>
          <a:noFill/>
          <a:ln/>
        </p:spPr>
        <p:txBody>
          <a:bodyPr wrap="square" lIns="0" tIns="0" rIns="0" bIns="0" rtlCol="0" anchor="t"/>
          <a:lstStyle/>
          <a:p>
            <a:pPr algn="l" indent="0" marL="0">
              <a:buNone/>
            </a:pPr>
            <a:r>
              <a:rPr lang="en-US" sz="950" dirty="0">
                <a:solidFill>
                  <a:srgbClr val="D0D0D0"/>
                </a:solidFill>
                <a:latin typeface="Calibri" pitchFamily="34" charset="0"/>
                <a:ea typeface="Calibri" pitchFamily="34" charset="-122"/>
                <a:cs typeface="Calibri" pitchFamily="34" charset="-120"/>
              </a:rPr>
              <a:t>Operations: No acquisition or engagement guidance exists</a:t>
            </a:r>
            <a:endParaRPr lang="en-US" sz="950" dirty="0"/>
          </a:p>
        </p:txBody>
      </p:sp>
      <p:sp>
        <p:nvSpPr>
          <p:cNvPr id="24" name="Shape 20"/>
          <p:cNvSpPr/>
          <p:nvPr/>
        </p:nvSpPr>
        <p:spPr>
          <a:xfrm>
            <a:off x="5989320" y="1115568"/>
            <a:ext cx="2697480" cy="3657600"/>
          </a:xfrm>
          <a:prstGeom prst="rect">
            <a:avLst/>
          </a:prstGeom>
          <a:solidFill>
            <a:srgbClr val="FFFFFF">
              <a:alpha val="25000"/>
            </a:srgbClr>
          </a:solidFill>
          <a:ln w="12700">
            <a:solidFill>
              <a:srgbClr val="FC4D56"/>
            </a:solidFill>
            <a:prstDash val="solid"/>
          </a:ln>
        </p:spPr>
      </p:sp>
      <p:sp>
        <p:nvSpPr>
          <p:cNvPr id="25" name="Shape 21"/>
          <p:cNvSpPr/>
          <p:nvPr/>
        </p:nvSpPr>
        <p:spPr>
          <a:xfrm>
            <a:off x="5989320" y="1115568"/>
            <a:ext cx="2697480" cy="457200"/>
          </a:xfrm>
          <a:prstGeom prst="rect">
            <a:avLst/>
          </a:prstGeom>
          <a:solidFill>
            <a:srgbClr val="FC4D56"/>
          </a:solidFill>
          <a:ln w="12700">
            <a:solidFill>
              <a:srgbClr val="FC4D56"/>
            </a:solidFill>
            <a:prstDash val="solid"/>
          </a:ln>
        </p:spPr>
      </p:sp>
      <p:pic>
        <p:nvPicPr>
          <p:cNvPr id="26" name="Image 2" descr="preencoded.png">    </p:cNvPr>
          <p:cNvPicPr>
            <a:picLocks noChangeAspect="1"/>
          </p:cNvPicPr>
          <p:nvPr/>
        </p:nvPicPr>
        <p:blipFill>
          <a:blip r:embed="rId3"/>
          <a:stretch>
            <a:fillRect/>
          </a:stretch>
        </p:blipFill>
        <p:spPr>
          <a:xfrm>
            <a:off x="6126480" y="1216152"/>
            <a:ext cx="256032" cy="256032"/>
          </a:xfrm>
          <a:prstGeom prst="rect">
            <a:avLst/>
          </a:prstGeom>
        </p:spPr>
      </p:pic>
      <p:sp>
        <p:nvSpPr>
          <p:cNvPr id="27" name="Text 22"/>
          <p:cNvSpPr/>
          <p:nvPr/>
        </p:nvSpPr>
        <p:spPr>
          <a:xfrm>
            <a:off x="6446520" y="1216152"/>
            <a:ext cx="2103120" cy="256032"/>
          </a:xfrm>
          <a:prstGeom prst="rect">
            <a:avLst/>
          </a:prstGeom>
          <a:noFill/>
          <a:ln/>
        </p:spPr>
        <p:txBody>
          <a:bodyPr wrap="square" lIns="0" tIns="0" rIns="0" bIns="0" rtlCol="0" anchor="ctr"/>
          <a:lstStyle/>
          <a:p>
            <a:pPr algn="l" indent="0" marL="0">
              <a:buNone/>
            </a:pPr>
            <a:r>
              <a:rPr lang="en-US" sz="900" b="1" spc="100" kern="0" dirty="0">
                <a:solidFill>
                  <a:srgbClr val="FFFFFF"/>
                </a:solidFill>
                <a:latin typeface="Calibri" pitchFamily="34" charset="0"/>
                <a:ea typeface="Calibri" pitchFamily="34" charset="-122"/>
                <a:cs typeface="Calibri" pitchFamily="34" charset="-120"/>
              </a:rPr>
              <a:t>REWARD SIDE</a:t>
            </a:r>
            <a:endParaRPr lang="en-US" sz="900" dirty="0"/>
          </a:p>
        </p:txBody>
      </p:sp>
      <p:sp>
        <p:nvSpPr>
          <p:cNvPr id="28" name="Shape 23"/>
          <p:cNvSpPr/>
          <p:nvPr/>
        </p:nvSpPr>
        <p:spPr>
          <a:xfrm>
            <a:off x="6126480" y="1691640"/>
            <a:ext cx="2423160" cy="256032"/>
          </a:xfrm>
          <a:prstGeom prst="rect">
            <a:avLst/>
          </a:prstGeom>
          <a:solidFill>
            <a:srgbClr val="FC4D56">
              <a:alpha val="50000"/>
            </a:srgbClr>
          </a:solidFill>
          <a:ln w="12700">
            <a:solidFill>
              <a:srgbClr val="FC4D56"/>
            </a:solidFill>
            <a:prstDash val="solid"/>
          </a:ln>
        </p:spPr>
      </p:sp>
      <p:sp>
        <p:nvSpPr>
          <p:cNvPr id="29" name="Text 24"/>
          <p:cNvSpPr/>
          <p:nvPr/>
        </p:nvSpPr>
        <p:spPr>
          <a:xfrm>
            <a:off x="6126480" y="1691640"/>
            <a:ext cx="2423160" cy="256032"/>
          </a:xfrm>
          <a:prstGeom prst="rect">
            <a:avLst/>
          </a:prstGeom>
          <a:noFill/>
          <a:ln/>
        </p:spPr>
        <p:txBody>
          <a:bodyPr wrap="square" lIns="0" tIns="0" rIns="0" bIns="0" rtlCol="0" anchor="ctr"/>
          <a:lstStyle/>
          <a:p>
            <a:pPr algn="ctr" indent="0" marL="0">
              <a:buNone/>
            </a:pPr>
            <a:r>
              <a:rPr lang="en-US" sz="900" b="1" dirty="0">
                <a:solidFill>
                  <a:srgbClr val="FC4D56"/>
                </a:solidFill>
                <a:latin typeface="Calibri" pitchFamily="34" charset="0"/>
                <a:ea typeface="Calibri" pitchFamily="34" charset="-122"/>
                <a:cs typeface="Calibri" pitchFamily="34" charset="-120"/>
              </a:rPr>
              <a:t>Most critical gap</a:t>
            </a:r>
            <a:endParaRPr lang="en-US" sz="900" dirty="0"/>
          </a:p>
        </p:txBody>
      </p:sp>
      <p:sp>
        <p:nvSpPr>
          <p:cNvPr id="30" name="Text 25"/>
          <p:cNvSpPr/>
          <p:nvPr/>
        </p:nvSpPr>
        <p:spPr>
          <a:xfrm>
            <a:off x="6126480" y="2057400"/>
            <a:ext cx="2423160" cy="640080"/>
          </a:xfrm>
          <a:prstGeom prst="rect">
            <a:avLst/>
          </a:prstGeom>
          <a:noFill/>
          <a:ln/>
        </p:spPr>
        <p:txBody>
          <a:bodyPr wrap="square" lIns="0" tIns="0" rIns="0" bIns="0" rtlCol="0" anchor="t"/>
          <a:lstStyle/>
          <a:p>
            <a:pPr algn="l" indent="0" marL="0">
              <a:buNone/>
            </a:pPr>
            <a:r>
              <a:rPr lang="en-US" sz="1000" dirty="0">
                <a:solidFill>
                  <a:srgbClr val="C0C0C0"/>
                </a:solidFill>
                <a:latin typeface="Calibri" pitchFamily="34" charset="0"/>
                <a:ea typeface="Calibri" pitchFamily="34" charset="-122"/>
                <a:cs typeface="Calibri" pitchFamily="34" charset="-120"/>
              </a:rPr>
              <a:t>Reward partners offer goods and services redeemable with Zlto tokens.</a:t>
            </a:r>
            <a:endParaRPr lang="en-US" sz="1000" dirty="0"/>
          </a:p>
        </p:txBody>
      </p:sp>
      <p:sp>
        <p:nvSpPr>
          <p:cNvPr id="31" name="Shape 26"/>
          <p:cNvSpPr/>
          <p:nvPr/>
        </p:nvSpPr>
        <p:spPr>
          <a:xfrm>
            <a:off x="6126480" y="2788920"/>
            <a:ext cx="2423160" cy="18288"/>
          </a:xfrm>
          <a:prstGeom prst="rect">
            <a:avLst/>
          </a:prstGeom>
          <a:solidFill>
            <a:srgbClr val="E0E0E0"/>
          </a:solidFill>
          <a:ln w="12700">
            <a:solidFill>
              <a:srgbClr val="E0E0E0"/>
            </a:solidFill>
            <a:prstDash val="solid"/>
          </a:ln>
        </p:spPr>
      </p:sp>
      <p:sp>
        <p:nvSpPr>
          <p:cNvPr id="32" name="Text 27"/>
          <p:cNvSpPr/>
          <p:nvPr/>
        </p:nvSpPr>
        <p:spPr>
          <a:xfrm>
            <a:off x="6126480" y="2852928"/>
            <a:ext cx="2423160" cy="320040"/>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Technology: Entirely dependent on Zlto team</a:t>
            </a:r>
            <a:endParaRPr lang="en-US" sz="950" dirty="0"/>
          </a:p>
        </p:txBody>
      </p:sp>
      <p:sp>
        <p:nvSpPr>
          <p:cNvPr id="33" name="Text 28"/>
          <p:cNvSpPr/>
          <p:nvPr/>
        </p:nvSpPr>
        <p:spPr>
          <a:xfrm>
            <a:off x="6126480" y="3200400"/>
            <a:ext cx="2423160" cy="548640"/>
          </a:xfrm>
          <a:prstGeom prst="rect">
            <a:avLst/>
          </a:prstGeom>
          <a:noFill/>
          <a:ln/>
        </p:spPr>
        <p:txBody>
          <a:bodyPr wrap="square" lIns="0" tIns="0" rIns="0" bIns="0" rtlCol="0" anchor="t"/>
          <a:lstStyle/>
          <a:p>
            <a:pPr algn="l" indent="0" marL="0">
              <a:buNone/>
            </a:pPr>
            <a:r>
              <a:rPr lang="en-US" sz="950" dirty="0">
                <a:solidFill>
                  <a:srgbClr val="D0D0D0"/>
                </a:solidFill>
                <a:latin typeface="Calibri" pitchFamily="34" charset="0"/>
                <a:ea typeface="Calibri" pitchFamily="34" charset="-122"/>
                <a:cs typeface="Calibri" pitchFamily="34" charset="-120"/>
              </a:rPr>
              <a:t>Operations: Under-documented; no self-service; single contact bottleneck</a:t>
            </a:r>
            <a:endParaRPr lang="en-US" sz="950" dirty="0"/>
          </a:p>
        </p:txBody>
      </p:sp>
      <p:sp>
        <p:nvSpPr>
          <p:cNvPr id="34" name="Shape 29"/>
          <p:cNvSpPr/>
          <p:nvPr/>
        </p:nvSpPr>
        <p:spPr>
          <a:xfrm>
            <a:off x="320040" y="4663440"/>
            <a:ext cx="8503920" cy="347472"/>
          </a:xfrm>
          <a:prstGeom prst="rect">
            <a:avLst/>
          </a:prstGeom>
          <a:solidFill>
            <a:srgbClr val="FC4D56">
              <a:alpha val="50000"/>
            </a:srgbClr>
          </a:solidFill>
          <a:ln w="12700">
            <a:solidFill>
              <a:srgbClr val="FC4D56"/>
            </a:solidFill>
            <a:prstDash val="solid"/>
          </a:ln>
        </p:spPr>
      </p:sp>
      <p:sp>
        <p:nvSpPr>
          <p:cNvPr id="35" name="Text 30"/>
          <p:cNvSpPr/>
          <p:nvPr/>
        </p:nvSpPr>
        <p:spPr>
          <a:xfrm>
            <a:off x="457200" y="4663440"/>
            <a:ext cx="8321040" cy="347472"/>
          </a:xfrm>
          <a:prstGeom prst="rect">
            <a:avLst/>
          </a:prstGeom>
          <a:noFill/>
          <a:ln/>
        </p:spPr>
        <p:txBody>
          <a:bodyPr wrap="square" lIns="0" tIns="0" rIns="0" bIns="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The following slides diagnose each side in detail — starting with the opportunity side and moving to the most critical gap: the reward side.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51AFE9"/>
          </a:solidFill>
          <a:ln w="12700">
            <a:solidFill>
              <a:srgbClr val="51AFE9"/>
            </a:solidFill>
            <a:prstDash val="solid"/>
          </a:ln>
        </p:spPr>
      </p:sp>
      <p:pic>
        <p:nvPicPr>
          <p:cNvPr id="3" name="Image 0" descr="preencoded.png">    </p:cNvPr>
          <p:cNvPicPr>
            <a:picLocks noChangeAspect="1"/>
          </p:cNvPicPr>
          <p:nvPr/>
        </p:nvPicPr>
        <p:blipFill>
          <a:blip r:embed="rId1"/>
          <a:stretch>
            <a:fillRect/>
          </a:stretch>
        </p:blipFill>
        <p:spPr>
          <a:xfrm>
            <a:off x="45720" y="128016"/>
            <a:ext cx="246888" cy="246888"/>
          </a:xfrm>
          <a:prstGeom prst="rect">
            <a:avLst/>
          </a:prstGeom>
        </p:spPr>
      </p:pic>
      <p:sp>
        <p:nvSpPr>
          <p:cNvPr id="4" name="Shape 1"/>
          <p:cNvSpPr/>
          <p:nvPr/>
        </p:nvSpPr>
        <p:spPr>
          <a:xfrm>
            <a:off x="347472" y="0"/>
            <a:ext cx="8796528" cy="640080"/>
          </a:xfrm>
          <a:prstGeom prst="rect">
            <a:avLst/>
          </a:prstGeom>
          <a:solidFill>
            <a:srgbClr val="41204B"/>
          </a:solidFill>
          <a:ln w="12700">
            <a:solidFill>
              <a:srgbClr val="41204B"/>
            </a:solidFill>
            <a:prstDash val="solid"/>
          </a:ln>
        </p:spPr>
      </p:sp>
      <p:sp>
        <p:nvSpPr>
          <p:cNvPr id="5" name="Text 2"/>
          <p:cNvSpPr/>
          <p:nvPr/>
        </p:nvSpPr>
        <p:spPr>
          <a:xfrm>
            <a:off x="530352"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OPPORTUNITY SIDE — CHALLENGES</a:t>
            </a:r>
            <a:endParaRPr lang="en-US" sz="1100" dirty="0"/>
          </a:p>
        </p:txBody>
      </p:sp>
      <p:sp>
        <p:nvSpPr>
          <p:cNvPr id="6" name="Text 3"/>
          <p:cNvSpPr/>
          <p:nvPr/>
        </p:nvSpPr>
        <p:spPr>
          <a:xfrm>
            <a:off x="50292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The most technologically self-service side — yet structurally misunderstood, under-supported, and undermined by inconsistent information at onboarding.</a:t>
            </a:r>
            <a:endParaRPr lang="en-US" sz="1100" dirty="0"/>
          </a:p>
        </p:txBody>
      </p:sp>
      <p:sp>
        <p:nvSpPr>
          <p:cNvPr id="7" name="Shape 4"/>
          <p:cNvSpPr/>
          <p:nvPr/>
        </p:nvSpPr>
        <p:spPr>
          <a:xfrm>
            <a:off x="457200" y="1234440"/>
            <a:ext cx="2651760" cy="1627632"/>
          </a:xfrm>
          <a:prstGeom prst="rect">
            <a:avLst/>
          </a:prstGeom>
          <a:solidFill>
            <a:srgbClr val="F5F5F5"/>
          </a:solidFill>
          <a:ln w="12700">
            <a:solidFill>
              <a:srgbClr val="E8E8E8"/>
            </a:solidFill>
            <a:prstDash val="solid"/>
          </a:ln>
        </p:spPr>
      </p:sp>
      <p:sp>
        <p:nvSpPr>
          <p:cNvPr id="8" name="Shape 5"/>
          <p:cNvSpPr/>
          <p:nvPr/>
        </p:nvSpPr>
        <p:spPr>
          <a:xfrm>
            <a:off x="457200" y="1234440"/>
            <a:ext cx="64008" cy="1627632"/>
          </a:xfrm>
          <a:prstGeom prst="rect">
            <a:avLst/>
          </a:prstGeom>
          <a:solidFill>
            <a:srgbClr val="FC4D56"/>
          </a:solidFill>
          <a:ln w="12700">
            <a:solidFill>
              <a:srgbClr val="FC4D56"/>
            </a:solidFill>
            <a:prstDash val="solid"/>
          </a:ln>
        </p:spPr>
      </p:sp>
      <p:sp>
        <p:nvSpPr>
          <p:cNvPr id="9" name="Text 6"/>
          <p:cNvSpPr/>
          <p:nvPr/>
        </p:nvSpPr>
        <p:spPr>
          <a:xfrm>
            <a:off x="612648" y="13258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Reward issuance confusion</a:t>
            </a:r>
            <a:endParaRPr lang="en-US" sz="1100" dirty="0"/>
          </a:p>
        </p:txBody>
      </p:sp>
      <p:sp>
        <p:nvSpPr>
          <p:cNvPr id="10" name="Text 7"/>
          <p:cNvSpPr/>
          <p:nvPr/>
        </p:nvSpPr>
        <p:spPr>
          <a:xfrm>
            <a:off x="612648" y="1627632"/>
            <a:ext cx="2432304" cy="114300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Partners assume they can attach Zlto rewards to the opportunities they post. In practice, only organisations that directly fund the Zlto team can configure rewards. This conflates the distinct roles of opportunity provider and reward funder — roles the marketplace separates by design.</a:t>
            </a:r>
            <a:endParaRPr lang="en-US" sz="950" dirty="0"/>
          </a:p>
        </p:txBody>
      </p:sp>
      <p:sp>
        <p:nvSpPr>
          <p:cNvPr id="11" name="Shape 8"/>
          <p:cNvSpPr/>
          <p:nvPr/>
        </p:nvSpPr>
        <p:spPr>
          <a:xfrm>
            <a:off x="3246120" y="1234440"/>
            <a:ext cx="2651760" cy="1627632"/>
          </a:xfrm>
          <a:prstGeom prst="rect">
            <a:avLst/>
          </a:prstGeom>
          <a:solidFill>
            <a:srgbClr val="F5F5F5"/>
          </a:solidFill>
          <a:ln w="12700">
            <a:solidFill>
              <a:srgbClr val="E8E8E8"/>
            </a:solidFill>
            <a:prstDash val="solid"/>
          </a:ln>
        </p:spPr>
      </p:sp>
      <p:sp>
        <p:nvSpPr>
          <p:cNvPr id="12" name="Shape 9"/>
          <p:cNvSpPr/>
          <p:nvPr/>
        </p:nvSpPr>
        <p:spPr>
          <a:xfrm>
            <a:off x="3246120" y="1234440"/>
            <a:ext cx="64008" cy="1627632"/>
          </a:xfrm>
          <a:prstGeom prst="rect">
            <a:avLst/>
          </a:prstGeom>
          <a:solidFill>
            <a:srgbClr val="FC4D56"/>
          </a:solidFill>
          <a:ln w="12700">
            <a:solidFill>
              <a:srgbClr val="FC4D56"/>
            </a:solidFill>
            <a:prstDash val="solid"/>
          </a:ln>
        </p:spPr>
      </p:sp>
      <p:sp>
        <p:nvSpPr>
          <p:cNvPr id="13" name="Text 10"/>
          <p:cNvSpPr/>
          <p:nvPr/>
        </p:nvSpPr>
        <p:spPr>
          <a:xfrm>
            <a:off x="3401568" y="13258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Onboarding bottleneck</a:t>
            </a:r>
            <a:endParaRPr lang="en-US" sz="1100" dirty="0"/>
          </a:p>
        </p:txBody>
      </p:sp>
      <p:sp>
        <p:nvSpPr>
          <p:cNvPr id="14" name="Text 11"/>
          <p:cNvSpPr/>
          <p:nvPr/>
        </p:nvSpPr>
        <p:spPr>
          <a:xfrm>
            <a:off x="3401568" y="1627632"/>
            <a:ext cx="2432304" cy="114300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Support falls on Desmée and Camila, who are not resourced as customer success managers. Every new partner requires direct access to these individuals. Onboarding is slow, relationship-dependent, and does not scale as the partner network grows.</a:t>
            </a:r>
            <a:endParaRPr lang="en-US" sz="950" dirty="0"/>
          </a:p>
        </p:txBody>
      </p:sp>
      <p:sp>
        <p:nvSpPr>
          <p:cNvPr id="15" name="Shape 12"/>
          <p:cNvSpPr/>
          <p:nvPr/>
        </p:nvSpPr>
        <p:spPr>
          <a:xfrm>
            <a:off x="6035040" y="1234440"/>
            <a:ext cx="2651760" cy="1627632"/>
          </a:xfrm>
          <a:prstGeom prst="rect">
            <a:avLst/>
          </a:prstGeom>
          <a:solidFill>
            <a:srgbClr val="F5F5F5"/>
          </a:solidFill>
          <a:ln w="12700">
            <a:solidFill>
              <a:srgbClr val="E8E8E8"/>
            </a:solidFill>
            <a:prstDash val="solid"/>
          </a:ln>
        </p:spPr>
      </p:sp>
      <p:sp>
        <p:nvSpPr>
          <p:cNvPr id="16" name="Shape 13"/>
          <p:cNvSpPr/>
          <p:nvPr/>
        </p:nvSpPr>
        <p:spPr>
          <a:xfrm>
            <a:off x="6035040" y="1234440"/>
            <a:ext cx="64008" cy="1627632"/>
          </a:xfrm>
          <a:prstGeom prst="rect">
            <a:avLst/>
          </a:prstGeom>
          <a:solidFill>
            <a:srgbClr val="FC4D56"/>
          </a:solidFill>
          <a:ln w="12700">
            <a:solidFill>
              <a:srgbClr val="FC4D56"/>
            </a:solidFill>
            <a:prstDash val="solid"/>
          </a:ln>
        </p:spPr>
      </p:sp>
      <p:sp>
        <p:nvSpPr>
          <p:cNvPr id="17" name="Text 14"/>
          <p:cNvSpPr/>
          <p:nvPr/>
        </p:nvSpPr>
        <p:spPr>
          <a:xfrm>
            <a:off x="6190488" y="13258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Inconsistent information</a:t>
            </a:r>
            <a:endParaRPr lang="en-US" sz="1100" dirty="0"/>
          </a:p>
        </p:txBody>
      </p:sp>
      <p:sp>
        <p:nvSpPr>
          <p:cNvPr id="18" name="Text 15"/>
          <p:cNvSpPr/>
          <p:nvPr/>
        </p:nvSpPr>
        <p:spPr>
          <a:xfrm>
            <a:off x="6190488" y="1627632"/>
            <a:ext cx="2432304" cy="114300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Onboarding calls regularly reference features that are on the roadmap as if they are current. Partners enter deployment expecting capabilities the platform does not yet have. This erodes trust when reality doesn't match the pitch.</a:t>
            </a:r>
            <a:endParaRPr lang="en-US" sz="950" dirty="0"/>
          </a:p>
        </p:txBody>
      </p:sp>
      <p:sp>
        <p:nvSpPr>
          <p:cNvPr id="19" name="Shape 16"/>
          <p:cNvSpPr/>
          <p:nvPr/>
        </p:nvSpPr>
        <p:spPr>
          <a:xfrm>
            <a:off x="457200" y="2990088"/>
            <a:ext cx="8229600" cy="1737360"/>
          </a:xfrm>
          <a:prstGeom prst="rect">
            <a:avLst/>
          </a:prstGeom>
          <a:solidFill>
            <a:srgbClr val="F5F5F5"/>
          </a:solidFill>
          <a:ln w="12700">
            <a:solidFill>
              <a:srgbClr val="E8E8E8"/>
            </a:solidFill>
            <a:prstDash val="solid"/>
          </a:ln>
        </p:spPr>
      </p:sp>
      <p:sp>
        <p:nvSpPr>
          <p:cNvPr id="20" name="Shape 17"/>
          <p:cNvSpPr/>
          <p:nvPr/>
        </p:nvSpPr>
        <p:spPr>
          <a:xfrm>
            <a:off x="457200" y="2990088"/>
            <a:ext cx="64008" cy="1737360"/>
          </a:xfrm>
          <a:prstGeom prst="rect">
            <a:avLst/>
          </a:prstGeom>
          <a:solidFill>
            <a:srgbClr val="F0A02D"/>
          </a:solidFill>
          <a:ln w="12700">
            <a:solidFill>
              <a:srgbClr val="F0A02D"/>
            </a:solidFill>
            <a:prstDash val="solid"/>
          </a:ln>
        </p:spPr>
      </p:sp>
      <p:sp>
        <p:nvSpPr>
          <p:cNvPr id="21" name="Text 18"/>
          <p:cNvSpPr/>
          <p:nvPr/>
        </p:nvSpPr>
        <p:spPr>
          <a:xfrm>
            <a:off x="612648" y="3063240"/>
            <a:ext cx="7909560" cy="292608"/>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Features commonly presented as current during onboarding — that are not:</a:t>
            </a:r>
            <a:endParaRPr lang="en-US" sz="1050" dirty="0"/>
          </a:p>
        </p:txBody>
      </p:sp>
      <p:sp>
        <p:nvSpPr>
          <p:cNvPr id="22" name="Text 19"/>
          <p:cNvSpPr/>
          <p:nvPr/>
        </p:nvSpPr>
        <p:spPr>
          <a:xfrm>
            <a:off x="612648" y="3383280"/>
            <a:ext cx="7909560" cy="1234440"/>
          </a:xfrm>
          <a:prstGeom prst="rect">
            <a:avLst/>
          </a:prstGeom>
          <a:noFill/>
          <a:ln/>
        </p:spPr>
        <p:txBody>
          <a:bodyPr wrap="square" lIns="0" tIns="0" rIns="0" bIns="0" rtlCol="0" anchor="t"/>
          <a:lstStyle/>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Impact Marketplace — positioned as an active feature; not yet live</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YoID as a widely-recognised digital identity — functional, but not yet recognised by most employers or institutions</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Off-ramping Zlto to fiat currency — planned; not available in most deployments</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Downloadable CV from YoID profile — on the roadmap (Q1 2027); not yet built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FC4D56"/>
          </a:solidFill>
          <a:ln w="12700">
            <a:solidFill>
              <a:srgbClr val="FC4D56"/>
            </a:solidFill>
            <a:prstDash val="solid"/>
          </a:ln>
        </p:spPr>
      </p:sp>
      <p:pic>
        <p:nvPicPr>
          <p:cNvPr id="3" name="Image 0" descr="preencoded.png">    </p:cNvPr>
          <p:cNvPicPr>
            <a:picLocks noChangeAspect="1"/>
          </p:cNvPicPr>
          <p:nvPr/>
        </p:nvPicPr>
        <p:blipFill>
          <a:blip r:embed="rId1"/>
          <a:stretch>
            <a:fillRect/>
          </a:stretch>
        </p:blipFill>
        <p:spPr>
          <a:xfrm>
            <a:off x="45720" y="128016"/>
            <a:ext cx="246888" cy="246888"/>
          </a:xfrm>
          <a:prstGeom prst="rect">
            <a:avLst/>
          </a:prstGeom>
        </p:spPr>
      </p:pic>
      <p:sp>
        <p:nvSpPr>
          <p:cNvPr id="4" name="Shape 1"/>
          <p:cNvSpPr/>
          <p:nvPr/>
        </p:nvSpPr>
        <p:spPr>
          <a:xfrm>
            <a:off x="347472" y="0"/>
            <a:ext cx="8796528" cy="640080"/>
          </a:xfrm>
          <a:prstGeom prst="rect">
            <a:avLst/>
          </a:prstGeom>
          <a:solidFill>
            <a:srgbClr val="41204B"/>
          </a:solidFill>
          <a:ln w="12700">
            <a:solidFill>
              <a:srgbClr val="41204B"/>
            </a:solidFill>
            <a:prstDash val="solid"/>
          </a:ln>
        </p:spPr>
      </p:sp>
      <p:sp>
        <p:nvSpPr>
          <p:cNvPr id="5" name="Text 2"/>
          <p:cNvSpPr/>
          <p:nvPr/>
        </p:nvSpPr>
        <p:spPr>
          <a:xfrm>
            <a:off x="530352"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REWARD SIDE — CHALLENGES</a:t>
            </a:r>
            <a:endParaRPr lang="en-US" sz="1100" dirty="0"/>
          </a:p>
        </p:txBody>
      </p:sp>
      <p:sp>
        <p:nvSpPr>
          <p:cNvPr id="6" name="Text 3"/>
          <p:cNvSpPr/>
          <p:nvPr/>
        </p:nvSpPr>
        <p:spPr>
          <a:xfrm>
            <a:off x="50292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The most operationally complex side of the marketplace — and by far the most under-documented and under-supported.</a:t>
            </a:r>
            <a:endParaRPr lang="en-US" sz="1100" dirty="0"/>
          </a:p>
        </p:txBody>
      </p:sp>
      <p:sp>
        <p:nvSpPr>
          <p:cNvPr id="7" name="Shape 4"/>
          <p:cNvSpPr/>
          <p:nvPr/>
        </p:nvSpPr>
        <p:spPr>
          <a:xfrm>
            <a:off x="457200" y="1234440"/>
            <a:ext cx="3931920" cy="1444752"/>
          </a:xfrm>
          <a:prstGeom prst="rect">
            <a:avLst/>
          </a:prstGeom>
          <a:solidFill>
            <a:srgbClr val="F5F5F5"/>
          </a:solidFill>
          <a:ln w="12700">
            <a:solidFill>
              <a:srgbClr val="E8E8E8"/>
            </a:solidFill>
            <a:prstDash val="solid"/>
          </a:ln>
        </p:spPr>
      </p:sp>
      <p:sp>
        <p:nvSpPr>
          <p:cNvPr id="8" name="Shape 5"/>
          <p:cNvSpPr/>
          <p:nvPr/>
        </p:nvSpPr>
        <p:spPr>
          <a:xfrm>
            <a:off x="457200" y="1234440"/>
            <a:ext cx="64008" cy="1444752"/>
          </a:xfrm>
          <a:prstGeom prst="rect">
            <a:avLst/>
          </a:prstGeom>
          <a:solidFill>
            <a:srgbClr val="FC4D56"/>
          </a:solidFill>
          <a:ln w="12700">
            <a:solidFill>
              <a:srgbClr val="FC4D56"/>
            </a:solidFill>
            <a:prstDash val="solid"/>
          </a:ln>
        </p:spPr>
      </p:sp>
      <p:sp>
        <p:nvSpPr>
          <p:cNvPr id="9" name="Text 6"/>
          <p:cNvSpPr/>
          <p:nvPr/>
        </p:nvSpPr>
        <p:spPr>
          <a:xfrm>
            <a:off x="612648" y="1325880"/>
            <a:ext cx="371246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Single-contact bottleneck</a:t>
            </a:r>
            <a:endParaRPr lang="en-US" sz="1100" dirty="0"/>
          </a:p>
        </p:txBody>
      </p:sp>
      <p:sp>
        <p:nvSpPr>
          <p:cNvPr id="10" name="Text 7"/>
          <p:cNvSpPr/>
          <p:nvPr/>
        </p:nvSpPr>
        <p:spPr>
          <a:xfrm>
            <a:off x="612648" y="1627632"/>
            <a:ext cx="3712464" cy="9601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All reward configuration goes through the Zlto team via a single primary contact. This creates a non-scalable, relationship-dependent process where every new reward listing, update, or pricing change queues behind one individual's availability.</a:t>
            </a:r>
            <a:endParaRPr lang="en-US" sz="950" dirty="0"/>
          </a:p>
        </p:txBody>
      </p:sp>
      <p:sp>
        <p:nvSpPr>
          <p:cNvPr id="11" name="Shape 8"/>
          <p:cNvSpPr/>
          <p:nvPr/>
        </p:nvSpPr>
        <p:spPr>
          <a:xfrm>
            <a:off x="4754880" y="1234440"/>
            <a:ext cx="3931920" cy="1444752"/>
          </a:xfrm>
          <a:prstGeom prst="rect">
            <a:avLst/>
          </a:prstGeom>
          <a:solidFill>
            <a:srgbClr val="F5F5F5"/>
          </a:solidFill>
          <a:ln w="12700">
            <a:solidFill>
              <a:srgbClr val="E8E8E8"/>
            </a:solidFill>
            <a:prstDash val="solid"/>
          </a:ln>
        </p:spPr>
      </p:sp>
      <p:sp>
        <p:nvSpPr>
          <p:cNvPr id="12" name="Shape 9"/>
          <p:cNvSpPr/>
          <p:nvPr/>
        </p:nvSpPr>
        <p:spPr>
          <a:xfrm>
            <a:off x="4754880" y="1234440"/>
            <a:ext cx="64008" cy="1444752"/>
          </a:xfrm>
          <a:prstGeom prst="rect">
            <a:avLst/>
          </a:prstGeom>
          <a:solidFill>
            <a:srgbClr val="FC4D56"/>
          </a:solidFill>
          <a:ln w="12700">
            <a:solidFill>
              <a:srgbClr val="FC4D56"/>
            </a:solidFill>
            <a:prstDash val="solid"/>
          </a:ln>
        </p:spPr>
      </p:sp>
      <p:sp>
        <p:nvSpPr>
          <p:cNvPr id="13" name="Text 10"/>
          <p:cNvSpPr/>
          <p:nvPr/>
        </p:nvSpPr>
        <p:spPr>
          <a:xfrm>
            <a:off x="4910328" y="1325880"/>
            <a:ext cx="371246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Contractual funding bias</a:t>
            </a:r>
            <a:endParaRPr lang="en-US" sz="1100" dirty="0"/>
          </a:p>
        </p:txBody>
      </p:sp>
      <p:sp>
        <p:nvSpPr>
          <p:cNvPr id="14" name="Text 11"/>
          <p:cNvSpPr/>
          <p:nvPr/>
        </p:nvSpPr>
        <p:spPr>
          <a:xfrm>
            <a:off x="4910328" y="1627632"/>
            <a:ext cx="3712464" cy="9601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The default reward model assumes the implementing organisation or Zlto team directly purchases rewards. This structurally limits the ecosystem to what can be bought — rather than what businesses can offer as in-kind grants — and places an ongoing funding burden on the implementing organisation.</a:t>
            </a:r>
            <a:endParaRPr lang="en-US" sz="950" dirty="0"/>
          </a:p>
        </p:txBody>
      </p:sp>
      <p:sp>
        <p:nvSpPr>
          <p:cNvPr id="15" name="Shape 12"/>
          <p:cNvSpPr/>
          <p:nvPr/>
        </p:nvSpPr>
        <p:spPr>
          <a:xfrm>
            <a:off x="457200" y="2807208"/>
            <a:ext cx="3931920" cy="1508760"/>
          </a:xfrm>
          <a:prstGeom prst="rect">
            <a:avLst/>
          </a:prstGeom>
          <a:solidFill>
            <a:srgbClr val="F5F5F5"/>
          </a:solidFill>
          <a:ln w="12700">
            <a:solidFill>
              <a:srgbClr val="E8E8E8"/>
            </a:solidFill>
            <a:prstDash val="solid"/>
          </a:ln>
        </p:spPr>
      </p:sp>
      <p:sp>
        <p:nvSpPr>
          <p:cNvPr id="16" name="Shape 13"/>
          <p:cNvSpPr/>
          <p:nvPr/>
        </p:nvSpPr>
        <p:spPr>
          <a:xfrm>
            <a:off x="457200" y="2807208"/>
            <a:ext cx="64008" cy="1508760"/>
          </a:xfrm>
          <a:prstGeom prst="rect">
            <a:avLst/>
          </a:prstGeom>
          <a:solidFill>
            <a:srgbClr val="FC4D56"/>
          </a:solidFill>
          <a:ln w="12700">
            <a:solidFill>
              <a:srgbClr val="FC4D56"/>
            </a:solidFill>
            <a:prstDash val="solid"/>
          </a:ln>
        </p:spPr>
      </p:sp>
      <p:sp>
        <p:nvSpPr>
          <p:cNvPr id="17" name="Text 14"/>
          <p:cNvSpPr/>
          <p:nvPr/>
        </p:nvSpPr>
        <p:spPr>
          <a:xfrm>
            <a:off x="612648" y="2898648"/>
            <a:ext cx="371246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Non-funded models require bespoke systems</a:t>
            </a:r>
            <a:endParaRPr lang="en-US" sz="1100" dirty="0"/>
          </a:p>
        </p:txBody>
      </p:sp>
      <p:sp>
        <p:nvSpPr>
          <p:cNvPr id="18" name="Text 15"/>
          <p:cNvSpPr/>
          <p:nvPr/>
        </p:nvSpPr>
        <p:spPr>
          <a:xfrm>
            <a:off x="612648" y="3200400"/>
            <a:ext cx="3712464" cy="10241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Where reward partners don't have existing voucher codes, the implementing organisation must create its own systems. None of these are natively supported or documented: unique voucher generation, RSVP workflows for events, raffle and competition-entry mechanisms.</a:t>
            </a:r>
            <a:endParaRPr lang="en-US" sz="950" dirty="0"/>
          </a:p>
        </p:txBody>
      </p:sp>
      <p:sp>
        <p:nvSpPr>
          <p:cNvPr id="19" name="Shape 16"/>
          <p:cNvSpPr/>
          <p:nvPr/>
        </p:nvSpPr>
        <p:spPr>
          <a:xfrm>
            <a:off x="4754880" y="2807208"/>
            <a:ext cx="3931920" cy="1508760"/>
          </a:xfrm>
          <a:prstGeom prst="rect">
            <a:avLst/>
          </a:prstGeom>
          <a:solidFill>
            <a:srgbClr val="FFFFFF"/>
          </a:solidFill>
          <a:ln w="12700">
            <a:solidFill>
              <a:srgbClr val="FC4D56"/>
            </a:solidFill>
            <a:prstDash val="solid"/>
          </a:ln>
        </p:spPr>
      </p:sp>
      <p:sp>
        <p:nvSpPr>
          <p:cNvPr id="20" name="Text 17"/>
          <p:cNvSpPr/>
          <p:nvPr/>
        </p:nvSpPr>
        <p:spPr>
          <a:xfrm>
            <a:off x="4892040" y="2880360"/>
            <a:ext cx="3657600" cy="274320"/>
          </a:xfrm>
          <a:prstGeom prst="rect">
            <a:avLst/>
          </a:prstGeom>
          <a:noFill/>
          <a:ln/>
        </p:spPr>
        <p:txBody>
          <a:bodyPr wrap="square" lIns="0" tIns="0" rIns="0" bIns="0" rtlCol="0" anchor="t"/>
          <a:lstStyle/>
          <a:p>
            <a:pPr algn="l" indent="0" marL="0">
              <a:buNone/>
            </a:pPr>
            <a:r>
              <a:rPr lang="en-US" sz="1050" b="1" dirty="0">
                <a:solidFill>
                  <a:srgbClr val="FC4D56"/>
                </a:solidFill>
                <a:latin typeface="Calibri" pitchFamily="34" charset="0"/>
                <a:ea typeface="Calibri" pitchFamily="34" charset="-122"/>
                <a:cs typeface="Calibri" pitchFamily="34" charset="-120"/>
              </a:rPr>
              <a:t>Unsupported reward models that deployers will encounter:</a:t>
            </a:r>
            <a:endParaRPr lang="en-US" sz="1050" dirty="0"/>
          </a:p>
        </p:txBody>
      </p:sp>
      <p:sp>
        <p:nvSpPr>
          <p:cNvPr id="21" name="Text 18"/>
          <p:cNvSpPr/>
          <p:nvPr/>
        </p:nvSpPr>
        <p:spPr>
          <a:xfrm>
            <a:off x="4892040" y="3182112"/>
            <a:ext cx="3657600" cy="1051560"/>
          </a:xfrm>
          <a:prstGeom prst="rect">
            <a:avLst/>
          </a:prstGeom>
          <a:noFill/>
          <a:ln/>
        </p:spPr>
        <p:txBody>
          <a:bodyPr wrap="square" lIns="0" tIns="0" rIns="0" bIns="0" rtlCol="0" anchor="t"/>
          <a:lstStyle/>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In-kind service partner with no existing voucher system</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Youth RSVP to workshops or experiences using Zlto</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Raffle entry: Zlto spent for a chance to win</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Competition entry: Zlto as the token for a prize draw</a:t>
            </a:r>
            <a:endParaRPr lang="en-US" sz="950" dirty="0"/>
          </a:p>
        </p:txBody>
      </p:sp>
      <p:sp>
        <p:nvSpPr>
          <p:cNvPr id="22" name="Shape 19"/>
          <p:cNvSpPr/>
          <p:nvPr/>
        </p:nvSpPr>
        <p:spPr>
          <a:xfrm>
            <a:off x="457200" y="4434840"/>
            <a:ext cx="8229600" cy="475488"/>
          </a:xfrm>
          <a:prstGeom prst="rect">
            <a:avLst/>
          </a:prstGeom>
          <a:solidFill>
            <a:srgbClr val="41204B"/>
          </a:solidFill>
          <a:ln w="12700">
            <a:solidFill>
              <a:srgbClr val="41204B"/>
            </a:solidFill>
            <a:prstDash val="solid"/>
          </a:ln>
        </p:spPr>
      </p:sp>
      <p:sp>
        <p:nvSpPr>
          <p:cNvPr id="23" name="Text 20"/>
          <p:cNvSpPr/>
          <p:nvPr/>
        </p:nvSpPr>
        <p:spPr>
          <a:xfrm>
            <a:off x="594360" y="4434840"/>
            <a:ext cx="7955280" cy="475488"/>
          </a:xfrm>
          <a:prstGeom prst="rect">
            <a:avLst/>
          </a:prstGeom>
          <a:noFill/>
          <a:ln/>
        </p:spPr>
        <p:txBody>
          <a:bodyPr wrap="square" lIns="0" tIns="0" rIns="0" bIns="0" rtlCol="0" anchor="ctr"/>
          <a:lstStyle/>
          <a:p>
            <a:pPr algn="l" indent="0" marL="0">
              <a:buNone/>
            </a:pPr>
            <a:r>
              <a:rPr lang="en-US" sz="950" i="1" dirty="0">
                <a:solidFill>
                  <a:srgbClr val="FFFFFF"/>
                </a:solidFill>
                <a:latin typeface="Calibri" pitchFamily="34" charset="0"/>
                <a:ea typeface="Calibri" pitchFamily="34" charset="-122"/>
                <a:cs typeface="Calibri" pitchFamily="34" charset="-120"/>
              </a:rPr>
              <a:t>The reward side currently has the fewest built-in systems, the least documentation, and the most dependence on bespoke arrangements. This is the deployment risk most likely to be underestimated at the outset.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F0A02D"/>
          </a:solidFill>
          <a:ln w="12700">
            <a:solidFill>
              <a:srgbClr val="F0A02D"/>
            </a:solidFill>
            <a:prstDash val="solid"/>
          </a:ln>
        </p:spPr>
      </p:sp>
      <p:pic>
        <p:nvPicPr>
          <p:cNvPr id="3" name="Image 0" descr="preencoded.png">    </p:cNvPr>
          <p:cNvPicPr>
            <a:picLocks noChangeAspect="1"/>
          </p:cNvPicPr>
          <p:nvPr/>
        </p:nvPicPr>
        <p:blipFill>
          <a:blip r:embed="rId1"/>
          <a:stretch>
            <a:fillRect/>
          </a:stretch>
        </p:blipFill>
        <p:spPr>
          <a:xfrm>
            <a:off x="45720" y="128016"/>
            <a:ext cx="246888" cy="246888"/>
          </a:xfrm>
          <a:prstGeom prst="rect">
            <a:avLst/>
          </a:prstGeom>
        </p:spPr>
      </p:pic>
      <p:sp>
        <p:nvSpPr>
          <p:cNvPr id="4" name="Shape 1"/>
          <p:cNvSpPr/>
          <p:nvPr/>
        </p:nvSpPr>
        <p:spPr>
          <a:xfrm>
            <a:off x="347472" y="0"/>
            <a:ext cx="8796528" cy="640080"/>
          </a:xfrm>
          <a:prstGeom prst="rect">
            <a:avLst/>
          </a:prstGeom>
          <a:solidFill>
            <a:srgbClr val="41204B"/>
          </a:solidFill>
          <a:ln w="12700">
            <a:solidFill>
              <a:srgbClr val="41204B"/>
            </a:solidFill>
            <a:prstDash val="solid"/>
          </a:ln>
        </p:spPr>
      </p:sp>
      <p:sp>
        <p:nvSpPr>
          <p:cNvPr id="5" name="Text 2"/>
          <p:cNvSpPr/>
          <p:nvPr/>
        </p:nvSpPr>
        <p:spPr>
          <a:xfrm>
            <a:off x="530352"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YOUTH SIDE — CHALLENGES</a:t>
            </a:r>
            <a:endParaRPr lang="en-US" sz="1100" dirty="0"/>
          </a:p>
        </p:txBody>
      </p:sp>
      <p:sp>
        <p:nvSpPr>
          <p:cNvPr id="6" name="Text 3"/>
          <p:cNvSpPr/>
          <p:nvPr/>
        </p:nvSpPr>
        <p:spPr>
          <a:xfrm>
            <a:off x="50292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Youth acquisition and engagement is entirely the implementing organisation's responsibility. Yoma provides the platform — not the users.</a:t>
            </a:r>
            <a:endParaRPr lang="en-US" sz="1100" dirty="0"/>
          </a:p>
        </p:txBody>
      </p:sp>
      <p:sp>
        <p:nvSpPr>
          <p:cNvPr id="7" name="Shape 4"/>
          <p:cNvSpPr/>
          <p:nvPr/>
        </p:nvSpPr>
        <p:spPr>
          <a:xfrm>
            <a:off x="457200" y="1234440"/>
            <a:ext cx="8229600" cy="594360"/>
          </a:xfrm>
          <a:prstGeom prst="rect">
            <a:avLst/>
          </a:prstGeom>
          <a:solidFill>
            <a:srgbClr val="41204B"/>
          </a:solidFill>
          <a:ln w="12700">
            <a:solidFill>
              <a:srgbClr val="41204B"/>
            </a:solidFill>
            <a:prstDash val="solid"/>
          </a:ln>
        </p:spPr>
      </p:sp>
      <p:sp>
        <p:nvSpPr>
          <p:cNvPr id="8" name="Text 5"/>
          <p:cNvSpPr/>
          <p:nvPr/>
        </p:nvSpPr>
        <p:spPr>
          <a:xfrm>
            <a:off x="594360" y="1234440"/>
            <a:ext cx="7955280" cy="59436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This is correct design — Yoma was built to be a platform, not a user acquisition engine. But it means the implementing organisation needs a dedicated growth strategy. None is documented. None is provided.</a:t>
            </a:r>
            <a:endParaRPr lang="en-US" sz="1100" dirty="0"/>
          </a:p>
        </p:txBody>
      </p:sp>
      <p:sp>
        <p:nvSpPr>
          <p:cNvPr id="9" name="Shape 6"/>
          <p:cNvSpPr/>
          <p:nvPr/>
        </p:nvSpPr>
        <p:spPr>
          <a:xfrm>
            <a:off x="457200" y="1965960"/>
            <a:ext cx="2651760" cy="1508760"/>
          </a:xfrm>
          <a:prstGeom prst="rect">
            <a:avLst/>
          </a:prstGeom>
          <a:solidFill>
            <a:srgbClr val="F5F5F5"/>
          </a:solidFill>
          <a:ln w="12700">
            <a:solidFill>
              <a:srgbClr val="E8E8E8"/>
            </a:solidFill>
            <a:prstDash val="solid"/>
          </a:ln>
        </p:spPr>
      </p:sp>
      <p:sp>
        <p:nvSpPr>
          <p:cNvPr id="10" name="Shape 7"/>
          <p:cNvSpPr/>
          <p:nvPr/>
        </p:nvSpPr>
        <p:spPr>
          <a:xfrm>
            <a:off x="457200" y="1965960"/>
            <a:ext cx="64008" cy="1508760"/>
          </a:xfrm>
          <a:prstGeom prst="rect">
            <a:avLst/>
          </a:prstGeom>
          <a:solidFill>
            <a:srgbClr val="F0A02D"/>
          </a:solidFill>
          <a:ln w="12700">
            <a:solidFill>
              <a:srgbClr val="F0A02D"/>
            </a:solidFill>
            <a:prstDash val="solid"/>
          </a:ln>
        </p:spPr>
      </p:sp>
      <p:sp>
        <p:nvSpPr>
          <p:cNvPr id="11" name="Text 8"/>
          <p:cNvSpPr/>
          <p:nvPr/>
        </p:nvSpPr>
        <p:spPr>
          <a:xfrm>
            <a:off x="612648" y="205740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No acquisition playbook</a:t>
            </a:r>
            <a:endParaRPr lang="en-US" sz="1100" dirty="0"/>
          </a:p>
        </p:txBody>
      </p:sp>
      <p:sp>
        <p:nvSpPr>
          <p:cNvPr id="12" name="Text 9"/>
          <p:cNvSpPr/>
          <p:nvPr/>
        </p:nvSpPr>
        <p:spPr>
          <a:xfrm>
            <a:off x="612648" y="2359152"/>
            <a:ext cx="2432304" cy="10241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There is no documented guidance for how to bring youth onto the platform. Social media strategy, ambassador programmes, community outreach, event-based onboarding — all of this is left for the implementing organisation to design entirely from scratch.</a:t>
            </a:r>
            <a:endParaRPr lang="en-US" sz="950" dirty="0"/>
          </a:p>
        </p:txBody>
      </p:sp>
      <p:sp>
        <p:nvSpPr>
          <p:cNvPr id="13" name="Shape 10"/>
          <p:cNvSpPr/>
          <p:nvPr/>
        </p:nvSpPr>
        <p:spPr>
          <a:xfrm>
            <a:off x="3246120" y="1965960"/>
            <a:ext cx="2651760" cy="1508760"/>
          </a:xfrm>
          <a:prstGeom prst="rect">
            <a:avLst/>
          </a:prstGeom>
          <a:solidFill>
            <a:srgbClr val="F5F5F5"/>
          </a:solidFill>
          <a:ln w="12700">
            <a:solidFill>
              <a:srgbClr val="E8E8E8"/>
            </a:solidFill>
            <a:prstDash val="solid"/>
          </a:ln>
        </p:spPr>
      </p:sp>
      <p:sp>
        <p:nvSpPr>
          <p:cNvPr id="14" name="Shape 11"/>
          <p:cNvSpPr/>
          <p:nvPr/>
        </p:nvSpPr>
        <p:spPr>
          <a:xfrm>
            <a:off x="3246120" y="1965960"/>
            <a:ext cx="64008" cy="1508760"/>
          </a:xfrm>
          <a:prstGeom prst="rect">
            <a:avLst/>
          </a:prstGeom>
          <a:solidFill>
            <a:srgbClr val="F0A02D"/>
          </a:solidFill>
          <a:ln w="12700">
            <a:solidFill>
              <a:srgbClr val="F0A02D"/>
            </a:solidFill>
            <a:prstDash val="solid"/>
          </a:ln>
        </p:spPr>
      </p:sp>
      <p:sp>
        <p:nvSpPr>
          <p:cNvPr id="15" name="Text 12"/>
          <p:cNvSpPr/>
          <p:nvPr/>
        </p:nvSpPr>
        <p:spPr>
          <a:xfrm>
            <a:off x="3401568" y="205740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Two entry pathways; one documented</a:t>
            </a:r>
            <a:endParaRPr lang="en-US" sz="1100" dirty="0"/>
          </a:p>
        </p:txBody>
      </p:sp>
      <p:sp>
        <p:nvSpPr>
          <p:cNvPr id="16" name="Text 13"/>
          <p:cNvSpPr/>
          <p:nvPr/>
        </p:nvSpPr>
        <p:spPr>
          <a:xfrm>
            <a:off x="3401568" y="2359152"/>
            <a:ext cx="2432304" cy="10241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Yoma supports a discovery-first pathway (deep link to marketplace) and a completion-first pathway (verification link to claim directly). The second — powerful for offline and event-based contexts — is rarely understood or used by deployers.</a:t>
            </a:r>
            <a:endParaRPr lang="en-US" sz="950" dirty="0"/>
          </a:p>
        </p:txBody>
      </p:sp>
      <p:sp>
        <p:nvSpPr>
          <p:cNvPr id="17" name="Shape 14"/>
          <p:cNvSpPr/>
          <p:nvPr/>
        </p:nvSpPr>
        <p:spPr>
          <a:xfrm>
            <a:off x="6035040" y="1965960"/>
            <a:ext cx="2651760" cy="1508760"/>
          </a:xfrm>
          <a:prstGeom prst="rect">
            <a:avLst/>
          </a:prstGeom>
          <a:solidFill>
            <a:srgbClr val="F5F5F5"/>
          </a:solidFill>
          <a:ln w="12700">
            <a:solidFill>
              <a:srgbClr val="E8E8E8"/>
            </a:solidFill>
            <a:prstDash val="solid"/>
          </a:ln>
        </p:spPr>
      </p:sp>
      <p:sp>
        <p:nvSpPr>
          <p:cNvPr id="18" name="Shape 15"/>
          <p:cNvSpPr/>
          <p:nvPr/>
        </p:nvSpPr>
        <p:spPr>
          <a:xfrm>
            <a:off x="6035040" y="1965960"/>
            <a:ext cx="64008" cy="1508760"/>
          </a:xfrm>
          <a:prstGeom prst="rect">
            <a:avLst/>
          </a:prstGeom>
          <a:solidFill>
            <a:srgbClr val="F0A02D"/>
          </a:solidFill>
          <a:ln w="12700">
            <a:solidFill>
              <a:srgbClr val="F0A02D"/>
            </a:solidFill>
            <a:prstDash val="solid"/>
          </a:ln>
        </p:spPr>
      </p:sp>
      <p:sp>
        <p:nvSpPr>
          <p:cNvPr id="19" name="Text 16"/>
          <p:cNvSpPr/>
          <p:nvPr/>
        </p:nvSpPr>
        <p:spPr>
          <a:xfrm>
            <a:off x="6190488" y="205740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Engagement loop not operationalised</a:t>
            </a:r>
            <a:endParaRPr lang="en-US" sz="1100" dirty="0"/>
          </a:p>
        </p:txBody>
      </p:sp>
      <p:sp>
        <p:nvSpPr>
          <p:cNvPr id="20" name="Text 17"/>
          <p:cNvSpPr/>
          <p:nvPr/>
        </p:nvSpPr>
        <p:spPr>
          <a:xfrm>
            <a:off x="6190488" y="2359152"/>
            <a:ext cx="2432304" cy="10241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The core loop — sign up, complete, earn, redeem, return — is the product mechanic. No guidance exists for deployers on how to activate it, diagnose failure points, or recover youth who disengage after their first activity.</a:t>
            </a:r>
            <a:endParaRPr lang="en-US" sz="950" dirty="0"/>
          </a:p>
        </p:txBody>
      </p:sp>
      <p:sp>
        <p:nvSpPr>
          <p:cNvPr id="21" name="Shape 18"/>
          <p:cNvSpPr/>
          <p:nvPr/>
        </p:nvSpPr>
        <p:spPr>
          <a:xfrm>
            <a:off x="457200" y="3611880"/>
            <a:ext cx="8229600" cy="1298448"/>
          </a:xfrm>
          <a:prstGeom prst="rect">
            <a:avLst/>
          </a:prstGeom>
          <a:solidFill>
            <a:srgbClr val="F5F5F5"/>
          </a:solidFill>
          <a:ln w="12700">
            <a:solidFill>
              <a:srgbClr val="E8E8E8"/>
            </a:solidFill>
            <a:prstDash val="solid"/>
          </a:ln>
        </p:spPr>
      </p:sp>
      <p:sp>
        <p:nvSpPr>
          <p:cNvPr id="22" name="Shape 19"/>
          <p:cNvSpPr/>
          <p:nvPr/>
        </p:nvSpPr>
        <p:spPr>
          <a:xfrm>
            <a:off x="457200" y="3611880"/>
            <a:ext cx="64008" cy="1298448"/>
          </a:xfrm>
          <a:prstGeom prst="rect">
            <a:avLst/>
          </a:prstGeom>
          <a:solidFill>
            <a:srgbClr val="F0A02D"/>
          </a:solidFill>
          <a:ln w="12700">
            <a:solidFill>
              <a:srgbClr val="F0A02D"/>
            </a:solidFill>
            <a:prstDash val="solid"/>
          </a:ln>
        </p:spPr>
      </p:sp>
      <p:sp>
        <p:nvSpPr>
          <p:cNvPr id="23" name="Text 20"/>
          <p:cNvSpPr/>
          <p:nvPr/>
        </p:nvSpPr>
        <p:spPr>
          <a:xfrm>
            <a:off x="612648" y="3675888"/>
            <a:ext cx="7909560" cy="274320"/>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What implementing organisations actually need on the youth side:</a:t>
            </a:r>
            <a:endParaRPr lang="en-US" sz="1050" dirty="0"/>
          </a:p>
        </p:txBody>
      </p:sp>
      <p:sp>
        <p:nvSpPr>
          <p:cNvPr id="24" name="Text 21"/>
          <p:cNvSpPr/>
          <p:nvPr/>
        </p:nvSpPr>
        <p:spPr>
          <a:xfrm>
            <a:off x="612648" y="3977640"/>
            <a:ext cx="7909560" cy="877824"/>
          </a:xfrm>
          <a:prstGeom prst="rect">
            <a:avLst/>
          </a:prstGeom>
          <a:noFill/>
          <a:ln/>
        </p:spPr>
        <p:txBody>
          <a:bodyPr wrap="square" lIns="0" tIns="0" rIns="0" bIns="0" rtlCol="0" anchor="t"/>
          <a:lstStyle/>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A youth growth and acquisition guide — channels, messaging, ambassador models, event-based onboarding flows</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A retention guide — how to keep youth engaged beyond their first two completions and prevent early drop-off</a:t>
            </a:r>
            <a:endParaRPr lang="en-US" sz="950" dirty="0"/>
          </a:p>
          <a:p>
            <a:pPr algn="l" marL="342900" indent="-342900">
              <a:buSzPct val="100000"/>
              <a:buChar char="•"/>
            </a:pPr>
            <a:r>
              <a:rPr lang="en-US" sz="950" dirty="0">
                <a:solidFill>
                  <a:srgbClr val="020304"/>
                </a:solidFill>
                <a:latin typeface="Calibri" pitchFamily="34" charset="0"/>
                <a:ea typeface="Calibri" pitchFamily="34" charset="-122"/>
                <a:cs typeface="Calibri" pitchFamily="34" charset="-120"/>
              </a:rPr>
              <a:t>Guidance on both entry pathways — when to use deep links vs. verification links, and how to combine them for maximum reach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1204B"/>
          </a:solidFill>
          <a:ln w="12700">
            <a:solidFill>
              <a:srgbClr val="41204B"/>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CROSS-CUTTING CHALLENGE 1 — THE INFORMATION GAP</a:t>
            </a:r>
            <a:endParaRPr lang="en-US" sz="1100" dirty="0"/>
          </a:p>
        </p:txBody>
      </p:sp>
      <p:sp>
        <p:nvSpPr>
          <p:cNvPr id="4" name="Shape 2"/>
          <p:cNvSpPr/>
          <p:nvPr/>
        </p:nvSpPr>
        <p:spPr>
          <a:xfrm>
            <a:off x="457200" y="777240"/>
            <a:ext cx="4754880" cy="914400"/>
          </a:xfrm>
          <a:prstGeom prst="rect">
            <a:avLst/>
          </a:prstGeom>
          <a:solidFill>
            <a:srgbClr val="F5F5F5"/>
          </a:solidFill>
          <a:ln w="12700">
            <a:solidFill>
              <a:srgbClr val="E8E8E8"/>
            </a:solidFill>
            <a:prstDash val="solid"/>
          </a:ln>
        </p:spPr>
      </p:sp>
      <p:sp>
        <p:nvSpPr>
          <p:cNvPr id="5" name="Shape 3"/>
          <p:cNvSpPr/>
          <p:nvPr/>
        </p:nvSpPr>
        <p:spPr>
          <a:xfrm>
            <a:off x="457200" y="777240"/>
            <a:ext cx="64008" cy="914400"/>
          </a:xfrm>
          <a:prstGeom prst="rect">
            <a:avLst/>
          </a:prstGeom>
          <a:solidFill>
            <a:srgbClr val="FC4D56"/>
          </a:solidFill>
          <a:ln w="12700">
            <a:solidFill>
              <a:srgbClr val="FC4D56"/>
            </a:solidFill>
            <a:prstDash val="solid"/>
          </a:ln>
        </p:spPr>
      </p:sp>
      <p:sp>
        <p:nvSpPr>
          <p:cNvPr id="6" name="Text 4"/>
          <p:cNvSpPr/>
          <p:nvPr/>
        </p:nvSpPr>
        <p:spPr>
          <a:xfrm>
            <a:off x="612648" y="850392"/>
            <a:ext cx="4526280" cy="256032"/>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No single source of truth</a:t>
            </a:r>
            <a:endParaRPr lang="en-US" sz="1100" dirty="0"/>
          </a:p>
        </p:txBody>
      </p:sp>
      <p:sp>
        <p:nvSpPr>
          <p:cNvPr id="7" name="Text 5"/>
          <p:cNvSpPr/>
          <p:nvPr/>
        </p:nvSpPr>
        <p:spPr>
          <a:xfrm>
            <a:off x="612648" y="1124712"/>
            <a:ext cx="4526280" cy="5029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What Yoma can and cannot do today exists across email threads, recorded calls, UNICEF internal documents, and individual memory. No canonical public reference exists. Partners get different answers depending on who they ask.</a:t>
            </a:r>
            <a:endParaRPr lang="en-US" sz="950" dirty="0"/>
          </a:p>
        </p:txBody>
      </p:sp>
      <p:sp>
        <p:nvSpPr>
          <p:cNvPr id="8" name="Shape 6"/>
          <p:cNvSpPr/>
          <p:nvPr/>
        </p:nvSpPr>
        <p:spPr>
          <a:xfrm>
            <a:off x="457200" y="1764792"/>
            <a:ext cx="4754880" cy="914400"/>
          </a:xfrm>
          <a:prstGeom prst="rect">
            <a:avLst/>
          </a:prstGeom>
          <a:solidFill>
            <a:srgbClr val="F5F5F5"/>
          </a:solidFill>
          <a:ln w="12700">
            <a:solidFill>
              <a:srgbClr val="E8E8E8"/>
            </a:solidFill>
            <a:prstDash val="solid"/>
          </a:ln>
        </p:spPr>
      </p:sp>
      <p:sp>
        <p:nvSpPr>
          <p:cNvPr id="9" name="Shape 7"/>
          <p:cNvSpPr/>
          <p:nvPr/>
        </p:nvSpPr>
        <p:spPr>
          <a:xfrm>
            <a:off x="457200" y="1764792"/>
            <a:ext cx="64008" cy="914400"/>
          </a:xfrm>
          <a:prstGeom prst="rect">
            <a:avLst/>
          </a:prstGeom>
          <a:solidFill>
            <a:srgbClr val="FC4D56"/>
          </a:solidFill>
          <a:ln w="12700">
            <a:solidFill>
              <a:srgbClr val="FC4D56"/>
            </a:solidFill>
            <a:prstDash val="solid"/>
          </a:ln>
        </p:spPr>
      </p:sp>
      <p:sp>
        <p:nvSpPr>
          <p:cNvPr id="10" name="Text 8"/>
          <p:cNvSpPr/>
          <p:nvPr/>
        </p:nvSpPr>
        <p:spPr>
          <a:xfrm>
            <a:off x="612648" y="1837944"/>
            <a:ext cx="4526280" cy="256032"/>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Current capability confused with roadmap features</a:t>
            </a:r>
            <a:endParaRPr lang="en-US" sz="1100" dirty="0"/>
          </a:p>
        </p:txBody>
      </p:sp>
      <p:sp>
        <p:nvSpPr>
          <p:cNvPr id="11" name="Text 9"/>
          <p:cNvSpPr/>
          <p:nvPr/>
        </p:nvSpPr>
        <p:spPr>
          <a:xfrm>
            <a:off x="612648" y="2112264"/>
            <a:ext cx="4526280" cy="5029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Downloadable CVs, the Impact Marketplace, Zlto fiat off-ramp, and expanded YoID employer recognition are discussed in onboarding as if current. Partners begin deployment with expectations the platform cannot yet meet.</a:t>
            </a:r>
            <a:endParaRPr lang="en-US" sz="950" dirty="0"/>
          </a:p>
        </p:txBody>
      </p:sp>
      <p:sp>
        <p:nvSpPr>
          <p:cNvPr id="12" name="Shape 10"/>
          <p:cNvSpPr/>
          <p:nvPr/>
        </p:nvSpPr>
        <p:spPr>
          <a:xfrm>
            <a:off x="457200" y="2752344"/>
            <a:ext cx="4754880" cy="914400"/>
          </a:xfrm>
          <a:prstGeom prst="rect">
            <a:avLst/>
          </a:prstGeom>
          <a:solidFill>
            <a:srgbClr val="F5F5F5"/>
          </a:solidFill>
          <a:ln w="12700">
            <a:solidFill>
              <a:srgbClr val="E8E8E8"/>
            </a:solidFill>
            <a:prstDash val="solid"/>
          </a:ln>
        </p:spPr>
      </p:sp>
      <p:sp>
        <p:nvSpPr>
          <p:cNvPr id="13" name="Shape 11"/>
          <p:cNvSpPr/>
          <p:nvPr/>
        </p:nvSpPr>
        <p:spPr>
          <a:xfrm>
            <a:off x="457200" y="2752344"/>
            <a:ext cx="64008" cy="914400"/>
          </a:xfrm>
          <a:prstGeom prst="rect">
            <a:avLst/>
          </a:prstGeom>
          <a:solidFill>
            <a:srgbClr val="FC4D56"/>
          </a:solidFill>
          <a:ln w="12700">
            <a:solidFill>
              <a:srgbClr val="FC4D56"/>
            </a:solidFill>
            <a:prstDash val="solid"/>
          </a:ln>
        </p:spPr>
      </p:sp>
      <p:sp>
        <p:nvSpPr>
          <p:cNvPr id="14" name="Text 12"/>
          <p:cNvSpPr/>
          <p:nvPr/>
        </p:nvSpPr>
        <p:spPr>
          <a:xfrm>
            <a:off x="612648" y="2825496"/>
            <a:ext cx="4526280" cy="256032"/>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Documentation behind organisational privacy walls</a:t>
            </a:r>
            <a:endParaRPr lang="en-US" sz="1100" dirty="0"/>
          </a:p>
        </p:txBody>
      </p:sp>
      <p:sp>
        <p:nvSpPr>
          <p:cNvPr id="15" name="Text 13"/>
          <p:cNvSpPr/>
          <p:nvPr/>
        </p:nvSpPr>
        <p:spPr>
          <a:xfrm>
            <a:off x="612648" y="3099816"/>
            <a:ext cx="4526280" cy="5029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Existing implementation guidance lives inside UNICEF-controlled systems. It is not accessible to all partners — only those with UNICEF relationships. Knowledge sharing at scale is structurally impossible.</a:t>
            </a:r>
            <a:endParaRPr lang="en-US" sz="950" dirty="0"/>
          </a:p>
        </p:txBody>
      </p:sp>
      <p:sp>
        <p:nvSpPr>
          <p:cNvPr id="16" name="Shape 14"/>
          <p:cNvSpPr/>
          <p:nvPr/>
        </p:nvSpPr>
        <p:spPr>
          <a:xfrm>
            <a:off x="457200" y="3739896"/>
            <a:ext cx="4754880" cy="914400"/>
          </a:xfrm>
          <a:prstGeom prst="rect">
            <a:avLst/>
          </a:prstGeom>
          <a:solidFill>
            <a:srgbClr val="F5F5F5"/>
          </a:solidFill>
          <a:ln w="12700">
            <a:solidFill>
              <a:srgbClr val="E8E8E8"/>
            </a:solidFill>
            <a:prstDash val="solid"/>
          </a:ln>
        </p:spPr>
      </p:sp>
      <p:sp>
        <p:nvSpPr>
          <p:cNvPr id="17" name="Shape 15"/>
          <p:cNvSpPr/>
          <p:nvPr/>
        </p:nvSpPr>
        <p:spPr>
          <a:xfrm>
            <a:off x="457200" y="3739896"/>
            <a:ext cx="64008" cy="914400"/>
          </a:xfrm>
          <a:prstGeom prst="rect">
            <a:avLst/>
          </a:prstGeom>
          <a:solidFill>
            <a:srgbClr val="FC4D56"/>
          </a:solidFill>
          <a:ln w="12700">
            <a:solidFill>
              <a:srgbClr val="FC4D56"/>
            </a:solidFill>
            <a:prstDash val="solid"/>
          </a:ln>
        </p:spPr>
      </p:sp>
      <p:sp>
        <p:nvSpPr>
          <p:cNvPr id="18" name="Text 16"/>
          <p:cNvSpPr/>
          <p:nvPr/>
        </p:nvSpPr>
        <p:spPr>
          <a:xfrm>
            <a:off x="612648" y="3813048"/>
            <a:ext cx="4526280" cy="256032"/>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Existing content written for programme delivery, not ecosystem building</a:t>
            </a:r>
            <a:endParaRPr lang="en-US" sz="1100" dirty="0"/>
          </a:p>
        </p:txBody>
      </p:sp>
      <p:sp>
        <p:nvSpPr>
          <p:cNvPr id="19" name="Text 17"/>
          <p:cNvSpPr/>
          <p:nvPr/>
        </p:nvSpPr>
        <p:spPr>
          <a:xfrm>
            <a:off x="612648" y="4087368"/>
            <a:ext cx="4526280" cy="50292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Materials guide a single organisation delivering opportunities on Yoma (e.g., a UNICEF programme team). They do not address how to recruit multiple partners, build a reward catalogue, or grow a local youth user base.</a:t>
            </a:r>
            <a:endParaRPr lang="en-US" sz="950" dirty="0"/>
          </a:p>
        </p:txBody>
      </p:sp>
      <p:sp>
        <p:nvSpPr>
          <p:cNvPr id="20" name="Shape 18"/>
          <p:cNvSpPr/>
          <p:nvPr/>
        </p:nvSpPr>
        <p:spPr>
          <a:xfrm>
            <a:off x="5394960" y="777240"/>
            <a:ext cx="3383280" cy="1965960"/>
          </a:xfrm>
          <a:prstGeom prst="rect">
            <a:avLst/>
          </a:prstGeom>
          <a:solidFill>
            <a:srgbClr val="41204B"/>
          </a:solidFill>
          <a:ln w="12700">
            <a:solidFill>
              <a:srgbClr val="41204B"/>
            </a:solidFill>
            <a:prstDash val="solid"/>
          </a:ln>
        </p:spPr>
      </p:sp>
      <p:sp>
        <p:nvSpPr>
          <p:cNvPr id="21" name="Text 19"/>
          <p:cNvSpPr/>
          <p:nvPr/>
        </p:nvSpPr>
        <p:spPr>
          <a:xfrm>
            <a:off x="5532120" y="850392"/>
            <a:ext cx="3108960" cy="256032"/>
          </a:xfrm>
          <a:prstGeom prst="rect">
            <a:avLst/>
          </a:prstGeom>
          <a:noFill/>
          <a:ln/>
        </p:spPr>
        <p:txBody>
          <a:bodyPr wrap="square" lIns="0" tIns="0" rIns="0" bIns="0" rtlCol="0" anchor="ctr"/>
          <a:lstStyle/>
          <a:p>
            <a:pPr algn="l" indent="0" marL="0">
              <a:buNone/>
            </a:pPr>
            <a:r>
              <a:rPr lang="en-US" sz="900" b="1" spc="100" kern="0" dirty="0">
                <a:solidFill>
                  <a:srgbClr val="FC4D56"/>
                </a:solidFill>
                <a:latin typeface="Calibri" pitchFamily="34" charset="0"/>
                <a:ea typeface="Calibri" pitchFamily="34" charset="-122"/>
                <a:cs typeface="Calibri" pitchFamily="34" charset="-120"/>
              </a:rPr>
              <a:t>THE CASE STUDY PROBLEM</a:t>
            </a:r>
            <a:endParaRPr lang="en-US" sz="900" dirty="0"/>
          </a:p>
        </p:txBody>
      </p:sp>
      <p:sp>
        <p:nvSpPr>
          <p:cNvPr id="22" name="Text 20"/>
          <p:cNvSpPr/>
          <p:nvPr/>
        </p:nvSpPr>
        <p:spPr>
          <a:xfrm>
            <a:off x="5532120" y="1143000"/>
            <a:ext cx="3108960" cy="1463040"/>
          </a:xfrm>
          <a:prstGeom prst="rect">
            <a:avLst/>
          </a:prstGeom>
          <a:noFill/>
          <a:ln/>
        </p:spPr>
        <p:txBody>
          <a:bodyPr wrap="square" lIns="0" tIns="0" rIns="0" bIns="0" rtlCol="0" anchor="t"/>
          <a:lstStyle/>
          <a:p>
            <a:pPr algn="l" indent="0" marL="0">
              <a:buNone/>
            </a:pPr>
            <a:r>
              <a:rPr lang="en-US" sz="1000" dirty="0">
                <a:solidFill>
                  <a:srgbClr val="C0C0C0"/>
                </a:solidFill>
                <a:latin typeface="Calibri" pitchFamily="34" charset="0"/>
                <a:ea typeface="Calibri" pitchFamily="34" charset="-122"/>
                <a:cs typeface="Calibri" pitchFamily="34" charset="-120"/>
              </a:rPr>
              <a:t>Existing case studies — Nigeria, South Africa — show impressive numbers. But they represent single-funder or legislatively unique models. They are not replicable blueprints for multi-partner ecosystem building. New deployers mistake them for templates.</a:t>
            </a:r>
            <a:endParaRPr lang="en-US" sz="1000" dirty="0"/>
          </a:p>
        </p:txBody>
      </p:sp>
      <p:sp>
        <p:nvSpPr>
          <p:cNvPr id="23" name="Shape 21"/>
          <p:cNvSpPr/>
          <p:nvPr/>
        </p:nvSpPr>
        <p:spPr>
          <a:xfrm>
            <a:off x="5394960" y="2880360"/>
            <a:ext cx="3383280" cy="1005840"/>
          </a:xfrm>
          <a:prstGeom prst="rect">
            <a:avLst/>
          </a:prstGeom>
          <a:solidFill>
            <a:srgbClr val="FFFFFF"/>
          </a:solidFill>
          <a:ln w="12700">
            <a:solidFill>
              <a:srgbClr val="FC4D56"/>
            </a:solidFill>
            <a:prstDash val="solid"/>
          </a:ln>
        </p:spPr>
      </p:sp>
      <p:sp>
        <p:nvSpPr>
          <p:cNvPr id="24" name="Text 22"/>
          <p:cNvSpPr/>
          <p:nvPr/>
        </p:nvSpPr>
        <p:spPr>
          <a:xfrm>
            <a:off x="5532120" y="2944368"/>
            <a:ext cx="3108960" cy="256032"/>
          </a:xfrm>
          <a:prstGeom prst="rect">
            <a:avLst/>
          </a:prstGeom>
          <a:noFill/>
          <a:ln/>
        </p:spPr>
        <p:txBody>
          <a:bodyPr wrap="square" lIns="0" tIns="0" rIns="0" bIns="0" rtlCol="0" anchor="ctr"/>
          <a:lstStyle/>
          <a:p>
            <a:pPr algn="l" indent="0" marL="0">
              <a:buNone/>
            </a:pPr>
            <a:r>
              <a:rPr lang="en-US" sz="1050" b="1" dirty="0">
                <a:solidFill>
                  <a:srgbClr val="41204B"/>
                </a:solidFill>
                <a:latin typeface="Calibri" pitchFamily="34" charset="0"/>
                <a:ea typeface="Calibri" pitchFamily="34" charset="-122"/>
                <a:cs typeface="Calibri" pitchFamily="34" charset="-120"/>
              </a:rPr>
              <a:t>Nigeria</a:t>
            </a:r>
            <a:endParaRPr lang="en-US" sz="1050" dirty="0"/>
          </a:p>
        </p:txBody>
      </p:sp>
      <p:sp>
        <p:nvSpPr>
          <p:cNvPr id="25" name="Text 23"/>
          <p:cNvSpPr/>
          <p:nvPr/>
        </p:nvSpPr>
        <p:spPr>
          <a:xfrm>
            <a:off x="5532120" y="3218688"/>
            <a:ext cx="3108960" cy="5943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UNICEF funds SureGifts rewards and drives all usage through its own programmes. Strong numbers mask a single-funder, single-programme reality — not a functioning multi-partner ecosystem.</a:t>
            </a:r>
            <a:endParaRPr lang="en-US" sz="950" dirty="0"/>
          </a:p>
        </p:txBody>
      </p:sp>
      <p:sp>
        <p:nvSpPr>
          <p:cNvPr id="26" name="Shape 24"/>
          <p:cNvSpPr/>
          <p:nvPr/>
        </p:nvSpPr>
        <p:spPr>
          <a:xfrm>
            <a:off x="5394960" y="3977640"/>
            <a:ext cx="3383280" cy="1005840"/>
          </a:xfrm>
          <a:prstGeom prst="rect">
            <a:avLst/>
          </a:prstGeom>
          <a:solidFill>
            <a:srgbClr val="FFFFFF"/>
          </a:solidFill>
          <a:ln w="12700">
            <a:solidFill>
              <a:srgbClr val="FC4D56"/>
            </a:solidFill>
            <a:prstDash val="solid"/>
          </a:ln>
        </p:spPr>
      </p:sp>
      <p:sp>
        <p:nvSpPr>
          <p:cNvPr id="27" name="Text 25"/>
          <p:cNvSpPr/>
          <p:nvPr/>
        </p:nvSpPr>
        <p:spPr>
          <a:xfrm>
            <a:off x="5532120" y="4041648"/>
            <a:ext cx="3108960" cy="256032"/>
          </a:xfrm>
          <a:prstGeom prst="rect">
            <a:avLst/>
          </a:prstGeom>
          <a:noFill/>
          <a:ln/>
        </p:spPr>
        <p:txBody>
          <a:bodyPr wrap="square" lIns="0" tIns="0" rIns="0" bIns="0" rtlCol="0" anchor="ctr"/>
          <a:lstStyle/>
          <a:p>
            <a:pPr algn="l" indent="0" marL="0">
              <a:buNone/>
            </a:pPr>
            <a:r>
              <a:rPr lang="en-US" sz="1050" b="1" dirty="0">
                <a:solidFill>
                  <a:srgbClr val="41204B"/>
                </a:solidFill>
                <a:latin typeface="Calibri" pitchFamily="34" charset="0"/>
                <a:ea typeface="Calibri" pitchFamily="34" charset="-122"/>
                <a:cs typeface="Calibri" pitchFamily="34" charset="-120"/>
              </a:rPr>
              <a:t>South Africa</a:t>
            </a:r>
            <a:endParaRPr lang="en-US" sz="1050" dirty="0"/>
          </a:p>
        </p:txBody>
      </p:sp>
      <p:sp>
        <p:nvSpPr>
          <p:cNvPr id="28" name="Text 26"/>
          <p:cNvSpPr/>
          <p:nvPr/>
        </p:nvSpPr>
        <p:spPr>
          <a:xfrm>
            <a:off x="5532120" y="4315968"/>
            <a:ext cx="3108960" cy="5943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Unique tax legislation allows companies to write off reward purchases as donations. This model cannot be replicated without equivalent legal frameworks. It is not a generalised reward partner model.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1204B"/>
          </a:solidFill>
          <a:ln w="12700">
            <a:solidFill>
              <a:srgbClr val="41204B"/>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CROSS-CUTTING CHALLENGE 2 — THE SUPPORT MODEL</a:t>
            </a:r>
            <a:endParaRPr lang="en-US" sz="1100" dirty="0"/>
          </a:p>
        </p:txBody>
      </p:sp>
      <p:sp>
        <p:nvSpPr>
          <p:cNvPr id="4" name="Text 2"/>
          <p:cNvSpPr/>
          <p:nvPr/>
        </p:nvSpPr>
        <p:spPr>
          <a:xfrm>
            <a:off x="45720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Institutional knowledge is concentrated across four separate organisations with no shared knowledge base — and no formal customer success function.</a:t>
            </a:r>
            <a:endParaRPr lang="en-US" sz="1100" dirty="0"/>
          </a:p>
        </p:txBody>
      </p:sp>
      <p:sp>
        <p:nvSpPr>
          <p:cNvPr id="5" name="Shape 3"/>
          <p:cNvSpPr/>
          <p:nvPr/>
        </p:nvSpPr>
        <p:spPr>
          <a:xfrm>
            <a:off x="320040" y="1234440"/>
            <a:ext cx="1938528" cy="1325880"/>
          </a:xfrm>
          <a:prstGeom prst="rect">
            <a:avLst/>
          </a:prstGeom>
          <a:solidFill>
            <a:srgbClr val="F5F5F5"/>
          </a:solidFill>
          <a:ln w="12700">
            <a:solidFill>
              <a:srgbClr val="E8E8E8"/>
            </a:solidFill>
            <a:prstDash val="solid"/>
          </a:ln>
        </p:spPr>
      </p:sp>
      <p:sp>
        <p:nvSpPr>
          <p:cNvPr id="6" name="Shape 4"/>
          <p:cNvSpPr/>
          <p:nvPr/>
        </p:nvSpPr>
        <p:spPr>
          <a:xfrm>
            <a:off x="320040" y="1234440"/>
            <a:ext cx="1938528" cy="64008"/>
          </a:xfrm>
          <a:prstGeom prst="rect">
            <a:avLst/>
          </a:prstGeom>
          <a:solidFill>
            <a:srgbClr val="51AFE9"/>
          </a:solidFill>
          <a:ln w="12700">
            <a:solidFill>
              <a:srgbClr val="51AFE9"/>
            </a:solidFill>
            <a:prstDash val="solid"/>
          </a:ln>
        </p:spPr>
      </p:sp>
      <p:sp>
        <p:nvSpPr>
          <p:cNvPr id="7" name="Text 5"/>
          <p:cNvSpPr/>
          <p:nvPr/>
        </p:nvSpPr>
        <p:spPr>
          <a:xfrm>
            <a:off x="411480" y="1335024"/>
            <a:ext cx="1755648" cy="320040"/>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RLabs / Yoma team</a:t>
            </a:r>
            <a:endParaRPr lang="en-US" sz="1050" dirty="0"/>
          </a:p>
        </p:txBody>
      </p:sp>
      <p:sp>
        <p:nvSpPr>
          <p:cNvPr id="8" name="Text 6"/>
          <p:cNvSpPr/>
          <p:nvPr/>
        </p:nvSpPr>
        <p:spPr>
          <a:xfrm>
            <a:off x="411480" y="1673352"/>
            <a:ext cx="1755648" cy="25603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Platform &amp; technology</a:t>
            </a:r>
            <a:endParaRPr lang="en-US" sz="900" dirty="0"/>
          </a:p>
        </p:txBody>
      </p:sp>
      <p:sp>
        <p:nvSpPr>
          <p:cNvPr id="9" name="Text 7"/>
          <p:cNvSpPr/>
          <p:nvPr/>
        </p:nvSpPr>
        <p:spPr>
          <a:xfrm>
            <a:off x="411480" y="1938528"/>
            <a:ext cx="1755648" cy="530352"/>
          </a:xfrm>
          <a:prstGeom prst="rect">
            <a:avLst/>
          </a:prstGeom>
          <a:noFill/>
          <a:ln/>
        </p:spPr>
        <p:txBody>
          <a:bodyPr wrap="square" lIns="0" tIns="0" rIns="0" bIns="0" rtlCol="0" anchor="t"/>
          <a:lstStyle/>
          <a:p>
            <a:pPr algn="l" indent="0" marL="0">
              <a:buNone/>
            </a:pPr>
            <a:r>
              <a:rPr lang="en-US" sz="950" b="1" dirty="0">
                <a:solidFill>
                  <a:srgbClr val="FC4D56"/>
                </a:solidFill>
                <a:latin typeface="Calibri" pitchFamily="34" charset="0"/>
                <a:ea typeface="Calibri" pitchFamily="34" charset="-122"/>
                <a:cs typeface="Calibri" pitchFamily="34" charset="-120"/>
              </a:rPr>
              <a:t>Camila — System Admin</a:t>
            </a:r>
            <a:endParaRPr lang="en-US" sz="950" dirty="0"/>
          </a:p>
        </p:txBody>
      </p:sp>
      <p:sp>
        <p:nvSpPr>
          <p:cNvPr id="10" name="Shape 8"/>
          <p:cNvSpPr/>
          <p:nvPr/>
        </p:nvSpPr>
        <p:spPr>
          <a:xfrm>
            <a:off x="2441448" y="1234440"/>
            <a:ext cx="1938528" cy="1325880"/>
          </a:xfrm>
          <a:prstGeom prst="rect">
            <a:avLst/>
          </a:prstGeom>
          <a:solidFill>
            <a:srgbClr val="F5F5F5"/>
          </a:solidFill>
          <a:ln w="12700">
            <a:solidFill>
              <a:srgbClr val="E8E8E8"/>
            </a:solidFill>
            <a:prstDash val="solid"/>
          </a:ln>
        </p:spPr>
      </p:sp>
      <p:sp>
        <p:nvSpPr>
          <p:cNvPr id="11" name="Shape 9"/>
          <p:cNvSpPr/>
          <p:nvPr/>
        </p:nvSpPr>
        <p:spPr>
          <a:xfrm>
            <a:off x="2441448" y="1234440"/>
            <a:ext cx="1938528" cy="64008"/>
          </a:xfrm>
          <a:prstGeom prst="rect">
            <a:avLst/>
          </a:prstGeom>
          <a:solidFill>
            <a:srgbClr val="51AFE9"/>
          </a:solidFill>
          <a:ln w="12700">
            <a:solidFill>
              <a:srgbClr val="51AFE9"/>
            </a:solidFill>
            <a:prstDash val="solid"/>
          </a:ln>
        </p:spPr>
      </p:sp>
      <p:sp>
        <p:nvSpPr>
          <p:cNvPr id="12" name="Text 10"/>
          <p:cNvSpPr/>
          <p:nvPr/>
        </p:nvSpPr>
        <p:spPr>
          <a:xfrm>
            <a:off x="2532888" y="1335024"/>
            <a:ext cx="1755648" cy="320040"/>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Zlto team</a:t>
            </a:r>
            <a:endParaRPr lang="en-US" sz="1050" dirty="0"/>
          </a:p>
        </p:txBody>
      </p:sp>
      <p:sp>
        <p:nvSpPr>
          <p:cNvPr id="13" name="Text 11"/>
          <p:cNvSpPr/>
          <p:nvPr/>
        </p:nvSpPr>
        <p:spPr>
          <a:xfrm>
            <a:off x="2532888" y="1673352"/>
            <a:ext cx="1755648" cy="25603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Rewards backend &amp; config</a:t>
            </a:r>
            <a:endParaRPr lang="en-US" sz="900" dirty="0"/>
          </a:p>
        </p:txBody>
      </p:sp>
      <p:sp>
        <p:nvSpPr>
          <p:cNvPr id="14" name="Text 12"/>
          <p:cNvSpPr/>
          <p:nvPr/>
        </p:nvSpPr>
        <p:spPr>
          <a:xfrm>
            <a:off x="2532888" y="1938528"/>
            <a:ext cx="1755648" cy="530352"/>
          </a:xfrm>
          <a:prstGeom prst="rect">
            <a:avLst/>
          </a:prstGeom>
          <a:noFill/>
          <a:ln/>
        </p:spPr>
        <p:txBody>
          <a:bodyPr wrap="square" lIns="0" tIns="0" rIns="0" bIns="0" rtlCol="0" anchor="t"/>
          <a:lstStyle/>
          <a:p>
            <a:pPr algn="l" indent="0" marL="0">
              <a:buNone/>
            </a:pPr>
            <a:r>
              <a:rPr lang="en-US" sz="950" b="1" dirty="0">
                <a:solidFill>
                  <a:srgbClr val="FC4D56"/>
                </a:solidFill>
                <a:latin typeface="Calibri" pitchFamily="34" charset="0"/>
                <a:ea typeface="Calibri" pitchFamily="34" charset="-122"/>
                <a:cs typeface="Calibri" pitchFamily="34" charset="-120"/>
              </a:rPr>
              <a:t>Desmée — primary contact</a:t>
            </a:r>
            <a:endParaRPr lang="en-US" sz="950" dirty="0"/>
          </a:p>
        </p:txBody>
      </p:sp>
      <p:sp>
        <p:nvSpPr>
          <p:cNvPr id="15" name="Shape 13"/>
          <p:cNvSpPr/>
          <p:nvPr/>
        </p:nvSpPr>
        <p:spPr>
          <a:xfrm>
            <a:off x="4562856" y="1234440"/>
            <a:ext cx="1938528" cy="1325880"/>
          </a:xfrm>
          <a:prstGeom prst="rect">
            <a:avLst/>
          </a:prstGeom>
          <a:solidFill>
            <a:srgbClr val="F5F5F5"/>
          </a:solidFill>
          <a:ln w="12700">
            <a:solidFill>
              <a:srgbClr val="E8E8E8"/>
            </a:solidFill>
            <a:prstDash val="solid"/>
          </a:ln>
        </p:spPr>
      </p:sp>
      <p:sp>
        <p:nvSpPr>
          <p:cNvPr id="16" name="Shape 14"/>
          <p:cNvSpPr/>
          <p:nvPr/>
        </p:nvSpPr>
        <p:spPr>
          <a:xfrm>
            <a:off x="4562856" y="1234440"/>
            <a:ext cx="1938528" cy="64008"/>
          </a:xfrm>
          <a:prstGeom prst="rect">
            <a:avLst/>
          </a:prstGeom>
          <a:solidFill>
            <a:srgbClr val="51AFE9"/>
          </a:solidFill>
          <a:ln w="12700">
            <a:solidFill>
              <a:srgbClr val="51AFE9"/>
            </a:solidFill>
            <a:prstDash val="solid"/>
          </a:ln>
        </p:spPr>
      </p:sp>
      <p:sp>
        <p:nvSpPr>
          <p:cNvPr id="17" name="Text 15"/>
          <p:cNvSpPr/>
          <p:nvPr/>
        </p:nvSpPr>
        <p:spPr>
          <a:xfrm>
            <a:off x="4654296" y="1335024"/>
            <a:ext cx="1755648" cy="320040"/>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UNICEF</a:t>
            </a:r>
            <a:endParaRPr lang="en-US" sz="1050" dirty="0"/>
          </a:p>
        </p:txBody>
      </p:sp>
      <p:sp>
        <p:nvSpPr>
          <p:cNvPr id="18" name="Text 16"/>
          <p:cNvSpPr/>
          <p:nvPr/>
        </p:nvSpPr>
        <p:spPr>
          <a:xfrm>
            <a:off x="4654296" y="1673352"/>
            <a:ext cx="1755648" cy="25603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Strategy &amp; documentation owner</a:t>
            </a:r>
            <a:endParaRPr lang="en-US" sz="900" dirty="0"/>
          </a:p>
        </p:txBody>
      </p:sp>
      <p:sp>
        <p:nvSpPr>
          <p:cNvPr id="19" name="Text 17"/>
          <p:cNvSpPr/>
          <p:nvPr/>
        </p:nvSpPr>
        <p:spPr>
          <a:xfrm>
            <a:off x="4654296" y="1938528"/>
            <a:ext cx="1755648" cy="530352"/>
          </a:xfrm>
          <a:prstGeom prst="rect">
            <a:avLst/>
          </a:prstGeom>
          <a:noFill/>
          <a:ln/>
        </p:spPr>
        <p:txBody>
          <a:bodyPr wrap="square" lIns="0" tIns="0" rIns="0" bIns="0" rtlCol="0" anchor="t"/>
          <a:lstStyle/>
          <a:p>
            <a:pPr algn="l" indent="0" marL="0">
              <a:buNone/>
            </a:pPr>
            <a:r>
              <a:rPr lang="en-US" sz="950" b="1" dirty="0">
                <a:solidFill>
                  <a:srgbClr val="FC4D56"/>
                </a:solidFill>
                <a:latin typeface="Calibri" pitchFamily="34" charset="0"/>
                <a:ea typeface="Calibri" pitchFamily="34" charset="-122"/>
                <a:cs typeface="Calibri" pitchFamily="34" charset="-120"/>
              </a:rPr>
              <a:t>Internal — not widely accessible</a:t>
            </a:r>
            <a:endParaRPr lang="en-US" sz="950" dirty="0"/>
          </a:p>
        </p:txBody>
      </p:sp>
      <p:sp>
        <p:nvSpPr>
          <p:cNvPr id="20" name="Shape 18"/>
          <p:cNvSpPr/>
          <p:nvPr/>
        </p:nvSpPr>
        <p:spPr>
          <a:xfrm>
            <a:off x="6684264" y="1234440"/>
            <a:ext cx="1938528" cy="1325880"/>
          </a:xfrm>
          <a:prstGeom prst="rect">
            <a:avLst/>
          </a:prstGeom>
          <a:solidFill>
            <a:srgbClr val="F5F5F5"/>
          </a:solidFill>
          <a:ln w="12700">
            <a:solidFill>
              <a:srgbClr val="E8E8E8"/>
            </a:solidFill>
            <a:prstDash val="solid"/>
          </a:ln>
        </p:spPr>
      </p:sp>
      <p:sp>
        <p:nvSpPr>
          <p:cNvPr id="21" name="Shape 19"/>
          <p:cNvSpPr/>
          <p:nvPr/>
        </p:nvSpPr>
        <p:spPr>
          <a:xfrm>
            <a:off x="6684264" y="1234440"/>
            <a:ext cx="1938528" cy="64008"/>
          </a:xfrm>
          <a:prstGeom prst="rect">
            <a:avLst/>
          </a:prstGeom>
          <a:solidFill>
            <a:srgbClr val="51AFE9"/>
          </a:solidFill>
          <a:ln w="12700">
            <a:solidFill>
              <a:srgbClr val="51AFE9"/>
            </a:solidFill>
            <a:prstDash val="solid"/>
          </a:ln>
        </p:spPr>
      </p:sp>
      <p:sp>
        <p:nvSpPr>
          <p:cNvPr id="22" name="Text 20"/>
          <p:cNvSpPr/>
          <p:nvPr/>
        </p:nvSpPr>
        <p:spPr>
          <a:xfrm>
            <a:off x="6775704" y="1335024"/>
            <a:ext cx="1755648" cy="320040"/>
          </a:xfrm>
          <a:prstGeom prst="rect">
            <a:avLst/>
          </a:prstGeom>
          <a:noFill/>
          <a:ln/>
        </p:spPr>
        <p:txBody>
          <a:bodyPr wrap="square" lIns="0" tIns="0" rIns="0" bIns="0" rtlCol="0" anchor="t"/>
          <a:lstStyle/>
          <a:p>
            <a:pPr algn="l" indent="0" marL="0">
              <a:buNone/>
            </a:pPr>
            <a:r>
              <a:rPr lang="en-US" sz="1050" b="1" dirty="0">
                <a:solidFill>
                  <a:srgbClr val="41204B"/>
                </a:solidFill>
                <a:latin typeface="Calibri" pitchFamily="34" charset="0"/>
                <a:ea typeface="Calibri" pitchFamily="34" charset="-122"/>
                <a:cs typeface="Calibri" pitchFamily="34" charset="-120"/>
              </a:rPr>
              <a:t>IDX Dev team</a:t>
            </a:r>
            <a:endParaRPr lang="en-US" sz="1050" dirty="0"/>
          </a:p>
        </p:txBody>
      </p:sp>
      <p:sp>
        <p:nvSpPr>
          <p:cNvPr id="23" name="Text 21"/>
          <p:cNvSpPr/>
          <p:nvPr/>
        </p:nvSpPr>
        <p:spPr>
          <a:xfrm>
            <a:off x="6775704" y="1673352"/>
            <a:ext cx="1755648" cy="256032"/>
          </a:xfrm>
          <a:prstGeom prst="rect">
            <a:avLst/>
          </a:prstGeom>
          <a:noFill/>
          <a:ln/>
        </p:spPr>
        <p:txBody>
          <a:bodyPr wrap="square" lIns="0" tIns="0" rIns="0" bIns="0" rtlCol="0" anchor="t"/>
          <a:lstStyle/>
          <a:p>
            <a:pPr algn="l" indent="0" marL="0">
              <a:buNone/>
            </a:pPr>
            <a:r>
              <a:rPr lang="en-US" sz="900" dirty="0">
                <a:solidFill>
                  <a:srgbClr val="737373"/>
                </a:solidFill>
                <a:latin typeface="Calibri" pitchFamily="34" charset="0"/>
                <a:ea typeface="Calibri" pitchFamily="34" charset="-122"/>
                <a:cs typeface="Calibri" pitchFamily="34" charset="-120"/>
              </a:rPr>
              <a:t>Technical integrations</a:t>
            </a:r>
            <a:endParaRPr lang="en-US" sz="900" dirty="0"/>
          </a:p>
        </p:txBody>
      </p:sp>
      <p:sp>
        <p:nvSpPr>
          <p:cNvPr id="24" name="Text 22"/>
          <p:cNvSpPr/>
          <p:nvPr/>
        </p:nvSpPr>
        <p:spPr>
          <a:xfrm>
            <a:off x="6775704" y="1938528"/>
            <a:ext cx="1755648" cy="530352"/>
          </a:xfrm>
          <a:prstGeom prst="rect">
            <a:avLst/>
          </a:prstGeom>
          <a:noFill/>
          <a:ln/>
        </p:spPr>
        <p:txBody>
          <a:bodyPr wrap="square" lIns="0" tIns="0" rIns="0" bIns="0" rtlCol="0" anchor="t"/>
          <a:lstStyle/>
          <a:p>
            <a:pPr algn="l" indent="0" marL="0">
              <a:buNone/>
            </a:pPr>
            <a:r>
              <a:rPr lang="en-US" sz="950" b="1" dirty="0">
                <a:solidFill>
                  <a:srgbClr val="FC4D56"/>
                </a:solidFill>
                <a:latin typeface="Calibri" pitchFamily="34" charset="0"/>
                <a:ea typeface="Calibri" pitchFamily="34" charset="-122"/>
                <a:cs typeface="Calibri" pitchFamily="34" charset="-120"/>
              </a:rPr>
              <a:t>Escalation required</a:t>
            </a:r>
            <a:endParaRPr lang="en-US" sz="950" dirty="0"/>
          </a:p>
        </p:txBody>
      </p:sp>
      <p:sp>
        <p:nvSpPr>
          <p:cNvPr id="25" name="Text 23"/>
          <p:cNvSpPr/>
          <p:nvPr/>
        </p:nvSpPr>
        <p:spPr>
          <a:xfrm>
            <a:off x="320040" y="2633472"/>
            <a:ext cx="8503920" cy="237744"/>
          </a:xfrm>
          <a:prstGeom prst="rect">
            <a:avLst/>
          </a:prstGeom>
          <a:noFill/>
          <a:ln/>
        </p:spPr>
        <p:txBody>
          <a:bodyPr wrap="square" lIns="0" tIns="0" rIns="0" bIns="0" rtlCol="0" anchor="ctr"/>
          <a:lstStyle/>
          <a:p>
            <a:pPr algn="ctr" indent="0" marL="0">
              <a:buNone/>
            </a:pPr>
            <a:r>
              <a:rPr lang="en-US" sz="900" b="1" i="1" dirty="0">
                <a:solidFill>
                  <a:srgbClr val="FC4D56"/>
                </a:solidFill>
                <a:latin typeface="Calibri" pitchFamily="34" charset="0"/>
                <a:ea typeface="Calibri" pitchFamily="34" charset="-122"/>
                <a:cs typeface="Calibri" pitchFamily="34" charset="-120"/>
              </a:rPr>
              <a:t>Every common query must be escalated across this chain — with no single person able to answer all questions</a:t>
            </a:r>
            <a:endParaRPr lang="en-US" sz="900" dirty="0"/>
          </a:p>
        </p:txBody>
      </p:sp>
      <p:sp>
        <p:nvSpPr>
          <p:cNvPr id="26" name="Shape 24"/>
          <p:cNvSpPr/>
          <p:nvPr/>
        </p:nvSpPr>
        <p:spPr>
          <a:xfrm>
            <a:off x="320040" y="2770632"/>
            <a:ext cx="8503920" cy="36576"/>
          </a:xfrm>
          <a:prstGeom prst="rect">
            <a:avLst/>
          </a:prstGeom>
          <a:solidFill>
            <a:srgbClr val="FC4D56"/>
          </a:solidFill>
          <a:ln w="12700">
            <a:solidFill>
              <a:srgbClr val="FC4D56"/>
            </a:solidFill>
            <a:prstDash val="solid"/>
          </a:ln>
        </p:spPr>
      </p:sp>
      <p:sp>
        <p:nvSpPr>
          <p:cNvPr id="27" name="Shape 25"/>
          <p:cNvSpPr/>
          <p:nvPr/>
        </p:nvSpPr>
        <p:spPr>
          <a:xfrm>
            <a:off x="320040" y="2834640"/>
            <a:ext cx="2651760" cy="1536192"/>
          </a:xfrm>
          <a:prstGeom prst="rect">
            <a:avLst/>
          </a:prstGeom>
          <a:solidFill>
            <a:srgbClr val="F5F5F5"/>
          </a:solidFill>
          <a:ln w="12700">
            <a:solidFill>
              <a:srgbClr val="E8E8E8"/>
            </a:solidFill>
            <a:prstDash val="solid"/>
          </a:ln>
        </p:spPr>
      </p:sp>
      <p:sp>
        <p:nvSpPr>
          <p:cNvPr id="28" name="Shape 26"/>
          <p:cNvSpPr/>
          <p:nvPr/>
        </p:nvSpPr>
        <p:spPr>
          <a:xfrm>
            <a:off x="320040" y="2834640"/>
            <a:ext cx="64008" cy="1536192"/>
          </a:xfrm>
          <a:prstGeom prst="rect">
            <a:avLst/>
          </a:prstGeom>
          <a:solidFill>
            <a:srgbClr val="FC4D56"/>
          </a:solidFill>
          <a:ln w="12700">
            <a:solidFill>
              <a:srgbClr val="FC4D56"/>
            </a:solidFill>
            <a:prstDash val="solid"/>
          </a:ln>
        </p:spPr>
      </p:sp>
      <p:sp>
        <p:nvSpPr>
          <p:cNvPr id="29" name="Text 27"/>
          <p:cNvSpPr/>
          <p:nvPr/>
        </p:nvSpPr>
        <p:spPr>
          <a:xfrm>
            <a:off x="475488" y="29260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Slow onboarding</a:t>
            </a:r>
            <a:endParaRPr lang="en-US" sz="1100" dirty="0"/>
          </a:p>
        </p:txBody>
      </p:sp>
      <p:sp>
        <p:nvSpPr>
          <p:cNvPr id="30" name="Text 28"/>
          <p:cNvSpPr/>
          <p:nvPr/>
        </p:nvSpPr>
        <p:spPr>
          <a:xfrm>
            <a:off x="475488" y="3227832"/>
            <a:ext cx="2432304"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Every new deployer requires meetings with at least one — often two or three — of these contacts. Availability, time zones, and competing priorities mean onboarding spans weeks before a partner becomes operational.</a:t>
            </a:r>
            <a:endParaRPr lang="en-US" sz="950" dirty="0"/>
          </a:p>
        </p:txBody>
      </p:sp>
      <p:sp>
        <p:nvSpPr>
          <p:cNvPr id="31" name="Shape 29"/>
          <p:cNvSpPr/>
          <p:nvPr/>
        </p:nvSpPr>
        <p:spPr>
          <a:xfrm>
            <a:off x="3200400" y="2834640"/>
            <a:ext cx="2651760" cy="1536192"/>
          </a:xfrm>
          <a:prstGeom prst="rect">
            <a:avLst/>
          </a:prstGeom>
          <a:solidFill>
            <a:srgbClr val="F5F5F5"/>
          </a:solidFill>
          <a:ln w="12700">
            <a:solidFill>
              <a:srgbClr val="E8E8E8"/>
            </a:solidFill>
            <a:prstDash val="solid"/>
          </a:ln>
        </p:spPr>
      </p:sp>
      <p:sp>
        <p:nvSpPr>
          <p:cNvPr id="32" name="Shape 30"/>
          <p:cNvSpPr/>
          <p:nvPr/>
        </p:nvSpPr>
        <p:spPr>
          <a:xfrm>
            <a:off x="3200400" y="2834640"/>
            <a:ext cx="64008" cy="1536192"/>
          </a:xfrm>
          <a:prstGeom prst="rect">
            <a:avLst/>
          </a:prstGeom>
          <a:solidFill>
            <a:srgbClr val="FC4D56"/>
          </a:solidFill>
          <a:ln w="12700">
            <a:solidFill>
              <a:srgbClr val="FC4D56"/>
            </a:solidFill>
            <a:prstDash val="solid"/>
          </a:ln>
        </p:spPr>
      </p:sp>
      <p:sp>
        <p:nvSpPr>
          <p:cNvPr id="33" name="Text 31"/>
          <p:cNvSpPr/>
          <p:nvPr/>
        </p:nvSpPr>
        <p:spPr>
          <a:xfrm>
            <a:off x="3355848" y="29260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Inconsistent answers</a:t>
            </a:r>
            <a:endParaRPr lang="en-US" sz="1100" dirty="0"/>
          </a:p>
        </p:txBody>
      </p:sp>
      <p:sp>
        <p:nvSpPr>
          <p:cNvPr id="34" name="Text 32"/>
          <p:cNvSpPr/>
          <p:nvPr/>
        </p:nvSpPr>
        <p:spPr>
          <a:xfrm>
            <a:off x="3355848" y="3227832"/>
            <a:ext cx="2432304"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Different contacts provide different answers to the same question. The Yoma team, Zlto team, and UNICEF may each give conflicting guidance on the same operational question — with no shared knowledge base to resolve it.</a:t>
            </a:r>
            <a:endParaRPr lang="en-US" sz="950" dirty="0"/>
          </a:p>
        </p:txBody>
      </p:sp>
      <p:sp>
        <p:nvSpPr>
          <p:cNvPr id="35" name="Shape 33"/>
          <p:cNvSpPr/>
          <p:nvPr/>
        </p:nvSpPr>
        <p:spPr>
          <a:xfrm>
            <a:off x="6080760" y="2834640"/>
            <a:ext cx="2651760" cy="1536192"/>
          </a:xfrm>
          <a:prstGeom prst="rect">
            <a:avLst/>
          </a:prstGeom>
          <a:solidFill>
            <a:srgbClr val="F5F5F5"/>
          </a:solidFill>
          <a:ln w="12700">
            <a:solidFill>
              <a:srgbClr val="E8E8E8"/>
            </a:solidFill>
            <a:prstDash val="solid"/>
          </a:ln>
        </p:spPr>
      </p:sp>
      <p:sp>
        <p:nvSpPr>
          <p:cNvPr id="36" name="Shape 34"/>
          <p:cNvSpPr/>
          <p:nvPr/>
        </p:nvSpPr>
        <p:spPr>
          <a:xfrm>
            <a:off x="6080760" y="2834640"/>
            <a:ext cx="64008" cy="1536192"/>
          </a:xfrm>
          <a:prstGeom prst="rect">
            <a:avLst/>
          </a:prstGeom>
          <a:solidFill>
            <a:srgbClr val="FC4D56"/>
          </a:solidFill>
          <a:ln w="12700">
            <a:solidFill>
              <a:srgbClr val="FC4D56"/>
            </a:solidFill>
            <a:prstDash val="solid"/>
          </a:ln>
        </p:spPr>
      </p:sp>
      <p:sp>
        <p:nvSpPr>
          <p:cNvPr id="37" name="Text 35"/>
          <p:cNvSpPr/>
          <p:nvPr/>
        </p:nvSpPr>
        <p:spPr>
          <a:xfrm>
            <a:off x="6236208" y="2926080"/>
            <a:ext cx="243230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Single points of failure</a:t>
            </a:r>
            <a:endParaRPr lang="en-US" sz="1100" dirty="0"/>
          </a:p>
        </p:txBody>
      </p:sp>
      <p:sp>
        <p:nvSpPr>
          <p:cNvPr id="38" name="Text 36"/>
          <p:cNvSpPr/>
          <p:nvPr/>
        </p:nvSpPr>
        <p:spPr>
          <a:xfrm>
            <a:off x="6236208" y="3227832"/>
            <a:ext cx="2432304"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Desmée is the effective gateway for all reward configuration. Camila for all platform admin matters. Any unavailability creates a complete stop for the implementing organisation. There is no fallback.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87F6A"/>
          </a:solidFill>
          <a:ln w="12700">
            <a:solidFill>
              <a:srgbClr val="387F6A"/>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WHAT YOMA GUIDE DOES</a:t>
            </a:r>
            <a:endParaRPr lang="en-US" sz="1100" dirty="0"/>
          </a:p>
        </p:txBody>
      </p:sp>
      <p:sp>
        <p:nvSpPr>
          <p:cNvPr id="4" name="Text 2"/>
          <p:cNvSpPr/>
          <p:nvPr/>
        </p:nvSpPr>
        <p:spPr>
          <a:xfrm>
            <a:off x="45720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Yoma Guide addresses the documentation gap directly — filling the role no platform team has yet taken on: a public, canonical, ecosystem-first operational guide.</a:t>
            </a:r>
            <a:endParaRPr lang="en-US" sz="1100" dirty="0"/>
          </a:p>
        </p:txBody>
      </p:sp>
      <p:sp>
        <p:nvSpPr>
          <p:cNvPr id="5" name="Shape 3"/>
          <p:cNvSpPr/>
          <p:nvPr/>
        </p:nvSpPr>
        <p:spPr>
          <a:xfrm>
            <a:off x="365760" y="1261872"/>
            <a:ext cx="4983480" cy="822960"/>
          </a:xfrm>
          <a:prstGeom prst="rect">
            <a:avLst/>
          </a:prstGeom>
          <a:solidFill>
            <a:srgbClr val="F5F5F5"/>
          </a:solidFill>
          <a:ln w="12700">
            <a:solidFill>
              <a:srgbClr val="E8E8E8"/>
            </a:solidFill>
            <a:prstDash val="solid"/>
          </a:ln>
        </p:spPr>
      </p:sp>
      <p:sp>
        <p:nvSpPr>
          <p:cNvPr id="6" name="Shape 4"/>
          <p:cNvSpPr/>
          <p:nvPr/>
        </p:nvSpPr>
        <p:spPr>
          <a:xfrm>
            <a:off x="365760" y="1261872"/>
            <a:ext cx="64008" cy="822960"/>
          </a:xfrm>
          <a:prstGeom prst="rect">
            <a:avLst/>
          </a:prstGeom>
          <a:solidFill>
            <a:srgbClr val="387F6A"/>
          </a:solidFill>
          <a:ln w="12700">
            <a:solidFill>
              <a:srgbClr val="387F6A"/>
            </a:solidFill>
            <a:prstDash val="solid"/>
          </a:ln>
        </p:spPr>
      </p:sp>
      <p:sp>
        <p:nvSpPr>
          <p:cNvPr id="7" name="Text 5"/>
          <p:cNvSpPr/>
          <p:nvPr/>
        </p:nvSpPr>
        <p:spPr>
          <a:xfrm>
            <a:off x="521208" y="1353312"/>
            <a:ext cx="476402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Single source of truth — publicly accessible</a:t>
            </a:r>
            <a:endParaRPr lang="en-US" sz="1100" dirty="0"/>
          </a:p>
        </p:txBody>
      </p:sp>
      <p:sp>
        <p:nvSpPr>
          <p:cNvPr id="8" name="Text 6"/>
          <p:cNvSpPr/>
          <p:nvPr/>
        </p:nvSpPr>
        <p:spPr>
          <a:xfrm>
            <a:off x="521208" y="1655064"/>
            <a:ext cx="4764024" cy="3383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A canonical guide to current Yoma capability, written without conflating roadmap features. Not behind a login wall. Accessible to any partner or implementing organisation — not just those with UNICEF relationships.</a:t>
            </a:r>
            <a:endParaRPr lang="en-US" sz="950" dirty="0"/>
          </a:p>
        </p:txBody>
      </p:sp>
      <p:sp>
        <p:nvSpPr>
          <p:cNvPr id="9" name="Shape 7"/>
          <p:cNvSpPr/>
          <p:nvPr/>
        </p:nvSpPr>
        <p:spPr>
          <a:xfrm>
            <a:off x="365760" y="2157984"/>
            <a:ext cx="4983480" cy="822960"/>
          </a:xfrm>
          <a:prstGeom prst="rect">
            <a:avLst/>
          </a:prstGeom>
          <a:solidFill>
            <a:srgbClr val="F5F5F5"/>
          </a:solidFill>
          <a:ln w="12700">
            <a:solidFill>
              <a:srgbClr val="E8E8E8"/>
            </a:solidFill>
            <a:prstDash val="solid"/>
          </a:ln>
        </p:spPr>
      </p:sp>
      <p:sp>
        <p:nvSpPr>
          <p:cNvPr id="10" name="Shape 8"/>
          <p:cNvSpPr/>
          <p:nvPr/>
        </p:nvSpPr>
        <p:spPr>
          <a:xfrm>
            <a:off x="365760" y="2157984"/>
            <a:ext cx="64008" cy="822960"/>
          </a:xfrm>
          <a:prstGeom prst="rect">
            <a:avLst/>
          </a:prstGeom>
          <a:solidFill>
            <a:srgbClr val="387F6A"/>
          </a:solidFill>
          <a:ln w="12700">
            <a:solidFill>
              <a:srgbClr val="387F6A"/>
            </a:solidFill>
            <a:prstDash val="solid"/>
          </a:ln>
        </p:spPr>
      </p:sp>
      <p:sp>
        <p:nvSpPr>
          <p:cNvPr id="11" name="Text 9"/>
          <p:cNvSpPr/>
          <p:nvPr/>
        </p:nvSpPr>
        <p:spPr>
          <a:xfrm>
            <a:off x="521208" y="2249424"/>
            <a:ext cx="476402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Written for ecosystem builders, not programme deliverers</a:t>
            </a:r>
            <a:endParaRPr lang="en-US" sz="1100" dirty="0"/>
          </a:p>
        </p:txBody>
      </p:sp>
      <p:sp>
        <p:nvSpPr>
          <p:cNvPr id="12" name="Text 10"/>
          <p:cNvSpPr/>
          <p:nvPr/>
        </p:nvSpPr>
        <p:spPr>
          <a:xfrm>
            <a:off x="521208" y="2551176"/>
            <a:ext cx="4764024" cy="3383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Unlike existing documentation built for single-organisation programme delivery, Yoma Guide is structured around the three-sided marketplace: recruiting opportunity partners, activating reward partners, and growing the youth user base.</a:t>
            </a:r>
            <a:endParaRPr lang="en-US" sz="950" dirty="0"/>
          </a:p>
        </p:txBody>
      </p:sp>
      <p:sp>
        <p:nvSpPr>
          <p:cNvPr id="13" name="Shape 11"/>
          <p:cNvSpPr/>
          <p:nvPr/>
        </p:nvSpPr>
        <p:spPr>
          <a:xfrm>
            <a:off x="365760" y="3054096"/>
            <a:ext cx="4983480" cy="822960"/>
          </a:xfrm>
          <a:prstGeom prst="rect">
            <a:avLst/>
          </a:prstGeom>
          <a:solidFill>
            <a:srgbClr val="F5F5F5"/>
          </a:solidFill>
          <a:ln w="12700">
            <a:solidFill>
              <a:srgbClr val="E8E8E8"/>
            </a:solidFill>
            <a:prstDash val="solid"/>
          </a:ln>
        </p:spPr>
      </p:sp>
      <p:sp>
        <p:nvSpPr>
          <p:cNvPr id="14" name="Shape 12"/>
          <p:cNvSpPr/>
          <p:nvPr/>
        </p:nvSpPr>
        <p:spPr>
          <a:xfrm>
            <a:off x="365760" y="3054096"/>
            <a:ext cx="64008" cy="822960"/>
          </a:xfrm>
          <a:prstGeom prst="rect">
            <a:avLst/>
          </a:prstGeom>
          <a:solidFill>
            <a:srgbClr val="387F6A"/>
          </a:solidFill>
          <a:ln w="12700">
            <a:solidFill>
              <a:srgbClr val="387F6A"/>
            </a:solidFill>
            <a:prstDash val="solid"/>
          </a:ln>
        </p:spPr>
      </p:sp>
      <p:sp>
        <p:nvSpPr>
          <p:cNvPr id="15" name="Text 13"/>
          <p:cNvSpPr/>
          <p:nvPr/>
        </p:nvSpPr>
        <p:spPr>
          <a:xfrm>
            <a:off x="521208" y="3145536"/>
            <a:ext cx="476402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Calibrated to reduce customer success friction</a:t>
            </a:r>
            <a:endParaRPr lang="en-US" sz="1100" dirty="0"/>
          </a:p>
        </p:txBody>
      </p:sp>
      <p:sp>
        <p:nvSpPr>
          <p:cNvPr id="16" name="Text 14"/>
          <p:cNvSpPr/>
          <p:nvPr/>
        </p:nvSpPr>
        <p:spPr>
          <a:xfrm>
            <a:off x="521208" y="3447288"/>
            <a:ext cx="4764024" cy="3383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Language and structure are designed to answer the questions that would otherwise require a call with the Zlto team, RLabs, or UNICEF. Partners can self-serve across the most common operational questions.</a:t>
            </a:r>
            <a:endParaRPr lang="en-US" sz="950" dirty="0"/>
          </a:p>
        </p:txBody>
      </p:sp>
      <p:sp>
        <p:nvSpPr>
          <p:cNvPr id="17" name="Shape 15"/>
          <p:cNvSpPr/>
          <p:nvPr/>
        </p:nvSpPr>
        <p:spPr>
          <a:xfrm>
            <a:off x="365760" y="3950208"/>
            <a:ext cx="4983480" cy="822960"/>
          </a:xfrm>
          <a:prstGeom prst="rect">
            <a:avLst/>
          </a:prstGeom>
          <a:solidFill>
            <a:srgbClr val="F5F5F5"/>
          </a:solidFill>
          <a:ln w="12700">
            <a:solidFill>
              <a:srgbClr val="E8E8E8"/>
            </a:solidFill>
            <a:prstDash val="solid"/>
          </a:ln>
        </p:spPr>
      </p:sp>
      <p:sp>
        <p:nvSpPr>
          <p:cNvPr id="18" name="Shape 16"/>
          <p:cNvSpPr/>
          <p:nvPr/>
        </p:nvSpPr>
        <p:spPr>
          <a:xfrm>
            <a:off x="365760" y="3950208"/>
            <a:ext cx="64008" cy="822960"/>
          </a:xfrm>
          <a:prstGeom prst="rect">
            <a:avLst/>
          </a:prstGeom>
          <a:solidFill>
            <a:srgbClr val="387F6A"/>
          </a:solidFill>
          <a:ln w="12700">
            <a:solidFill>
              <a:srgbClr val="387F6A"/>
            </a:solidFill>
            <a:prstDash val="solid"/>
          </a:ln>
        </p:spPr>
      </p:sp>
      <p:sp>
        <p:nvSpPr>
          <p:cNvPr id="19" name="Text 17"/>
          <p:cNvSpPr/>
          <p:nvPr/>
        </p:nvSpPr>
        <p:spPr>
          <a:xfrm>
            <a:off x="521208" y="4041648"/>
            <a:ext cx="4764024" cy="274320"/>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Both youth entry pathways documented</a:t>
            </a:r>
            <a:endParaRPr lang="en-US" sz="1100" dirty="0"/>
          </a:p>
        </p:txBody>
      </p:sp>
      <p:sp>
        <p:nvSpPr>
          <p:cNvPr id="20" name="Text 18"/>
          <p:cNvSpPr/>
          <p:nvPr/>
        </p:nvSpPr>
        <p:spPr>
          <a:xfrm>
            <a:off x="521208" y="4343400"/>
            <a:ext cx="4764024" cy="338328"/>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The discovery-first deep link pathway and the completion-first verification link pathway are both explained — when to use each, how to combine them, and what the experience looks like for new users arriving via each route.</a:t>
            </a:r>
            <a:endParaRPr lang="en-US" sz="950" dirty="0"/>
          </a:p>
        </p:txBody>
      </p:sp>
      <p:sp>
        <p:nvSpPr>
          <p:cNvPr id="21" name="Shape 19"/>
          <p:cNvSpPr/>
          <p:nvPr/>
        </p:nvSpPr>
        <p:spPr>
          <a:xfrm>
            <a:off x="5577840" y="1261872"/>
            <a:ext cx="3246120" cy="3584448"/>
          </a:xfrm>
          <a:prstGeom prst="rect">
            <a:avLst/>
          </a:prstGeom>
          <a:solidFill>
            <a:srgbClr val="41204B"/>
          </a:solidFill>
          <a:ln w="12700">
            <a:solidFill>
              <a:srgbClr val="41204B"/>
            </a:solidFill>
            <a:prstDash val="solid"/>
          </a:ln>
        </p:spPr>
      </p:sp>
      <p:sp>
        <p:nvSpPr>
          <p:cNvPr id="22" name="Text 20"/>
          <p:cNvSpPr/>
          <p:nvPr/>
        </p:nvSpPr>
        <p:spPr>
          <a:xfrm>
            <a:off x="5715000" y="1353312"/>
            <a:ext cx="2971800" cy="274320"/>
          </a:xfrm>
          <a:prstGeom prst="rect">
            <a:avLst/>
          </a:prstGeom>
          <a:noFill/>
          <a:ln/>
        </p:spPr>
        <p:txBody>
          <a:bodyPr wrap="square" lIns="0" tIns="0" rIns="0" bIns="0" rtlCol="0" anchor="ctr"/>
          <a:lstStyle/>
          <a:p>
            <a:pPr algn="l" indent="0" marL="0">
              <a:buNone/>
            </a:pPr>
            <a:r>
              <a:rPr lang="en-US" sz="900" b="1" spc="100" kern="0" dirty="0">
                <a:solidFill>
                  <a:srgbClr val="387F6A"/>
                </a:solidFill>
                <a:latin typeface="Calibri" pitchFamily="34" charset="0"/>
                <a:ea typeface="Calibri" pitchFamily="34" charset="-122"/>
                <a:cs typeface="Calibri" pitchFamily="34" charset="-120"/>
              </a:rPr>
              <a:t>GAPS ADDRESSED</a:t>
            </a:r>
            <a:endParaRPr lang="en-US" sz="900" dirty="0"/>
          </a:p>
        </p:txBody>
      </p:sp>
      <p:pic>
        <p:nvPicPr>
          <p:cNvPr id="23" name="Image 0" descr="preencoded.png">    </p:cNvPr>
          <p:cNvPicPr>
            <a:picLocks noChangeAspect="1"/>
          </p:cNvPicPr>
          <p:nvPr/>
        </p:nvPicPr>
        <p:blipFill>
          <a:blip r:embed="rId1"/>
          <a:stretch>
            <a:fillRect/>
          </a:stretch>
        </p:blipFill>
        <p:spPr>
          <a:xfrm>
            <a:off x="5715000" y="1719072"/>
            <a:ext cx="164592" cy="164592"/>
          </a:xfrm>
          <a:prstGeom prst="rect">
            <a:avLst/>
          </a:prstGeom>
        </p:spPr>
      </p:pic>
      <p:sp>
        <p:nvSpPr>
          <p:cNvPr id="24" name="Text 21"/>
          <p:cNvSpPr/>
          <p:nvPr/>
        </p:nvSpPr>
        <p:spPr>
          <a:xfrm>
            <a:off x="5943600" y="1709928"/>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Current capability vs. roadmap — clearly separated</a:t>
            </a:r>
            <a:endParaRPr lang="en-US" sz="950" dirty="0"/>
          </a:p>
        </p:txBody>
      </p:sp>
      <p:pic>
        <p:nvPicPr>
          <p:cNvPr id="25" name="Image 1" descr="preencoded.png">    </p:cNvPr>
          <p:cNvPicPr>
            <a:picLocks noChangeAspect="1"/>
          </p:cNvPicPr>
          <p:nvPr/>
        </p:nvPicPr>
        <p:blipFill>
          <a:blip r:embed="rId2"/>
          <a:stretch>
            <a:fillRect/>
          </a:stretch>
        </p:blipFill>
        <p:spPr>
          <a:xfrm>
            <a:off x="5715000" y="2093976"/>
            <a:ext cx="164592" cy="164592"/>
          </a:xfrm>
          <a:prstGeom prst="rect">
            <a:avLst/>
          </a:prstGeom>
        </p:spPr>
      </p:pic>
      <p:sp>
        <p:nvSpPr>
          <p:cNvPr id="26" name="Text 22"/>
          <p:cNvSpPr/>
          <p:nvPr/>
        </p:nvSpPr>
        <p:spPr>
          <a:xfrm>
            <a:off x="5943600" y="2084832"/>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All three verification methods — fully documented</a:t>
            </a:r>
            <a:endParaRPr lang="en-US" sz="950" dirty="0"/>
          </a:p>
        </p:txBody>
      </p:sp>
      <p:pic>
        <p:nvPicPr>
          <p:cNvPr id="27" name="Image 2" descr="preencoded.png">    </p:cNvPr>
          <p:cNvPicPr>
            <a:picLocks noChangeAspect="1"/>
          </p:cNvPicPr>
          <p:nvPr/>
        </p:nvPicPr>
        <p:blipFill>
          <a:blip r:embed="rId3"/>
          <a:stretch>
            <a:fillRect/>
          </a:stretch>
        </p:blipFill>
        <p:spPr>
          <a:xfrm>
            <a:off x="5715000" y="2468880"/>
            <a:ext cx="164592" cy="164592"/>
          </a:xfrm>
          <a:prstGeom prst="rect">
            <a:avLst/>
          </a:prstGeom>
        </p:spPr>
      </p:pic>
      <p:sp>
        <p:nvSpPr>
          <p:cNvPr id="28" name="Text 23"/>
          <p:cNvSpPr/>
          <p:nvPr/>
        </p:nvSpPr>
        <p:spPr>
          <a:xfrm>
            <a:off x="5943600" y="2459736"/>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Zlto calibration and pricing — structured frameworks</a:t>
            </a:r>
            <a:endParaRPr lang="en-US" sz="950" dirty="0"/>
          </a:p>
        </p:txBody>
      </p:sp>
      <p:pic>
        <p:nvPicPr>
          <p:cNvPr id="29" name="Image 3" descr="preencoded.png">    </p:cNvPr>
          <p:cNvPicPr>
            <a:picLocks noChangeAspect="1"/>
          </p:cNvPicPr>
          <p:nvPr/>
        </p:nvPicPr>
        <p:blipFill>
          <a:blip r:embed="rId4"/>
          <a:stretch>
            <a:fillRect/>
          </a:stretch>
        </p:blipFill>
        <p:spPr>
          <a:xfrm>
            <a:off x="5715000" y="2843784"/>
            <a:ext cx="164592" cy="164592"/>
          </a:xfrm>
          <a:prstGeom prst="rect">
            <a:avLst/>
          </a:prstGeom>
        </p:spPr>
      </p:pic>
      <p:sp>
        <p:nvSpPr>
          <p:cNvPr id="30" name="Text 24"/>
          <p:cNvSpPr/>
          <p:nvPr/>
        </p:nvSpPr>
        <p:spPr>
          <a:xfrm>
            <a:off x="5943600" y="2834640"/>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Reward partner onboarding — workflow covered</a:t>
            </a:r>
            <a:endParaRPr lang="en-US" sz="950" dirty="0"/>
          </a:p>
        </p:txBody>
      </p:sp>
      <p:pic>
        <p:nvPicPr>
          <p:cNvPr id="31" name="Image 4" descr="preencoded.png">    </p:cNvPr>
          <p:cNvPicPr>
            <a:picLocks noChangeAspect="1"/>
          </p:cNvPicPr>
          <p:nvPr/>
        </p:nvPicPr>
        <p:blipFill>
          <a:blip r:embed="rId5"/>
          <a:stretch>
            <a:fillRect/>
          </a:stretch>
        </p:blipFill>
        <p:spPr>
          <a:xfrm>
            <a:off x="5715000" y="3218688"/>
            <a:ext cx="164592" cy="164592"/>
          </a:xfrm>
          <a:prstGeom prst="rect">
            <a:avLst/>
          </a:prstGeom>
        </p:spPr>
      </p:pic>
      <p:sp>
        <p:nvSpPr>
          <p:cNvPr id="32" name="Text 25"/>
          <p:cNvSpPr/>
          <p:nvPr/>
        </p:nvSpPr>
        <p:spPr>
          <a:xfrm>
            <a:off x="5943600" y="3209544"/>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Opportunity creation — field-by-field guidance</a:t>
            </a:r>
            <a:endParaRPr lang="en-US" sz="950" dirty="0"/>
          </a:p>
        </p:txBody>
      </p:sp>
      <p:pic>
        <p:nvPicPr>
          <p:cNvPr id="33" name="Image 5" descr="preencoded.png">    </p:cNvPr>
          <p:cNvPicPr>
            <a:picLocks noChangeAspect="1"/>
          </p:cNvPicPr>
          <p:nvPr/>
        </p:nvPicPr>
        <p:blipFill>
          <a:blip r:embed="rId6"/>
          <a:stretch>
            <a:fillRect/>
          </a:stretch>
        </p:blipFill>
        <p:spPr>
          <a:xfrm>
            <a:off x="5715000" y="3593592"/>
            <a:ext cx="164592" cy="164592"/>
          </a:xfrm>
          <a:prstGeom prst="rect">
            <a:avLst/>
          </a:prstGeom>
        </p:spPr>
      </p:pic>
      <p:sp>
        <p:nvSpPr>
          <p:cNvPr id="34" name="Text 26"/>
          <p:cNvSpPr/>
          <p:nvPr/>
        </p:nvSpPr>
        <p:spPr>
          <a:xfrm>
            <a:off x="5943600" y="3584448"/>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Youth onboarding and engagement loop — explained</a:t>
            </a:r>
            <a:endParaRPr lang="en-US" sz="950" dirty="0"/>
          </a:p>
        </p:txBody>
      </p:sp>
      <p:pic>
        <p:nvPicPr>
          <p:cNvPr id="35" name="Image 6" descr="preencoded.png">    </p:cNvPr>
          <p:cNvPicPr>
            <a:picLocks noChangeAspect="1"/>
          </p:cNvPicPr>
          <p:nvPr/>
        </p:nvPicPr>
        <p:blipFill>
          <a:blip r:embed="rId7"/>
          <a:stretch>
            <a:fillRect/>
          </a:stretch>
        </p:blipFill>
        <p:spPr>
          <a:xfrm>
            <a:off x="5715000" y="3968496"/>
            <a:ext cx="164592" cy="164592"/>
          </a:xfrm>
          <a:prstGeom prst="rect">
            <a:avLst/>
          </a:prstGeom>
        </p:spPr>
      </p:pic>
      <p:sp>
        <p:nvSpPr>
          <p:cNvPr id="36" name="Text 27"/>
          <p:cNvSpPr/>
          <p:nvPr/>
        </p:nvSpPr>
        <p:spPr>
          <a:xfrm>
            <a:off x="5943600" y="3959352"/>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Credentials and YoID — what youth actually receive</a:t>
            </a:r>
            <a:endParaRPr lang="en-US" sz="950" dirty="0"/>
          </a:p>
        </p:txBody>
      </p:sp>
      <p:pic>
        <p:nvPicPr>
          <p:cNvPr id="37" name="Image 7" descr="preencoded.png">    </p:cNvPr>
          <p:cNvPicPr>
            <a:picLocks noChangeAspect="1"/>
          </p:cNvPicPr>
          <p:nvPr/>
        </p:nvPicPr>
        <p:blipFill>
          <a:blip r:embed="rId8"/>
          <a:stretch>
            <a:fillRect/>
          </a:stretch>
        </p:blipFill>
        <p:spPr>
          <a:xfrm>
            <a:off x="5715000" y="4343400"/>
            <a:ext cx="164592" cy="164592"/>
          </a:xfrm>
          <a:prstGeom prst="rect">
            <a:avLst/>
          </a:prstGeom>
        </p:spPr>
      </p:pic>
      <p:sp>
        <p:nvSpPr>
          <p:cNvPr id="38" name="Text 28"/>
          <p:cNvSpPr/>
          <p:nvPr/>
        </p:nvSpPr>
        <p:spPr>
          <a:xfrm>
            <a:off x="5943600" y="4334256"/>
            <a:ext cx="2743200" cy="320040"/>
          </a:xfrm>
          <a:prstGeom prst="rect">
            <a:avLst/>
          </a:prstGeom>
          <a:noFill/>
          <a:ln/>
        </p:spPr>
        <p:txBody>
          <a:bodyPr wrap="square" lIns="0" tIns="0" rIns="0" bIns="0" rtlCol="0" anchor="ctr"/>
          <a:lstStyle/>
          <a:p>
            <a:pPr algn="l" indent="0" marL="0">
              <a:buNone/>
            </a:pPr>
            <a:r>
              <a:rPr lang="en-US" sz="950" dirty="0">
                <a:solidFill>
                  <a:srgbClr val="C0C0C0"/>
                </a:solidFill>
                <a:latin typeface="Calibri" pitchFamily="34" charset="0"/>
                <a:ea typeface="Calibri" pitchFamily="34" charset="-122"/>
                <a:cs typeface="Calibri" pitchFamily="34" charset="-120"/>
              </a:rPr>
              <a:t>Glossary, FAQ, and roadmap — single reference</a:t>
            </a:r>
            <a:endParaRPr lang="en-US" sz="950" dirty="0"/>
          </a:p>
        </p:txBody>
      </p:sp>
      <p:sp>
        <p:nvSpPr>
          <p:cNvPr id="39" name="Shape 29"/>
          <p:cNvSpPr/>
          <p:nvPr/>
        </p:nvSpPr>
        <p:spPr>
          <a:xfrm>
            <a:off x="365760" y="4681728"/>
            <a:ext cx="8412480" cy="320040"/>
          </a:xfrm>
          <a:prstGeom prst="rect">
            <a:avLst/>
          </a:prstGeom>
          <a:solidFill>
            <a:srgbClr val="387F6A">
              <a:alpha val="15000"/>
            </a:srgbClr>
          </a:solidFill>
          <a:ln w="12700">
            <a:solidFill>
              <a:srgbClr val="387F6A"/>
            </a:solidFill>
            <a:prstDash val="solid"/>
          </a:ln>
        </p:spPr>
      </p:sp>
      <p:sp>
        <p:nvSpPr>
          <p:cNvPr id="40" name="Text 30"/>
          <p:cNvSpPr/>
          <p:nvPr/>
        </p:nvSpPr>
        <p:spPr>
          <a:xfrm>
            <a:off x="502920" y="4681728"/>
            <a:ext cx="8229600" cy="320040"/>
          </a:xfrm>
          <a:prstGeom prst="rect">
            <a:avLst/>
          </a:prstGeom>
          <a:noFill/>
          <a:ln/>
        </p:spPr>
        <p:txBody>
          <a:bodyPr wrap="square" lIns="0" tIns="0" rIns="0" bIns="0" rtlCol="0" anchor="ctr"/>
          <a:lstStyle/>
          <a:p>
            <a:pPr algn="l" indent="0" marL="0">
              <a:buNone/>
            </a:pPr>
            <a:r>
              <a:rPr lang="en-US" sz="950" b="1" dirty="0">
                <a:solidFill>
                  <a:srgbClr val="387F6A"/>
                </a:solidFill>
                <a:latin typeface="Calibri" pitchFamily="34" charset="0"/>
                <a:ea typeface="Calibri" pitchFamily="34" charset="-122"/>
                <a:cs typeface="Calibri" pitchFamily="34" charset="-120"/>
              </a:rPr>
              <a:t>Yoma Guide is a start — not the complete solution. It addresses information gaps but not structural, policy, or resourcing ones.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41204B"/>
          </a:solidFill>
          <a:ln w="12700">
            <a:solidFill>
              <a:srgbClr val="41204B"/>
            </a:solidFill>
            <a:prstDash val="solid"/>
          </a:ln>
        </p:spPr>
      </p:sp>
      <p:sp>
        <p:nvSpPr>
          <p:cNvPr id="3" name="Text 1"/>
          <p:cNvSpPr/>
          <p:nvPr/>
        </p:nvSpPr>
        <p:spPr>
          <a:xfrm>
            <a:off x="457200" y="0"/>
            <a:ext cx="8229600" cy="640080"/>
          </a:xfrm>
          <a:prstGeom prst="rect">
            <a:avLst/>
          </a:prstGeom>
          <a:noFill/>
          <a:ln/>
        </p:spPr>
        <p:txBody>
          <a:bodyPr wrap="square" lIns="0" tIns="0" rIns="0" bIns="0" rtlCol="0" anchor="ctr"/>
          <a:lstStyle/>
          <a:p>
            <a:pPr algn="l" indent="0" marL="0">
              <a:buNone/>
            </a:pPr>
            <a:r>
              <a:rPr lang="en-US" sz="1100" b="1" spc="200" kern="0" dirty="0">
                <a:solidFill>
                  <a:srgbClr val="FFFFFF"/>
                </a:solidFill>
                <a:latin typeface="Calibri" pitchFamily="34" charset="0"/>
                <a:ea typeface="Calibri" pitchFamily="34" charset="-122"/>
                <a:cs typeface="Calibri" pitchFamily="34" charset="-120"/>
              </a:rPr>
              <a:t>WHAT STILL NEEDS TO HAPPEN</a:t>
            </a:r>
            <a:endParaRPr lang="en-US" sz="1100" dirty="0"/>
          </a:p>
        </p:txBody>
      </p:sp>
      <p:sp>
        <p:nvSpPr>
          <p:cNvPr id="4" name="Text 2"/>
          <p:cNvSpPr/>
          <p:nvPr/>
        </p:nvSpPr>
        <p:spPr>
          <a:xfrm>
            <a:off x="457200" y="749808"/>
            <a:ext cx="8321040" cy="384048"/>
          </a:xfrm>
          <a:prstGeom prst="rect">
            <a:avLst/>
          </a:prstGeom>
          <a:noFill/>
          <a:ln/>
        </p:spPr>
        <p:txBody>
          <a:bodyPr wrap="square" lIns="0" tIns="0" rIns="0" bIns="0" rtlCol="0" anchor="ctr"/>
          <a:lstStyle/>
          <a:p>
            <a:pPr algn="l" indent="0" marL="0">
              <a:buNone/>
            </a:pPr>
            <a:r>
              <a:rPr lang="en-US" sz="1100" i="1" dirty="0">
                <a:solidFill>
                  <a:srgbClr val="41204B"/>
                </a:solidFill>
                <a:latin typeface="Calibri" pitchFamily="34" charset="0"/>
                <a:ea typeface="Calibri" pitchFamily="34" charset="-122"/>
                <a:cs typeface="Calibri" pitchFamily="34" charset="-120"/>
              </a:rPr>
              <a:t>Four structural actions are needed alongside documentation to make Yoma deployments genuinely scalable.</a:t>
            </a:r>
            <a:endParaRPr lang="en-US" sz="1100" dirty="0"/>
          </a:p>
        </p:txBody>
      </p:sp>
      <p:sp>
        <p:nvSpPr>
          <p:cNvPr id="5" name="Shape 3"/>
          <p:cNvSpPr/>
          <p:nvPr/>
        </p:nvSpPr>
        <p:spPr>
          <a:xfrm>
            <a:off x="365760" y="1261872"/>
            <a:ext cx="4023360" cy="1664208"/>
          </a:xfrm>
          <a:prstGeom prst="rect">
            <a:avLst/>
          </a:prstGeom>
          <a:solidFill>
            <a:srgbClr val="F5F5F5"/>
          </a:solidFill>
          <a:ln w="12700">
            <a:solidFill>
              <a:srgbClr val="E8E8E8"/>
            </a:solidFill>
            <a:prstDash val="solid"/>
          </a:ln>
        </p:spPr>
      </p:sp>
      <p:sp>
        <p:nvSpPr>
          <p:cNvPr id="6" name="Shape 4"/>
          <p:cNvSpPr/>
          <p:nvPr/>
        </p:nvSpPr>
        <p:spPr>
          <a:xfrm>
            <a:off x="365760" y="1261872"/>
            <a:ext cx="4023360" cy="64008"/>
          </a:xfrm>
          <a:prstGeom prst="rect">
            <a:avLst/>
          </a:prstGeom>
          <a:solidFill>
            <a:srgbClr val="51AFE9"/>
          </a:solidFill>
          <a:ln w="12700">
            <a:solidFill>
              <a:srgbClr val="51AFE9"/>
            </a:solidFill>
            <a:prstDash val="solid"/>
          </a:ln>
        </p:spPr>
      </p:sp>
      <p:sp>
        <p:nvSpPr>
          <p:cNvPr id="7" name="Text 5"/>
          <p:cNvSpPr/>
          <p:nvPr/>
        </p:nvSpPr>
        <p:spPr>
          <a:xfrm>
            <a:off x="502920" y="1371600"/>
            <a:ext cx="475488" cy="384048"/>
          </a:xfrm>
          <a:prstGeom prst="rect">
            <a:avLst/>
          </a:prstGeom>
          <a:noFill/>
          <a:ln/>
        </p:spPr>
        <p:txBody>
          <a:bodyPr wrap="square" lIns="0" tIns="0" rIns="0" bIns="0" rtlCol="0" anchor="t"/>
          <a:lstStyle/>
          <a:p>
            <a:pPr algn="l" indent="0" marL="0">
              <a:buNone/>
            </a:pPr>
            <a:r>
              <a:rPr lang="en-US" sz="2000" b="1" dirty="0">
                <a:solidFill>
                  <a:srgbClr val="51AFE9"/>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987552" y="1371600"/>
            <a:ext cx="3246120" cy="384048"/>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Resolve the reward issuance policy</a:t>
            </a:r>
            <a:endParaRPr lang="en-US" sz="1100" dirty="0"/>
          </a:p>
        </p:txBody>
      </p:sp>
      <p:sp>
        <p:nvSpPr>
          <p:cNvPr id="9" name="Text 7"/>
          <p:cNvSpPr/>
          <p:nvPr/>
        </p:nvSpPr>
        <p:spPr>
          <a:xfrm>
            <a:off x="502920" y="1810512"/>
            <a:ext cx="3749040"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Define clearly which organisations can configure Zlto rewards for the opportunities they post. The current default — that only funded partners can do so — conflates two distinct marketplace roles. A clear, published policy should allow opportunity and reward partners to operate independently, with the Zlto team as infrastructure provider rather than gatekeeper.</a:t>
            </a:r>
            <a:endParaRPr lang="en-US" sz="950" dirty="0"/>
          </a:p>
        </p:txBody>
      </p:sp>
      <p:sp>
        <p:nvSpPr>
          <p:cNvPr id="10" name="Shape 8"/>
          <p:cNvSpPr/>
          <p:nvPr/>
        </p:nvSpPr>
        <p:spPr>
          <a:xfrm>
            <a:off x="4663440" y="1261872"/>
            <a:ext cx="4023360" cy="1664208"/>
          </a:xfrm>
          <a:prstGeom prst="rect">
            <a:avLst/>
          </a:prstGeom>
          <a:solidFill>
            <a:srgbClr val="F5F5F5"/>
          </a:solidFill>
          <a:ln w="12700">
            <a:solidFill>
              <a:srgbClr val="E8E8E8"/>
            </a:solidFill>
            <a:prstDash val="solid"/>
          </a:ln>
        </p:spPr>
      </p:sp>
      <p:sp>
        <p:nvSpPr>
          <p:cNvPr id="11" name="Shape 9"/>
          <p:cNvSpPr/>
          <p:nvPr/>
        </p:nvSpPr>
        <p:spPr>
          <a:xfrm>
            <a:off x="4663440" y="1261872"/>
            <a:ext cx="4023360" cy="64008"/>
          </a:xfrm>
          <a:prstGeom prst="rect">
            <a:avLst/>
          </a:prstGeom>
          <a:solidFill>
            <a:srgbClr val="FC4D56"/>
          </a:solidFill>
          <a:ln w="12700">
            <a:solidFill>
              <a:srgbClr val="FC4D56"/>
            </a:solidFill>
            <a:prstDash val="solid"/>
          </a:ln>
        </p:spPr>
      </p:sp>
      <p:sp>
        <p:nvSpPr>
          <p:cNvPr id="12" name="Text 10"/>
          <p:cNvSpPr/>
          <p:nvPr/>
        </p:nvSpPr>
        <p:spPr>
          <a:xfrm>
            <a:off x="4800600" y="1371600"/>
            <a:ext cx="475488" cy="384048"/>
          </a:xfrm>
          <a:prstGeom prst="rect">
            <a:avLst/>
          </a:prstGeom>
          <a:noFill/>
          <a:ln/>
        </p:spPr>
        <p:txBody>
          <a:bodyPr wrap="square" lIns="0" tIns="0" rIns="0" bIns="0" rtlCol="0" anchor="t"/>
          <a:lstStyle/>
          <a:p>
            <a:pPr algn="l" indent="0" marL="0">
              <a:buNone/>
            </a:pPr>
            <a:r>
              <a:rPr lang="en-US" sz="2000" b="1" dirty="0">
                <a:solidFill>
                  <a:srgbClr val="FC4D56"/>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5285232" y="1371600"/>
            <a:ext cx="3246120" cy="384048"/>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Formalise the customer success function</a:t>
            </a:r>
            <a:endParaRPr lang="en-US" sz="1100" dirty="0"/>
          </a:p>
        </p:txBody>
      </p:sp>
      <p:sp>
        <p:nvSpPr>
          <p:cNvPr id="14" name="Text 12"/>
          <p:cNvSpPr/>
          <p:nvPr/>
        </p:nvSpPr>
        <p:spPr>
          <a:xfrm>
            <a:off x="4800600" y="1810512"/>
            <a:ext cx="3749040"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Create dedicated customer success roles with cross-team briefings spanning RLabs, Zlto, UNICEF, and IDX. These individuals need the authority and knowledge to resolve common partner queries without escalation, and clear escalation paths for the remainder. Without this, every new deployer hits the same bottleneck.</a:t>
            </a:r>
            <a:endParaRPr lang="en-US" sz="950" dirty="0"/>
          </a:p>
        </p:txBody>
      </p:sp>
      <p:sp>
        <p:nvSpPr>
          <p:cNvPr id="15" name="Shape 13"/>
          <p:cNvSpPr/>
          <p:nvPr/>
        </p:nvSpPr>
        <p:spPr>
          <a:xfrm>
            <a:off x="365760" y="3072384"/>
            <a:ext cx="4023360" cy="1664208"/>
          </a:xfrm>
          <a:prstGeom prst="rect">
            <a:avLst/>
          </a:prstGeom>
          <a:solidFill>
            <a:srgbClr val="F5F5F5"/>
          </a:solidFill>
          <a:ln w="12700">
            <a:solidFill>
              <a:srgbClr val="E8E8E8"/>
            </a:solidFill>
            <a:prstDash val="solid"/>
          </a:ln>
        </p:spPr>
      </p:sp>
      <p:sp>
        <p:nvSpPr>
          <p:cNvPr id="16" name="Shape 14"/>
          <p:cNvSpPr/>
          <p:nvPr/>
        </p:nvSpPr>
        <p:spPr>
          <a:xfrm>
            <a:off x="365760" y="3072384"/>
            <a:ext cx="4023360" cy="64008"/>
          </a:xfrm>
          <a:prstGeom prst="rect">
            <a:avLst/>
          </a:prstGeom>
          <a:solidFill>
            <a:srgbClr val="387F6A"/>
          </a:solidFill>
          <a:ln w="12700">
            <a:solidFill>
              <a:srgbClr val="387F6A"/>
            </a:solidFill>
            <a:prstDash val="solid"/>
          </a:ln>
        </p:spPr>
      </p:sp>
      <p:sp>
        <p:nvSpPr>
          <p:cNvPr id="17" name="Text 15"/>
          <p:cNvSpPr/>
          <p:nvPr/>
        </p:nvSpPr>
        <p:spPr>
          <a:xfrm>
            <a:off x="502920" y="3182112"/>
            <a:ext cx="475488" cy="384048"/>
          </a:xfrm>
          <a:prstGeom prst="rect">
            <a:avLst/>
          </a:prstGeom>
          <a:noFill/>
          <a:ln/>
        </p:spPr>
        <p:txBody>
          <a:bodyPr wrap="square" lIns="0" tIns="0" rIns="0" bIns="0" rtlCol="0" anchor="t"/>
          <a:lstStyle/>
          <a:p>
            <a:pPr algn="l" indent="0" marL="0">
              <a:buNone/>
            </a:pPr>
            <a:r>
              <a:rPr lang="en-US" sz="2000" b="1" dirty="0">
                <a:solidFill>
                  <a:srgbClr val="387F6A"/>
                </a:solidFill>
                <a:latin typeface="Calibri" pitchFamily="34" charset="0"/>
                <a:ea typeface="Calibri" pitchFamily="34" charset="-122"/>
                <a:cs typeface="Calibri" pitchFamily="34" charset="-120"/>
              </a:rPr>
              <a:t>03</a:t>
            </a:r>
            <a:endParaRPr lang="en-US" sz="2000" dirty="0"/>
          </a:p>
        </p:txBody>
      </p:sp>
      <p:sp>
        <p:nvSpPr>
          <p:cNvPr id="18" name="Text 16"/>
          <p:cNvSpPr/>
          <p:nvPr/>
        </p:nvSpPr>
        <p:spPr>
          <a:xfrm>
            <a:off x="987552" y="3182112"/>
            <a:ext cx="3246120" cy="384048"/>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Design a structured onboarding programme</a:t>
            </a:r>
            <a:endParaRPr lang="en-US" sz="1100" dirty="0"/>
          </a:p>
        </p:txBody>
      </p:sp>
      <p:sp>
        <p:nvSpPr>
          <p:cNvPr id="19" name="Text 17"/>
          <p:cNvSpPr/>
          <p:nvPr/>
        </p:nvSpPr>
        <p:spPr>
          <a:xfrm>
            <a:off x="502920" y="3621024"/>
            <a:ext cx="3749040"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Build and document a 3–6 month structured programme for new deployers, with defined milestones for opportunity partner recruitment, reward partner activation, and youth acquisition strategy. This removes the current dependence on ad hoc calls with individuals and gives deployers a roadmap from day one.</a:t>
            </a:r>
            <a:endParaRPr lang="en-US" sz="950" dirty="0"/>
          </a:p>
        </p:txBody>
      </p:sp>
      <p:sp>
        <p:nvSpPr>
          <p:cNvPr id="20" name="Shape 18"/>
          <p:cNvSpPr/>
          <p:nvPr/>
        </p:nvSpPr>
        <p:spPr>
          <a:xfrm>
            <a:off x="4663440" y="3072384"/>
            <a:ext cx="4023360" cy="1664208"/>
          </a:xfrm>
          <a:prstGeom prst="rect">
            <a:avLst/>
          </a:prstGeom>
          <a:solidFill>
            <a:srgbClr val="F5F5F5"/>
          </a:solidFill>
          <a:ln w="12700">
            <a:solidFill>
              <a:srgbClr val="E8E8E8"/>
            </a:solidFill>
            <a:prstDash val="solid"/>
          </a:ln>
        </p:spPr>
      </p:sp>
      <p:sp>
        <p:nvSpPr>
          <p:cNvPr id="21" name="Shape 19"/>
          <p:cNvSpPr/>
          <p:nvPr/>
        </p:nvSpPr>
        <p:spPr>
          <a:xfrm>
            <a:off x="4663440" y="3072384"/>
            <a:ext cx="4023360" cy="64008"/>
          </a:xfrm>
          <a:prstGeom prst="rect">
            <a:avLst/>
          </a:prstGeom>
          <a:solidFill>
            <a:srgbClr val="F0A02D"/>
          </a:solidFill>
          <a:ln w="12700">
            <a:solidFill>
              <a:srgbClr val="F0A02D"/>
            </a:solidFill>
            <a:prstDash val="solid"/>
          </a:ln>
        </p:spPr>
      </p:sp>
      <p:sp>
        <p:nvSpPr>
          <p:cNvPr id="22" name="Text 20"/>
          <p:cNvSpPr/>
          <p:nvPr/>
        </p:nvSpPr>
        <p:spPr>
          <a:xfrm>
            <a:off x="4800600" y="3182112"/>
            <a:ext cx="475488" cy="384048"/>
          </a:xfrm>
          <a:prstGeom prst="rect">
            <a:avLst/>
          </a:prstGeom>
          <a:noFill/>
          <a:ln/>
        </p:spPr>
        <p:txBody>
          <a:bodyPr wrap="square" lIns="0" tIns="0" rIns="0" bIns="0" rtlCol="0" anchor="t"/>
          <a:lstStyle/>
          <a:p>
            <a:pPr algn="l" indent="0" marL="0">
              <a:buNone/>
            </a:pPr>
            <a:r>
              <a:rPr lang="en-US" sz="2000" b="1" dirty="0">
                <a:solidFill>
                  <a:srgbClr val="F0A02D"/>
                </a:solidFill>
                <a:latin typeface="Calibri" pitchFamily="34" charset="0"/>
                <a:ea typeface="Calibri" pitchFamily="34" charset="-122"/>
                <a:cs typeface="Calibri" pitchFamily="34" charset="-120"/>
              </a:rPr>
              <a:t>04</a:t>
            </a:r>
            <a:endParaRPr lang="en-US" sz="2000" dirty="0"/>
          </a:p>
        </p:txBody>
      </p:sp>
      <p:sp>
        <p:nvSpPr>
          <p:cNvPr id="23" name="Text 21"/>
          <p:cNvSpPr/>
          <p:nvPr/>
        </p:nvSpPr>
        <p:spPr>
          <a:xfrm>
            <a:off x="5285232" y="3182112"/>
            <a:ext cx="3246120" cy="384048"/>
          </a:xfrm>
          <a:prstGeom prst="rect">
            <a:avLst/>
          </a:prstGeom>
          <a:noFill/>
          <a:ln/>
        </p:spPr>
        <p:txBody>
          <a:bodyPr wrap="square" lIns="0" tIns="0" rIns="0" bIns="0" rtlCol="0" anchor="t"/>
          <a:lstStyle/>
          <a:p>
            <a:pPr algn="l" indent="0" marL="0">
              <a:buNone/>
            </a:pPr>
            <a:r>
              <a:rPr lang="en-US" sz="1100" b="1" dirty="0">
                <a:solidFill>
                  <a:srgbClr val="41204B"/>
                </a:solidFill>
                <a:latin typeface="Calibri" pitchFamily="34" charset="0"/>
                <a:ea typeface="Calibri" pitchFamily="34" charset="-122"/>
                <a:cs typeface="Calibri" pitchFamily="34" charset="-120"/>
              </a:rPr>
              <a:t>Build a shared cross-team knowledge base</a:t>
            </a:r>
            <a:endParaRPr lang="en-US" sz="1100" dirty="0"/>
          </a:p>
        </p:txBody>
      </p:sp>
      <p:sp>
        <p:nvSpPr>
          <p:cNvPr id="24" name="Text 22"/>
          <p:cNvSpPr/>
          <p:nvPr/>
        </p:nvSpPr>
        <p:spPr>
          <a:xfrm>
            <a:off x="4800600" y="3621024"/>
            <a:ext cx="3749040" cy="1051560"/>
          </a:xfrm>
          <a:prstGeom prst="rect">
            <a:avLst/>
          </a:prstGeom>
          <a:noFill/>
          <a:ln/>
        </p:spPr>
        <p:txBody>
          <a:bodyPr wrap="square" lIns="0" tIns="0" rIns="0" bIns="0" rtlCol="0" anchor="t"/>
          <a:lstStyle/>
          <a:p>
            <a:pPr algn="l" indent="0" marL="0">
              <a:buNone/>
            </a:pPr>
            <a:r>
              <a:rPr lang="en-US" sz="950" dirty="0">
                <a:solidFill>
                  <a:srgbClr val="020304"/>
                </a:solidFill>
                <a:latin typeface="Calibri" pitchFamily="34" charset="0"/>
                <a:ea typeface="Calibri" pitchFamily="34" charset="-122"/>
                <a:cs typeface="Calibri" pitchFamily="34" charset="-120"/>
              </a:rPr>
              <a:t>Create a joint knowledge resource accessible to everyone involved in supporting Yoma deployments: RLabs, Zlto, UNICEF, IDX. This removes dependence on individual memory, ensures consistent answers across teams, and enables new team members to get up to speed without requiring a call with the right person.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C4D56"/>
          </a:solidFill>
          <a:ln w="12700">
            <a:solidFill>
              <a:srgbClr val="FC4D56"/>
            </a:solidFill>
            <a:prstDash val="solid"/>
          </a:ln>
        </p:spPr>
      </p:sp>
      <p:sp>
        <p:nvSpPr>
          <p:cNvPr id="3" name="Text 1"/>
          <p:cNvSpPr/>
          <p:nvPr/>
        </p:nvSpPr>
        <p:spPr>
          <a:xfrm>
            <a:off x="457200" y="164592"/>
            <a:ext cx="8229600" cy="347472"/>
          </a:xfrm>
          <a:prstGeom prst="rect">
            <a:avLst/>
          </a:prstGeom>
          <a:noFill/>
          <a:ln/>
        </p:spPr>
        <p:txBody>
          <a:bodyPr wrap="square" lIns="0" tIns="0" rIns="0" bIns="0" rtlCol="0" anchor="ctr"/>
          <a:lstStyle/>
          <a:p>
            <a:pPr algn="l" indent="0" marL="0">
              <a:buNone/>
            </a:pPr>
            <a:r>
              <a:rPr lang="en-US" sz="1100" b="1" spc="200" kern="0" dirty="0">
                <a:solidFill>
                  <a:srgbClr val="FC4D56"/>
                </a:solidFill>
                <a:latin typeface="Calibri" pitchFamily="34" charset="0"/>
                <a:ea typeface="Calibri" pitchFamily="34" charset="-122"/>
                <a:cs typeface="Calibri" pitchFamily="34" charset="-120"/>
              </a:rPr>
              <a:t>LOOKING AHEAD</a:t>
            </a:r>
            <a:endParaRPr lang="en-US" sz="1100" dirty="0"/>
          </a:p>
        </p:txBody>
      </p:sp>
      <p:sp>
        <p:nvSpPr>
          <p:cNvPr id="4" name="Text 2"/>
          <p:cNvSpPr/>
          <p:nvPr/>
        </p:nvSpPr>
        <p:spPr>
          <a:xfrm>
            <a:off x="457200" y="566928"/>
            <a:ext cx="8229600" cy="384048"/>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Operational gaps that are manageable today become critical as Yoma's technology advances.</a:t>
            </a:r>
            <a:endParaRPr lang="en-US" sz="1400" dirty="0"/>
          </a:p>
        </p:txBody>
      </p:sp>
      <p:sp>
        <p:nvSpPr>
          <p:cNvPr id="5" name="Shape 3"/>
          <p:cNvSpPr/>
          <p:nvPr/>
        </p:nvSpPr>
        <p:spPr>
          <a:xfrm>
            <a:off x="320040" y="1078992"/>
            <a:ext cx="4114800" cy="3547872"/>
          </a:xfrm>
          <a:prstGeom prst="rect">
            <a:avLst/>
          </a:prstGeom>
          <a:solidFill>
            <a:srgbClr val="FFFFFF">
              <a:alpha val="25000"/>
            </a:srgbClr>
          </a:solidFill>
          <a:ln w="12700">
            <a:solidFill>
              <a:srgbClr val="51AFE9"/>
            </a:solidFill>
            <a:prstDash val="solid"/>
          </a:ln>
        </p:spPr>
      </p:sp>
      <p:sp>
        <p:nvSpPr>
          <p:cNvPr id="6" name="Shape 4"/>
          <p:cNvSpPr/>
          <p:nvPr/>
        </p:nvSpPr>
        <p:spPr>
          <a:xfrm>
            <a:off x="320040" y="1078992"/>
            <a:ext cx="4114800" cy="64008"/>
          </a:xfrm>
          <a:prstGeom prst="rect">
            <a:avLst/>
          </a:prstGeom>
          <a:solidFill>
            <a:srgbClr val="51AFE9"/>
          </a:solidFill>
          <a:ln w="12700">
            <a:solidFill>
              <a:srgbClr val="51AFE9"/>
            </a:solidFill>
            <a:prstDash val="solid"/>
          </a:ln>
        </p:spPr>
      </p:sp>
      <p:sp>
        <p:nvSpPr>
          <p:cNvPr id="7" name="Text 5"/>
          <p:cNvSpPr/>
          <p:nvPr/>
        </p:nvSpPr>
        <p:spPr>
          <a:xfrm>
            <a:off x="457200" y="1188720"/>
            <a:ext cx="3840480" cy="438912"/>
          </a:xfrm>
          <a:prstGeom prst="rect">
            <a:avLst/>
          </a:prstGeom>
          <a:noFill/>
          <a:ln/>
        </p:spPr>
        <p:txBody>
          <a:bodyPr wrap="square" lIns="0" tIns="0" rIns="0" bIns="0" rtlCol="0" anchor="t"/>
          <a:lstStyle/>
          <a:p>
            <a:pPr algn="l" indent="0" marL="0">
              <a:buNone/>
            </a:pPr>
            <a:r>
              <a:rPr lang="en-US" sz="950" b="1" spc="100" kern="0" dirty="0">
                <a:solidFill>
                  <a:srgbClr val="FFFFFF"/>
                </a:solidFill>
                <a:latin typeface="Calibri" pitchFamily="34" charset="0"/>
                <a:ea typeface="Calibri" pitchFamily="34" charset="-122"/>
                <a:cs typeface="Calibri" pitchFamily="34" charset="-120"/>
              </a:rPr>
              <a:t>YOMA IDENTITY (YoID) — FULL IMPLEMENTATION</a:t>
            </a:r>
            <a:endParaRPr lang="en-US" sz="950" dirty="0"/>
          </a:p>
        </p:txBody>
      </p:sp>
      <p:sp>
        <p:nvSpPr>
          <p:cNvPr id="8" name="Text 6"/>
          <p:cNvSpPr/>
          <p:nvPr/>
        </p:nvSpPr>
        <p:spPr>
          <a:xfrm>
            <a:off x="457200" y="1691640"/>
            <a:ext cx="3840480" cy="2834640"/>
          </a:xfrm>
          <a:prstGeom prst="rect">
            <a:avLst/>
          </a:prstGeom>
          <a:noFill/>
          <a:ln/>
        </p:spPr>
        <p:txBody>
          <a:bodyPr wrap="square" lIns="0" tIns="0" rIns="0" bIns="0" rtlCol="0" anchor="t"/>
          <a:lstStyle/>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Currently functional but not yet widely recognised by employers or institutions</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Full implementation requires building employer and institution recognition — effectively a fourth side of the marketplace</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Without operational frameworks for employer engagement, YoID credentials remain an internal metric rather than a portable currency for youth</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All current gaps (information, support model, documentation) will be replicated for YoID — at greater complexity and with a less forgiving user expectation</a:t>
            </a:r>
            <a:endParaRPr lang="en-US" sz="1000" dirty="0"/>
          </a:p>
        </p:txBody>
      </p:sp>
      <p:sp>
        <p:nvSpPr>
          <p:cNvPr id="9" name="Shape 7"/>
          <p:cNvSpPr/>
          <p:nvPr/>
        </p:nvSpPr>
        <p:spPr>
          <a:xfrm>
            <a:off x="4754880" y="1078992"/>
            <a:ext cx="4114800" cy="3547872"/>
          </a:xfrm>
          <a:prstGeom prst="rect">
            <a:avLst/>
          </a:prstGeom>
          <a:solidFill>
            <a:srgbClr val="FFFFFF">
              <a:alpha val="25000"/>
            </a:srgbClr>
          </a:solidFill>
          <a:ln w="12700">
            <a:solidFill>
              <a:srgbClr val="FC4D56"/>
            </a:solidFill>
            <a:prstDash val="solid"/>
          </a:ln>
        </p:spPr>
      </p:sp>
      <p:sp>
        <p:nvSpPr>
          <p:cNvPr id="10" name="Shape 8"/>
          <p:cNvSpPr/>
          <p:nvPr/>
        </p:nvSpPr>
        <p:spPr>
          <a:xfrm>
            <a:off x="4754880" y="1078992"/>
            <a:ext cx="4114800" cy="64008"/>
          </a:xfrm>
          <a:prstGeom prst="rect">
            <a:avLst/>
          </a:prstGeom>
          <a:solidFill>
            <a:srgbClr val="FC4D56"/>
          </a:solidFill>
          <a:ln w="12700">
            <a:solidFill>
              <a:srgbClr val="FC4D56"/>
            </a:solidFill>
            <a:prstDash val="solid"/>
          </a:ln>
        </p:spPr>
      </p:sp>
      <p:sp>
        <p:nvSpPr>
          <p:cNvPr id="11" name="Text 9"/>
          <p:cNvSpPr/>
          <p:nvPr/>
        </p:nvSpPr>
        <p:spPr>
          <a:xfrm>
            <a:off x="4892040" y="1188720"/>
            <a:ext cx="3840480" cy="438912"/>
          </a:xfrm>
          <a:prstGeom prst="rect">
            <a:avLst/>
          </a:prstGeom>
          <a:noFill/>
          <a:ln/>
        </p:spPr>
        <p:txBody>
          <a:bodyPr wrap="square" lIns="0" tIns="0" rIns="0" bIns="0" rtlCol="0" anchor="t"/>
          <a:lstStyle/>
          <a:p>
            <a:pPr algn="l" indent="0" marL="0">
              <a:buNone/>
            </a:pPr>
            <a:r>
              <a:rPr lang="en-US" sz="950" b="1" spc="100" kern="0" dirty="0">
                <a:solidFill>
                  <a:srgbClr val="FFFFFF"/>
                </a:solidFill>
                <a:latin typeface="Calibri" pitchFamily="34" charset="0"/>
                <a:ea typeface="Calibri" pitchFamily="34" charset="-122"/>
                <a:cs typeface="Calibri" pitchFamily="34" charset="-120"/>
              </a:rPr>
              <a:t>THE IMPACT MARKETPLACE</a:t>
            </a:r>
            <a:endParaRPr lang="en-US" sz="950" dirty="0"/>
          </a:p>
        </p:txBody>
      </p:sp>
      <p:sp>
        <p:nvSpPr>
          <p:cNvPr id="12" name="Text 10"/>
          <p:cNvSpPr/>
          <p:nvPr/>
        </p:nvSpPr>
        <p:spPr>
          <a:xfrm>
            <a:off x="4892040" y="1691640"/>
            <a:ext cx="3840480" cy="2834640"/>
          </a:xfrm>
          <a:prstGeom prst="rect">
            <a:avLst/>
          </a:prstGeom>
          <a:noFill/>
          <a:ln/>
        </p:spPr>
        <p:txBody>
          <a:bodyPr wrap="square" lIns="0" tIns="0" rIns="0" bIns="0" rtlCol="0" anchor="t"/>
          <a:lstStyle/>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Currently referenced in onboarding as if imminent — it is not yet live</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Introduces a new dynamic: youth-generated impact data becoming credentialised or monetisable in its own right</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Requires a completely new operational framework: who validates impact data? What standards apply? How is data governed?</a:t>
            </a:r>
            <a:endParaRPr lang="en-US" sz="1000" dirty="0"/>
          </a:p>
          <a:p>
            <a:pPr algn="l" marL="342900" indent="-342900">
              <a:buSzPct val="100000"/>
              <a:buChar char="•"/>
            </a:pPr>
            <a:r>
              <a:rPr lang="en-US" sz="1000" dirty="0">
                <a:solidFill>
                  <a:srgbClr val="C0C0C0"/>
                </a:solidFill>
                <a:latin typeface="Calibri" pitchFamily="34" charset="0"/>
                <a:ea typeface="Calibri" pitchFamily="34" charset="-122"/>
                <a:cs typeface="Calibri" pitchFamily="34" charset="-120"/>
              </a:rPr>
              <a:t>Launching without solving current operational failures risks replicating every existing friction — at scale, and with greater public visibility</a:t>
            </a:r>
            <a:endParaRPr lang="en-US" sz="1000" dirty="0"/>
          </a:p>
        </p:txBody>
      </p:sp>
      <p:sp>
        <p:nvSpPr>
          <p:cNvPr id="13" name="Shape 11"/>
          <p:cNvSpPr/>
          <p:nvPr/>
        </p:nvSpPr>
        <p:spPr>
          <a:xfrm>
            <a:off x="320040" y="4663440"/>
            <a:ext cx="8503920" cy="384048"/>
          </a:xfrm>
          <a:prstGeom prst="rect">
            <a:avLst/>
          </a:prstGeom>
          <a:solidFill>
            <a:srgbClr val="FC4D56"/>
          </a:solidFill>
          <a:ln w="12700">
            <a:solidFill>
              <a:srgbClr val="FC4D56"/>
            </a:solidFill>
            <a:prstDash val="solid"/>
          </a:ln>
        </p:spPr>
      </p:sp>
      <p:sp>
        <p:nvSpPr>
          <p:cNvPr id="14" name="Text 12"/>
          <p:cNvSpPr/>
          <p:nvPr/>
        </p:nvSpPr>
        <p:spPr>
          <a:xfrm>
            <a:off x="457200" y="4663440"/>
            <a:ext cx="8321040" cy="38404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The time to close the operational gap is now — before the technology introduces a third and fourth layer of complexity on top of an already fragile foundation.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1204B"/>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FC4D56"/>
          </a:solidFill>
          <a:ln w="12700">
            <a:solidFill>
              <a:srgbClr val="FC4D56"/>
            </a:solidFill>
            <a:prstDash val="solid"/>
          </a:ln>
        </p:spPr>
      </p:sp>
      <p:sp>
        <p:nvSpPr>
          <p:cNvPr id="3" name="Text 1"/>
          <p:cNvSpPr/>
          <p:nvPr/>
        </p:nvSpPr>
        <p:spPr>
          <a:xfrm>
            <a:off x="292608" y="320040"/>
            <a:ext cx="8229600" cy="347472"/>
          </a:xfrm>
          <a:prstGeom prst="rect">
            <a:avLst/>
          </a:prstGeom>
          <a:noFill/>
          <a:ln/>
        </p:spPr>
        <p:txBody>
          <a:bodyPr wrap="square" lIns="0" tIns="0" rIns="0" bIns="0" rtlCol="0" anchor="ctr"/>
          <a:lstStyle/>
          <a:p>
            <a:pPr algn="l" indent="0" marL="0">
              <a:buNone/>
            </a:pPr>
            <a:r>
              <a:rPr lang="en-US" sz="1100" b="1" spc="300" kern="0" dirty="0">
                <a:solidFill>
                  <a:srgbClr val="FC4D56"/>
                </a:solidFill>
                <a:latin typeface="Calibri" pitchFamily="34" charset="0"/>
                <a:ea typeface="Calibri" pitchFamily="34" charset="-122"/>
                <a:cs typeface="Calibri" pitchFamily="34" charset="-120"/>
              </a:rPr>
              <a:t>THE PATH FORWARD</a:t>
            </a:r>
            <a:endParaRPr lang="en-US" sz="1100" dirty="0"/>
          </a:p>
        </p:txBody>
      </p:sp>
      <p:sp>
        <p:nvSpPr>
          <p:cNvPr id="4" name="Text 2"/>
          <p:cNvSpPr/>
          <p:nvPr/>
        </p:nvSpPr>
        <p:spPr>
          <a:xfrm>
            <a:off x="292608" y="749808"/>
            <a:ext cx="7315200" cy="47548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Yoma is ready. The ecosystem needs to catch up.</a:t>
            </a:r>
            <a:endParaRPr lang="en-US" sz="2200" dirty="0"/>
          </a:p>
        </p:txBody>
      </p:sp>
      <p:sp>
        <p:nvSpPr>
          <p:cNvPr id="5" name="Shape 3"/>
          <p:cNvSpPr/>
          <p:nvPr/>
        </p:nvSpPr>
        <p:spPr>
          <a:xfrm>
            <a:off x="292608" y="1417320"/>
            <a:ext cx="2697480" cy="3291840"/>
          </a:xfrm>
          <a:prstGeom prst="rect">
            <a:avLst/>
          </a:prstGeom>
          <a:solidFill>
            <a:srgbClr val="FFFFFF">
              <a:alpha val="25000"/>
            </a:srgbClr>
          </a:solidFill>
          <a:ln w="12700">
            <a:solidFill>
              <a:srgbClr val="387F6A"/>
            </a:solidFill>
            <a:prstDash val="solid"/>
          </a:ln>
        </p:spPr>
      </p:sp>
      <p:sp>
        <p:nvSpPr>
          <p:cNvPr id="6" name="Shape 4"/>
          <p:cNvSpPr/>
          <p:nvPr/>
        </p:nvSpPr>
        <p:spPr>
          <a:xfrm>
            <a:off x="292608" y="1417320"/>
            <a:ext cx="2697480" cy="365760"/>
          </a:xfrm>
          <a:prstGeom prst="rect">
            <a:avLst/>
          </a:prstGeom>
          <a:solidFill>
            <a:srgbClr val="387F6A"/>
          </a:solidFill>
          <a:ln w="12700">
            <a:solidFill>
              <a:srgbClr val="387F6A"/>
            </a:solidFill>
            <a:prstDash val="solid"/>
          </a:ln>
        </p:spPr>
      </p:sp>
      <p:sp>
        <p:nvSpPr>
          <p:cNvPr id="7" name="Text 5"/>
          <p:cNvSpPr/>
          <p:nvPr/>
        </p:nvSpPr>
        <p:spPr>
          <a:xfrm>
            <a:off x="292608" y="1417320"/>
            <a:ext cx="2697480" cy="36576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IMMEDIATE</a:t>
            </a:r>
            <a:endParaRPr lang="en-US" sz="1000" dirty="0"/>
          </a:p>
        </p:txBody>
      </p:sp>
      <p:sp>
        <p:nvSpPr>
          <p:cNvPr id="8" name="Shape 6"/>
          <p:cNvSpPr/>
          <p:nvPr/>
        </p:nvSpPr>
        <p:spPr>
          <a:xfrm>
            <a:off x="429768" y="1920240"/>
            <a:ext cx="54864" cy="658368"/>
          </a:xfrm>
          <a:prstGeom prst="rect">
            <a:avLst/>
          </a:prstGeom>
          <a:solidFill>
            <a:srgbClr val="387F6A"/>
          </a:solidFill>
          <a:ln w="12700">
            <a:solidFill>
              <a:srgbClr val="387F6A"/>
            </a:solidFill>
            <a:prstDash val="solid"/>
          </a:ln>
        </p:spPr>
      </p:sp>
      <p:sp>
        <p:nvSpPr>
          <p:cNvPr id="9" name="Text 7"/>
          <p:cNvSpPr/>
          <p:nvPr/>
        </p:nvSpPr>
        <p:spPr>
          <a:xfrm>
            <a:off x="566928" y="19019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Yoma Guide publicly accessible — a canonical, current-state reference in place</a:t>
            </a:r>
            <a:endParaRPr lang="en-US" sz="950" dirty="0"/>
          </a:p>
        </p:txBody>
      </p:sp>
      <p:sp>
        <p:nvSpPr>
          <p:cNvPr id="10" name="Shape 8"/>
          <p:cNvSpPr/>
          <p:nvPr/>
        </p:nvSpPr>
        <p:spPr>
          <a:xfrm>
            <a:off x="429768" y="2834640"/>
            <a:ext cx="54864" cy="658368"/>
          </a:xfrm>
          <a:prstGeom prst="rect">
            <a:avLst/>
          </a:prstGeom>
          <a:solidFill>
            <a:srgbClr val="387F6A"/>
          </a:solidFill>
          <a:ln w="12700">
            <a:solidFill>
              <a:srgbClr val="387F6A"/>
            </a:solidFill>
            <a:prstDash val="solid"/>
          </a:ln>
        </p:spPr>
      </p:sp>
      <p:sp>
        <p:nvSpPr>
          <p:cNvPr id="11" name="Text 9"/>
          <p:cNvSpPr/>
          <p:nvPr/>
        </p:nvSpPr>
        <p:spPr>
          <a:xfrm>
            <a:off x="566928" y="28163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Brief all onboarding contacts on current vs. roadmap feature distinction</a:t>
            </a:r>
            <a:endParaRPr lang="en-US" sz="950" dirty="0"/>
          </a:p>
        </p:txBody>
      </p:sp>
      <p:sp>
        <p:nvSpPr>
          <p:cNvPr id="12" name="Shape 10"/>
          <p:cNvSpPr/>
          <p:nvPr/>
        </p:nvSpPr>
        <p:spPr>
          <a:xfrm>
            <a:off x="429768" y="3749040"/>
            <a:ext cx="54864" cy="658368"/>
          </a:xfrm>
          <a:prstGeom prst="rect">
            <a:avLst/>
          </a:prstGeom>
          <a:solidFill>
            <a:srgbClr val="387F6A"/>
          </a:solidFill>
          <a:ln w="12700">
            <a:solidFill>
              <a:srgbClr val="387F6A"/>
            </a:solidFill>
            <a:prstDash val="solid"/>
          </a:ln>
        </p:spPr>
      </p:sp>
      <p:sp>
        <p:nvSpPr>
          <p:cNvPr id="13" name="Text 11"/>
          <p:cNvSpPr/>
          <p:nvPr/>
        </p:nvSpPr>
        <p:spPr>
          <a:xfrm>
            <a:off x="566928" y="37307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Stop presenting future features as current during partner onboarding calls</a:t>
            </a:r>
            <a:endParaRPr lang="en-US" sz="950" dirty="0"/>
          </a:p>
        </p:txBody>
      </p:sp>
      <p:sp>
        <p:nvSpPr>
          <p:cNvPr id="14" name="Shape 12"/>
          <p:cNvSpPr/>
          <p:nvPr/>
        </p:nvSpPr>
        <p:spPr>
          <a:xfrm>
            <a:off x="3172968" y="1417320"/>
            <a:ext cx="2697480" cy="3291840"/>
          </a:xfrm>
          <a:prstGeom prst="rect">
            <a:avLst/>
          </a:prstGeom>
          <a:solidFill>
            <a:srgbClr val="FFFFFF">
              <a:alpha val="25000"/>
            </a:srgbClr>
          </a:solidFill>
          <a:ln w="12700">
            <a:solidFill>
              <a:srgbClr val="F0A02D"/>
            </a:solidFill>
            <a:prstDash val="solid"/>
          </a:ln>
        </p:spPr>
      </p:sp>
      <p:sp>
        <p:nvSpPr>
          <p:cNvPr id="15" name="Shape 13"/>
          <p:cNvSpPr/>
          <p:nvPr/>
        </p:nvSpPr>
        <p:spPr>
          <a:xfrm>
            <a:off x="3172968" y="1417320"/>
            <a:ext cx="2697480" cy="365760"/>
          </a:xfrm>
          <a:prstGeom prst="rect">
            <a:avLst/>
          </a:prstGeom>
          <a:solidFill>
            <a:srgbClr val="F0A02D"/>
          </a:solidFill>
          <a:ln w="12700">
            <a:solidFill>
              <a:srgbClr val="F0A02D"/>
            </a:solidFill>
            <a:prstDash val="solid"/>
          </a:ln>
        </p:spPr>
      </p:sp>
      <p:sp>
        <p:nvSpPr>
          <p:cNvPr id="16" name="Text 14"/>
          <p:cNvSpPr/>
          <p:nvPr/>
        </p:nvSpPr>
        <p:spPr>
          <a:xfrm>
            <a:off x="3172968" y="1417320"/>
            <a:ext cx="2697480" cy="36576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SHORT TERM</a:t>
            </a:r>
            <a:endParaRPr lang="en-US" sz="1000" dirty="0"/>
          </a:p>
        </p:txBody>
      </p:sp>
      <p:sp>
        <p:nvSpPr>
          <p:cNvPr id="17" name="Shape 15"/>
          <p:cNvSpPr/>
          <p:nvPr/>
        </p:nvSpPr>
        <p:spPr>
          <a:xfrm>
            <a:off x="3310128" y="1920240"/>
            <a:ext cx="54864" cy="658368"/>
          </a:xfrm>
          <a:prstGeom prst="rect">
            <a:avLst/>
          </a:prstGeom>
          <a:solidFill>
            <a:srgbClr val="F0A02D"/>
          </a:solidFill>
          <a:ln w="12700">
            <a:solidFill>
              <a:srgbClr val="F0A02D"/>
            </a:solidFill>
            <a:prstDash val="solid"/>
          </a:ln>
        </p:spPr>
      </p:sp>
      <p:sp>
        <p:nvSpPr>
          <p:cNvPr id="18" name="Text 16"/>
          <p:cNvSpPr/>
          <p:nvPr/>
        </p:nvSpPr>
        <p:spPr>
          <a:xfrm>
            <a:off x="3447288" y="19019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Formalise customer success roles with cross-team knowledge briefings</a:t>
            </a:r>
            <a:endParaRPr lang="en-US" sz="950" dirty="0"/>
          </a:p>
        </p:txBody>
      </p:sp>
      <p:sp>
        <p:nvSpPr>
          <p:cNvPr id="19" name="Shape 17"/>
          <p:cNvSpPr/>
          <p:nvPr/>
        </p:nvSpPr>
        <p:spPr>
          <a:xfrm>
            <a:off x="3310128" y="2834640"/>
            <a:ext cx="54864" cy="658368"/>
          </a:xfrm>
          <a:prstGeom prst="rect">
            <a:avLst/>
          </a:prstGeom>
          <a:solidFill>
            <a:srgbClr val="F0A02D"/>
          </a:solidFill>
          <a:ln w="12700">
            <a:solidFill>
              <a:srgbClr val="F0A02D"/>
            </a:solidFill>
            <a:prstDash val="solid"/>
          </a:ln>
        </p:spPr>
      </p:sp>
      <p:sp>
        <p:nvSpPr>
          <p:cNvPr id="20" name="Text 18"/>
          <p:cNvSpPr/>
          <p:nvPr/>
        </p:nvSpPr>
        <p:spPr>
          <a:xfrm>
            <a:off x="3447288" y="28163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Clarify and publish the reward issuance policy — who can fund rewards, and how</a:t>
            </a:r>
            <a:endParaRPr lang="en-US" sz="950" dirty="0"/>
          </a:p>
        </p:txBody>
      </p:sp>
      <p:sp>
        <p:nvSpPr>
          <p:cNvPr id="21" name="Shape 19"/>
          <p:cNvSpPr/>
          <p:nvPr/>
        </p:nvSpPr>
        <p:spPr>
          <a:xfrm>
            <a:off x="3310128" y="3749040"/>
            <a:ext cx="54864" cy="658368"/>
          </a:xfrm>
          <a:prstGeom prst="rect">
            <a:avLst/>
          </a:prstGeom>
          <a:solidFill>
            <a:srgbClr val="F0A02D"/>
          </a:solidFill>
          <a:ln w="12700">
            <a:solidFill>
              <a:srgbClr val="F0A02D"/>
            </a:solidFill>
            <a:prstDash val="solid"/>
          </a:ln>
        </p:spPr>
      </p:sp>
      <p:sp>
        <p:nvSpPr>
          <p:cNvPr id="22" name="Text 20"/>
          <p:cNvSpPr/>
          <p:nvPr/>
        </p:nvSpPr>
        <p:spPr>
          <a:xfrm>
            <a:off x="3447288" y="37307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Design and document a 3–6 month structured deployer onboarding programme</a:t>
            </a:r>
            <a:endParaRPr lang="en-US" sz="950" dirty="0"/>
          </a:p>
        </p:txBody>
      </p:sp>
      <p:sp>
        <p:nvSpPr>
          <p:cNvPr id="23" name="Shape 21"/>
          <p:cNvSpPr/>
          <p:nvPr/>
        </p:nvSpPr>
        <p:spPr>
          <a:xfrm>
            <a:off x="6053328" y="1417320"/>
            <a:ext cx="2697480" cy="3291840"/>
          </a:xfrm>
          <a:prstGeom prst="rect">
            <a:avLst/>
          </a:prstGeom>
          <a:solidFill>
            <a:srgbClr val="FFFFFF">
              <a:alpha val="25000"/>
            </a:srgbClr>
          </a:solidFill>
          <a:ln w="12700">
            <a:solidFill>
              <a:srgbClr val="51AFE9"/>
            </a:solidFill>
            <a:prstDash val="solid"/>
          </a:ln>
        </p:spPr>
      </p:sp>
      <p:sp>
        <p:nvSpPr>
          <p:cNvPr id="24" name="Shape 22"/>
          <p:cNvSpPr/>
          <p:nvPr/>
        </p:nvSpPr>
        <p:spPr>
          <a:xfrm>
            <a:off x="6053328" y="1417320"/>
            <a:ext cx="2697480" cy="365760"/>
          </a:xfrm>
          <a:prstGeom prst="rect">
            <a:avLst/>
          </a:prstGeom>
          <a:solidFill>
            <a:srgbClr val="51AFE9"/>
          </a:solidFill>
          <a:ln w="12700">
            <a:solidFill>
              <a:srgbClr val="51AFE9"/>
            </a:solidFill>
            <a:prstDash val="solid"/>
          </a:ln>
        </p:spPr>
      </p:sp>
      <p:sp>
        <p:nvSpPr>
          <p:cNvPr id="25" name="Text 23"/>
          <p:cNvSpPr/>
          <p:nvPr/>
        </p:nvSpPr>
        <p:spPr>
          <a:xfrm>
            <a:off x="6053328" y="1417320"/>
            <a:ext cx="2697480" cy="36576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ONGOING</a:t>
            </a:r>
            <a:endParaRPr lang="en-US" sz="1000" dirty="0"/>
          </a:p>
        </p:txBody>
      </p:sp>
      <p:sp>
        <p:nvSpPr>
          <p:cNvPr id="26" name="Shape 24"/>
          <p:cNvSpPr/>
          <p:nvPr/>
        </p:nvSpPr>
        <p:spPr>
          <a:xfrm>
            <a:off x="6190488" y="1920240"/>
            <a:ext cx="54864" cy="658368"/>
          </a:xfrm>
          <a:prstGeom prst="rect">
            <a:avLst/>
          </a:prstGeom>
          <a:solidFill>
            <a:srgbClr val="51AFE9"/>
          </a:solidFill>
          <a:ln w="12700">
            <a:solidFill>
              <a:srgbClr val="51AFE9"/>
            </a:solidFill>
            <a:prstDash val="solid"/>
          </a:ln>
        </p:spPr>
      </p:sp>
      <p:sp>
        <p:nvSpPr>
          <p:cNvPr id="27" name="Text 25"/>
          <p:cNvSpPr/>
          <p:nvPr/>
        </p:nvSpPr>
        <p:spPr>
          <a:xfrm>
            <a:off x="6327648" y="19019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Build a shared cross-team knowledge base spanning RLabs, Zlto, UNICEF, IDX</a:t>
            </a:r>
            <a:endParaRPr lang="en-US" sz="950" dirty="0"/>
          </a:p>
        </p:txBody>
      </p:sp>
      <p:sp>
        <p:nvSpPr>
          <p:cNvPr id="28" name="Shape 26"/>
          <p:cNvSpPr/>
          <p:nvPr/>
        </p:nvSpPr>
        <p:spPr>
          <a:xfrm>
            <a:off x="6190488" y="2834640"/>
            <a:ext cx="54864" cy="658368"/>
          </a:xfrm>
          <a:prstGeom prst="rect">
            <a:avLst/>
          </a:prstGeom>
          <a:solidFill>
            <a:srgbClr val="51AFE9"/>
          </a:solidFill>
          <a:ln w="12700">
            <a:solidFill>
              <a:srgbClr val="51AFE9"/>
            </a:solidFill>
            <a:prstDash val="solid"/>
          </a:ln>
        </p:spPr>
      </p:sp>
      <p:sp>
        <p:nvSpPr>
          <p:cNvPr id="29" name="Text 27"/>
          <p:cNvSpPr/>
          <p:nvPr/>
        </p:nvSpPr>
        <p:spPr>
          <a:xfrm>
            <a:off x="6327648" y="28163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Develop youth acquisition and engagement guidance as a first-class resource</a:t>
            </a:r>
            <a:endParaRPr lang="en-US" sz="950" dirty="0"/>
          </a:p>
        </p:txBody>
      </p:sp>
      <p:sp>
        <p:nvSpPr>
          <p:cNvPr id="30" name="Shape 28"/>
          <p:cNvSpPr/>
          <p:nvPr/>
        </p:nvSpPr>
        <p:spPr>
          <a:xfrm>
            <a:off x="6190488" y="3749040"/>
            <a:ext cx="54864" cy="658368"/>
          </a:xfrm>
          <a:prstGeom prst="rect">
            <a:avLst/>
          </a:prstGeom>
          <a:solidFill>
            <a:srgbClr val="51AFE9"/>
          </a:solidFill>
          <a:ln w="12700">
            <a:solidFill>
              <a:srgbClr val="51AFE9"/>
            </a:solidFill>
            <a:prstDash val="solid"/>
          </a:ln>
        </p:spPr>
      </p:sp>
      <p:sp>
        <p:nvSpPr>
          <p:cNvPr id="31" name="Text 29"/>
          <p:cNvSpPr/>
          <p:nvPr/>
        </p:nvSpPr>
        <p:spPr>
          <a:xfrm>
            <a:off x="6327648" y="3730752"/>
            <a:ext cx="2286000" cy="749808"/>
          </a:xfrm>
          <a:prstGeom prst="rect">
            <a:avLst/>
          </a:prstGeom>
          <a:noFill/>
          <a:ln/>
        </p:spPr>
        <p:txBody>
          <a:bodyPr wrap="square" lIns="0" tIns="0" rIns="0" bIns="0" rtlCol="0" anchor="t"/>
          <a:lstStyle/>
          <a:p>
            <a:pPr algn="l" indent="0" marL="0">
              <a:buNone/>
            </a:pPr>
            <a:r>
              <a:rPr lang="en-US" sz="950" dirty="0">
                <a:solidFill>
                  <a:srgbClr val="C0C0C0"/>
                </a:solidFill>
                <a:latin typeface="Calibri" pitchFamily="34" charset="0"/>
                <a:ea typeface="Calibri" pitchFamily="34" charset="-122"/>
                <a:cs typeface="Calibri" pitchFamily="34" charset="-120"/>
              </a:rPr>
              <a:t>Proactively design operational frameworks for YoID and Impact Marketplace ahead of launch</a:t>
            </a:r>
            <a:endParaRPr lang="en-US" sz="950" dirty="0"/>
          </a:p>
        </p:txBody>
      </p:sp>
      <p:sp>
        <p:nvSpPr>
          <p:cNvPr id="32" name="Shape 30"/>
          <p:cNvSpPr/>
          <p:nvPr/>
        </p:nvSpPr>
        <p:spPr>
          <a:xfrm>
            <a:off x="0" y="4892040"/>
            <a:ext cx="9144000" cy="251460"/>
          </a:xfrm>
          <a:prstGeom prst="rect">
            <a:avLst/>
          </a:prstGeom>
          <a:solidFill>
            <a:srgbClr val="020304"/>
          </a:solidFill>
          <a:ln w="12700">
            <a:solidFill>
              <a:srgbClr val="020304"/>
            </a:solidFill>
            <a:prstDash val="solid"/>
          </a:ln>
        </p:spPr>
      </p:sp>
      <p:sp>
        <p:nvSpPr>
          <p:cNvPr id="33" name="Text 31"/>
          <p:cNvSpPr/>
          <p:nvPr/>
        </p:nvSpPr>
        <p:spPr>
          <a:xfrm>
            <a:off x="292608" y="4892040"/>
            <a:ext cx="8595360" cy="251460"/>
          </a:xfrm>
          <a:prstGeom prst="rect">
            <a:avLst/>
          </a:prstGeom>
          <a:noFill/>
          <a:ln/>
        </p:spPr>
        <p:txBody>
          <a:bodyPr wrap="square" lIns="0" tIns="0" rIns="0" bIns="0" rtlCol="0" anchor="ctr"/>
          <a:lstStyle/>
          <a:p>
            <a:pPr algn="l" indent="0" marL="0">
              <a:buNone/>
            </a:pPr>
            <a:r>
              <a:rPr lang="en-US" sz="800" dirty="0">
                <a:solidFill>
                  <a:srgbClr val="737373"/>
                </a:solidFill>
                <a:latin typeface="Calibri" pitchFamily="34" charset="0"/>
                <a:ea typeface="Calibri" pitchFamily="34" charset="-122"/>
                <a:cs typeface="Calibri" pitchFamily="34" charset="-120"/>
              </a:rPr>
              <a:t>Yoma Operational Diagnostics  ·  A structured analysis for implementing organisations, funders, and platform partners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Yoma Operational Diagnostics</dc:title>
  <dc:subject>PptxGenJS Presentation</dc:subject>
  <dc:creator>PptxGenJS</dc:creator>
  <cp:lastModifiedBy>PptxGenJS</cp:lastModifiedBy>
  <cp:revision>1</cp:revision>
  <dcterms:created xsi:type="dcterms:W3CDTF">2026-03-09T12:01:03Z</dcterms:created>
  <dcterms:modified xsi:type="dcterms:W3CDTF">2026-03-09T12:01:03Z</dcterms:modified>
</cp:coreProperties>
</file>