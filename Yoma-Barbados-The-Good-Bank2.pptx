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1204B"/>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FC4D56"/>
          </a:solidFill>
          <a:ln w="12700">
            <a:solidFill>
              <a:srgbClr val="FC4D56"/>
            </a:solidFill>
            <a:prstDash val="solid"/>
          </a:ln>
        </p:spPr>
      </p:sp>
      <p:sp>
        <p:nvSpPr>
          <p:cNvPr id="3" name="Shape 1"/>
          <p:cNvSpPr/>
          <p:nvPr/>
        </p:nvSpPr>
        <p:spPr>
          <a:xfrm>
            <a:off x="0" y="82296"/>
            <a:ext cx="411480" cy="5061204"/>
          </a:xfrm>
          <a:prstGeom prst="rect">
            <a:avLst/>
          </a:prstGeom>
          <a:solidFill>
            <a:srgbClr val="387F6A"/>
          </a:solidFill>
          <a:ln w="12700">
            <a:solidFill>
              <a:srgbClr val="387F6A"/>
            </a:solidFill>
            <a:prstDash val="solid"/>
          </a:ln>
        </p:spPr>
      </p:sp>
      <p:sp>
        <p:nvSpPr>
          <p:cNvPr id="4" name="Shape 2"/>
          <p:cNvSpPr/>
          <p:nvPr/>
        </p:nvSpPr>
        <p:spPr>
          <a:xfrm>
            <a:off x="6903720" y="1188720"/>
            <a:ext cx="2240280" cy="2240280"/>
          </a:xfrm>
          <a:prstGeom prst="rect">
            <a:avLst/>
          </a:prstGeom>
          <a:solidFill>
            <a:srgbClr val="FC4D56">
              <a:alpha val="12000"/>
            </a:srgbClr>
          </a:solidFill>
          <a:ln w="12700">
            <a:solidFill>
              <a:srgbClr val="FC4D56">
                <a:alpha val="35000"/>
              </a:srgbClr>
            </a:solidFill>
            <a:prstDash val="solid"/>
          </a:ln>
        </p:spPr>
      </p:sp>
      <p:sp>
        <p:nvSpPr>
          <p:cNvPr id="5" name="Shape 3"/>
          <p:cNvSpPr/>
          <p:nvPr/>
        </p:nvSpPr>
        <p:spPr>
          <a:xfrm>
            <a:off x="7406640" y="1691640"/>
            <a:ext cx="1645920" cy="1645920"/>
          </a:xfrm>
          <a:prstGeom prst="rect">
            <a:avLst/>
          </a:prstGeom>
          <a:solidFill>
            <a:srgbClr val="51AFE9">
              <a:alpha val="12000"/>
            </a:srgbClr>
          </a:solidFill>
          <a:ln w="12700">
            <a:solidFill>
              <a:srgbClr val="51AFE9">
                <a:alpha val="35000"/>
              </a:srgbClr>
            </a:solidFill>
            <a:prstDash val="solid"/>
          </a:ln>
        </p:spPr>
      </p:sp>
      <p:sp>
        <p:nvSpPr>
          <p:cNvPr id="6" name="Text 4"/>
          <p:cNvSpPr/>
          <p:nvPr/>
        </p:nvSpPr>
        <p:spPr>
          <a:xfrm>
            <a:off x="594360" y="1005840"/>
            <a:ext cx="6400800" cy="320040"/>
          </a:xfrm>
          <a:prstGeom prst="rect">
            <a:avLst/>
          </a:prstGeom>
          <a:noFill/>
          <a:ln/>
        </p:spPr>
        <p:txBody>
          <a:bodyPr wrap="square" lIns="0" tIns="0" rIns="0" bIns="0" rtlCol="0" anchor="ctr"/>
          <a:lstStyle/>
          <a:p>
            <a:pPr algn="l" indent="0" marL="0">
              <a:buNone/>
            </a:pPr>
            <a:r>
              <a:rPr lang="en-US" sz="1000" b="1" spc="300" kern="0" dirty="0">
                <a:solidFill>
                  <a:srgbClr val="FC4D56"/>
                </a:solidFill>
                <a:latin typeface="Calibri" pitchFamily="34" charset="0"/>
                <a:ea typeface="Calibri" pitchFamily="34" charset="-122"/>
                <a:cs typeface="Calibri" pitchFamily="34" charset="-120"/>
              </a:rPr>
              <a:t>FUTUREBARBADOS  ×  YOMA</a:t>
            </a:r>
            <a:endParaRPr lang="en-US" sz="1000" dirty="0"/>
          </a:p>
        </p:txBody>
      </p:sp>
      <p:sp>
        <p:nvSpPr>
          <p:cNvPr id="7" name="Text 5"/>
          <p:cNvSpPr/>
          <p:nvPr/>
        </p:nvSpPr>
        <p:spPr>
          <a:xfrm>
            <a:off x="594360" y="1417320"/>
            <a:ext cx="6858000" cy="1234440"/>
          </a:xfrm>
          <a:prstGeom prst="rect">
            <a:avLst/>
          </a:prstGeom>
          <a:noFill/>
          <a:ln/>
        </p:spPr>
        <p:txBody>
          <a:bodyPr wrap="square" lIns="0" tIns="0" rIns="0" bIns="0" rtlCol="0" anchor="t"/>
          <a:lstStyle/>
          <a:p>
            <a:pPr algn="l" indent="0" marL="0">
              <a:buNone/>
            </a:pPr>
            <a:r>
              <a:rPr lang="en-US" sz="5200" b="1" dirty="0">
                <a:solidFill>
                  <a:srgbClr val="FFFFFF"/>
                </a:solidFill>
                <a:latin typeface="Calibri" pitchFamily="34" charset="0"/>
                <a:ea typeface="Calibri" pitchFamily="34" charset="-122"/>
                <a:cs typeface="Calibri" pitchFamily="34" charset="-120"/>
              </a:rPr>
              <a:t>The Good Bank</a:t>
            </a:r>
            <a:endParaRPr lang="en-US" sz="5200" dirty="0"/>
          </a:p>
        </p:txBody>
      </p:sp>
      <p:sp>
        <p:nvSpPr>
          <p:cNvPr id="8" name="Text 6"/>
          <p:cNvSpPr/>
          <p:nvPr/>
        </p:nvSpPr>
        <p:spPr>
          <a:xfrm>
            <a:off x="594360" y="2743200"/>
            <a:ext cx="6400800" cy="822960"/>
          </a:xfrm>
          <a:prstGeom prst="rect">
            <a:avLst/>
          </a:prstGeom>
          <a:noFill/>
          <a:ln/>
        </p:spPr>
        <p:txBody>
          <a:bodyPr wrap="square" lIns="0" tIns="0" rIns="0" bIns="0" rtlCol="0" anchor="ctr"/>
          <a:lstStyle/>
          <a:p>
            <a:pPr algn="l" indent="0" marL="0">
              <a:buNone/>
            </a:pPr>
            <a:r>
              <a:rPr lang="en-US" sz="1350" dirty="0">
                <a:solidFill>
                  <a:srgbClr val="C0C0C0"/>
                </a:solidFill>
                <a:latin typeface="Calibri" pitchFamily="34" charset="0"/>
                <a:ea typeface="Calibri" pitchFamily="34" charset="-122"/>
                <a:cs typeface="Calibri" pitchFamily="34" charset="-120"/>
              </a:rPr>
              <a:t>A briefing on what Yoma can do for Barbados —</a:t>
            </a:r>
            <a:endParaRPr lang="en-US" sz="1350" dirty="0"/>
          </a:p>
          <a:p>
            <a:pPr algn="l" indent="0" marL="0">
              <a:buNone/>
            </a:pPr>
            <a:r>
              <a:rPr lang="en-US" sz="1350" dirty="0">
                <a:solidFill>
                  <a:srgbClr val="C0C0C0"/>
                </a:solidFill>
                <a:latin typeface="Calibri" pitchFamily="34" charset="0"/>
                <a:ea typeface="Calibri" pitchFamily="34" charset="-122"/>
                <a:cs typeface="Calibri" pitchFamily="34" charset="-120"/>
              </a:rPr>
              <a:t>what it costs, how it's supported, and what it takes to make it work.</a:t>
            </a:r>
            <a:endParaRPr lang="en-US" sz="1350" dirty="0"/>
          </a:p>
        </p:txBody>
      </p:sp>
      <p:sp>
        <p:nvSpPr>
          <p:cNvPr id="9" name="Shape 7"/>
          <p:cNvSpPr/>
          <p:nvPr/>
        </p:nvSpPr>
        <p:spPr>
          <a:xfrm>
            <a:off x="411480" y="4617720"/>
            <a:ext cx="8732520" cy="384048"/>
          </a:xfrm>
          <a:prstGeom prst="rect">
            <a:avLst/>
          </a:prstGeom>
          <a:solidFill>
            <a:srgbClr val="FFFFFF">
              <a:alpha val="10000"/>
            </a:srgbClr>
          </a:solidFill>
          <a:ln w="12700">
            <a:solidFill>
              <a:srgbClr val="FFFFFF">
                <a:alpha val="20000"/>
              </a:srgbClr>
            </a:solidFill>
            <a:prstDash val="solid"/>
          </a:ln>
        </p:spPr>
      </p:sp>
      <p:sp>
        <p:nvSpPr>
          <p:cNvPr id="10" name="Text 8"/>
          <p:cNvSpPr/>
          <p:nvPr/>
        </p:nvSpPr>
        <p:spPr>
          <a:xfrm>
            <a:off x="594360" y="4617720"/>
            <a:ext cx="8229600" cy="384048"/>
          </a:xfrm>
          <a:prstGeom prst="rect">
            <a:avLst/>
          </a:prstGeom>
          <a:noFill/>
          <a:ln/>
        </p:spPr>
        <p:txBody>
          <a:bodyPr wrap="square" lIns="0" tIns="0" rIns="0" bIns="0" rtlCol="0" anchor="ctr"/>
          <a:lstStyle/>
          <a:p>
            <a:pPr algn="l" indent="0" marL="0">
              <a:buNone/>
            </a:pPr>
            <a:r>
              <a:rPr lang="en-US" sz="900" dirty="0">
                <a:solidFill>
                  <a:srgbClr val="737373"/>
                </a:solidFill>
                <a:latin typeface="Calibri" pitchFamily="34" charset="0"/>
                <a:ea typeface="Calibri" pitchFamily="34" charset="-122"/>
                <a:cs typeface="Calibri" pitchFamily="34" charset="-120"/>
              </a:rPr>
              <a:t>FutureBARBADOS  ·  The Good Bank Platform Briefing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41204B"/>
          </a:solidFill>
          <a:ln w="12700">
            <a:solidFill>
              <a:srgbClr val="41204B"/>
            </a:solidFill>
            <a:prstDash val="solid"/>
          </a:ln>
        </p:spPr>
      </p:sp>
      <p:sp>
        <p:nvSpPr>
          <p:cNvPr id="3" name="Shape 1"/>
          <p:cNvSpPr/>
          <p:nvPr/>
        </p:nvSpPr>
        <p:spPr>
          <a:xfrm>
            <a:off x="347472" y="0"/>
            <a:ext cx="8796528" cy="640080"/>
          </a:xfrm>
          <a:prstGeom prst="rect">
            <a:avLst/>
          </a:prstGeom>
          <a:solidFill>
            <a:srgbClr val="41204B"/>
          </a:solidFill>
          <a:ln w="12700">
            <a:solidFill>
              <a:srgbClr val="41204B"/>
            </a:solidFill>
            <a:prstDash val="solid"/>
          </a:ln>
        </p:spPr>
      </p:sp>
      <p:sp>
        <p:nvSpPr>
          <p:cNvPr id="4" name="Text 2"/>
          <p:cNvSpPr/>
          <p:nvPr/>
        </p:nvSpPr>
        <p:spPr>
          <a:xfrm>
            <a:off x="548640" y="0"/>
            <a:ext cx="7315200" cy="640080"/>
          </a:xfrm>
          <a:prstGeom prst="rect">
            <a:avLst/>
          </a:prstGeom>
          <a:noFill/>
          <a:ln/>
        </p:spPr>
        <p:txBody>
          <a:bodyPr wrap="square" lIns="0" tIns="0" rIns="0" bIns="0" rtlCol="0" anchor="ctr"/>
          <a:lstStyle/>
          <a:p>
            <a:pPr algn="l" indent="0" marL="0">
              <a:buNone/>
            </a:pPr>
            <a:r>
              <a:rPr lang="en-US" sz="2200" b="1" spc="400" kern="0" dirty="0">
                <a:solidFill>
                  <a:srgbClr val="FFFFFF"/>
                </a:solidFill>
                <a:latin typeface="Calibri" pitchFamily="34" charset="0"/>
                <a:ea typeface="Calibri" pitchFamily="34" charset="-122"/>
                <a:cs typeface="Calibri" pitchFamily="34" charset="-120"/>
              </a:rPr>
              <a:t>AGENDA</a:t>
            </a:r>
            <a:endParaRPr lang="en-US" sz="2200" dirty="0"/>
          </a:p>
        </p:txBody>
      </p:sp>
      <p:sp>
        <p:nvSpPr>
          <p:cNvPr id="5" name="Shape 3"/>
          <p:cNvSpPr/>
          <p:nvPr/>
        </p:nvSpPr>
        <p:spPr>
          <a:xfrm>
            <a:off x="4663440" y="777240"/>
            <a:ext cx="18288" cy="4114800"/>
          </a:xfrm>
          <a:prstGeom prst="rect">
            <a:avLst/>
          </a:prstGeom>
          <a:solidFill>
            <a:srgbClr val="E0E0E0"/>
          </a:solidFill>
          <a:ln w="12700">
            <a:solidFill>
              <a:srgbClr val="E0E0E0"/>
            </a:solidFill>
            <a:prstDash val="solid"/>
          </a:ln>
        </p:spPr>
      </p:sp>
      <p:sp>
        <p:nvSpPr>
          <p:cNvPr id="6" name="Shape 4"/>
          <p:cNvSpPr/>
          <p:nvPr/>
        </p:nvSpPr>
        <p:spPr>
          <a:xfrm>
            <a:off x="457200" y="832104"/>
            <a:ext cx="402336" cy="402336"/>
          </a:xfrm>
          <a:prstGeom prst="rect">
            <a:avLst/>
          </a:prstGeom>
          <a:solidFill>
            <a:srgbClr val="387F6A"/>
          </a:solidFill>
          <a:ln w="12700">
            <a:solidFill>
              <a:srgbClr val="387F6A"/>
            </a:solidFill>
            <a:prstDash val="solid"/>
          </a:ln>
        </p:spPr>
      </p:sp>
      <p:sp>
        <p:nvSpPr>
          <p:cNvPr id="7" name="Text 5"/>
          <p:cNvSpPr/>
          <p:nvPr/>
        </p:nvSpPr>
        <p:spPr>
          <a:xfrm>
            <a:off x="457200" y="83210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950976" y="832104"/>
            <a:ext cx="3602736" cy="402336"/>
          </a:xfrm>
          <a:prstGeom prst="rect">
            <a:avLst/>
          </a:prstGeom>
          <a:noFill/>
          <a:ln/>
        </p:spPr>
        <p:txBody>
          <a:bodyPr wrap="square" lIns="0" tIns="0" rIns="0" bIns="0" rtlCol="0" anchor="ctr"/>
          <a:lstStyle/>
          <a:p>
            <a:pPr algn="l" indent="0" marL="0">
              <a:buNone/>
            </a:pPr>
            <a:r>
              <a:rPr lang="en-US" sz="1200" b="1" dirty="0">
                <a:solidFill>
                  <a:srgbClr val="020304"/>
                </a:solidFill>
                <a:latin typeface="Calibri" pitchFamily="34" charset="0"/>
                <a:ea typeface="Calibri" pitchFamily="34" charset="-122"/>
                <a:cs typeface="Calibri" pitchFamily="34" charset="-120"/>
              </a:rPr>
              <a:t>Flow Chart  ·  5 min</a:t>
            </a:r>
            <a:endParaRPr lang="en-US" sz="1200" dirty="0"/>
          </a:p>
        </p:txBody>
      </p:sp>
      <p:sp>
        <p:nvSpPr>
          <p:cNvPr id="9" name="Text 7"/>
          <p:cNvSpPr/>
          <p:nvPr/>
        </p:nvSpPr>
        <p:spPr>
          <a:xfrm>
            <a:off x="950976" y="1298448"/>
            <a:ext cx="3602736" cy="749808"/>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End-to-end journey: how Yoma works for youth, opportunity partners, and reward partners</a:t>
            </a:r>
            <a:endParaRPr lang="en-US" sz="950" dirty="0"/>
          </a:p>
        </p:txBody>
      </p:sp>
      <p:sp>
        <p:nvSpPr>
          <p:cNvPr id="10" name="Shape 8"/>
          <p:cNvSpPr/>
          <p:nvPr/>
        </p:nvSpPr>
        <p:spPr>
          <a:xfrm>
            <a:off x="457200" y="2075688"/>
            <a:ext cx="4133088" cy="18288"/>
          </a:xfrm>
          <a:prstGeom prst="rect">
            <a:avLst/>
          </a:prstGeom>
          <a:solidFill>
            <a:srgbClr val="E8E8E8"/>
          </a:solidFill>
          <a:ln w="12700">
            <a:solidFill>
              <a:srgbClr val="E8E8E8"/>
            </a:solidFill>
            <a:prstDash val="solid"/>
          </a:ln>
        </p:spPr>
      </p:sp>
      <p:sp>
        <p:nvSpPr>
          <p:cNvPr id="11" name="Shape 9"/>
          <p:cNvSpPr/>
          <p:nvPr/>
        </p:nvSpPr>
        <p:spPr>
          <a:xfrm>
            <a:off x="457200" y="2167128"/>
            <a:ext cx="402336" cy="402336"/>
          </a:xfrm>
          <a:prstGeom prst="rect">
            <a:avLst/>
          </a:prstGeom>
          <a:solidFill>
            <a:srgbClr val="51AFE9"/>
          </a:solidFill>
          <a:ln w="12700">
            <a:solidFill>
              <a:srgbClr val="51AFE9"/>
            </a:solidFill>
            <a:prstDash val="solid"/>
          </a:ln>
        </p:spPr>
      </p:sp>
      <p:sp>
        <p:nvSpPr>
          <p:cNvPr id="12" name="Text 10"/>
          <p:cNvSpPr/>
          <p:nvPr/>
        </p:nvSpPr>
        <p:spPr>
          <a:xfrm>
            <a:off x="457200" y="2167128"/>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950976" y="2167128"/>
            <a:ext cx="3602736" cy="402336"/>
          </a:xfrm>
          <a:prstGeom prst="rect">
            <a:avLst/>
          </a:prstGeom>
          <a:noFill/>
          <a:ln/>
        </p:spPr>
        <p:txBody>
          <a:bodyPr wrap="square" lIns="0" tIns="0" rIns="0" bIns="0" rtlCol="0" anchor="ctr"/>
          <a:lstStyle/>
          <a:p>
            <a:pPr algn="l" indent="0" marL="0">
              <a:buNone/>
            </a:pPr>
            <a:r>
              <a:rPr lang="en-US" sz="1200" b="1" dirty="0">
                <a:solidFill>
                  <a:srgbClr val="020304"/>
                </a:solidFill>
                <a:latin typeface="Calibri" pitchFamily="34" charset="0"/>
                <a:ea typeface="Calibri" pitchFamily="34" charset="-122"/>
                <a:cs typeface="Calibri" pitchFamily="34" charset="-120"/>
              </a:rPr>
              <a:t>Demo  ·  5 min</a:t>
            </a:r>
            <a:endParaRPr lang="en-US" sz="1200" dirty="0"/>
          </a:p>
        </p:txBody>
      </p:sp>
      <p:sp>
        <p:nvSpPr>
          <p:cNvPr id="14" name="Text 12"/>
          <p:cNvSpPr/>
          <p:nvPr/>
        </p:nvSpPr>
        <p:spPr>
          <a:xfrm>
            <a:off x="950976" y="2633472"/>
            <a:ext cx="3602736" cy="749808"/>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Registering for an opportunity</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Redeeming Zlto for rewards</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Different ways of redeeming</a:t>
            </a:r>
            <a:endParaRPr lang="en-US" sz="950" dirty="0"/>
          </a:p>
        </p:txBody>
      </p:sp>
      <p:sp>
        <p:nvSpPr>
          <p:cNvPr id="15" name="Shape 13"/>
          <p:cNvSpPr/>
          <p:nvPr/>
        </p:nvSpPr>
        <p:spPr>
          <a:xfrm>
            <a:off x="457200" y="3410712"/>
            <a:ext cx="4133088" cy="18288"/>
          </a:xfrm>
          <a:prstGeom prst="rect">
            <a:avLst/>
          </a:prstGeom>
          <a:solidFill>
            <a:srgbClr val="E8E8E8"/>
          </a:solidFill>
          <a:ln w="12700">
            <a:solidFill>
              <a:srgbClr val="E8E8E8"/>
            </a:solidFill>
            <a:prstDash val="solid"/>
          </a:ln>
        </p:spPr>
      </p:sp>
      <p:sp>
        <p:nvSpPr>
          <p:cNvPr id="16" name="Shape 14"/>
          <p:cNvSpPr/>
          <p:nvPr/>
        </p:nvSpPr>
        <p:spPr>
          <a:xfrm>
            <a:off x="457200" y="3502152"/>
            <a:ext cx="402336" cy="402336"/>
          </a:xfrm>
          <a:prstGeom prst="rect">
            <a:avLst/>
          </a:prstGeom>
          <a:solidFill>
            <a:srgbClr val="F0A02D"/>
          </a:solidFill>
          <a:ln w="12700">
            <a:solidFill>
              <a:srgbClr val="F0A02D"/>
            </a:solidFill>
            <a:prstDash val="solid"/>
          </a:ln>
        </p:spPr>
      </p:sp>
      <p:sp>
        <p:nvSpPr>
          <p:cNvPr id="17" name="Text 15"/>
          <p:cNvSpPr/>
          <p:nvPr/>
        </p:nvSpPr>
        <p:spPr>
          <a:xfrm>
            <a:off x="457200" y="3502152"/>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8" name="Text 16"/>
          <p:cNvSpPr/>
          <p:nvPr/>
        </p:nvSpPr>
        <p:spPr>
          <a:xfrm>
            <a:off x="950976" y="3502152"/>
            <a:ext cx="3602736" cy="402336"/>
          </a:xfrm>
          <a:prstGeom prst="rect">
            <a:avLst/>
          </a:prstGeom>
          <a:noFill/>
          <a:ln/>
        </p:spPr>
        <p:txBody>
          <a:bodyPr wrap="square" lIns="0" tIns="0" rIns="0" bIns="0" rtlCol="0" anchor="ctr"/>
          <a:lstStyle/>
          <a:p>
            <a:pPr algn="l" indent="0" marL="0">
              <a:buNone/>
            </a:pPr>
            <a:r>
              <a:rPr lang="en-US" sz="1200" b="1" dirty="0">
                <a:solidFill>
                  <a:srgbClr val="020304"/>
                </a:solidFill>
                <a:latin typeface="Calibri" pitchFamily="34" charset="0"/>
                <a:ea typeface="Calibri" pitchFamily="34" charset="-122"/>
                <a:cs typeface="Calibri" pitchFamily="34" charset="-120"/>
              </a:rPr>
              <a:t>Costs</a:t>
            </a:r>
            <a:endParaRPr lang="en-US" sz="1200" dirty="0"/>
          </a:p>
        </p:txBody>
      </p:sp>
      <p:sp>
        <p:nvSpPr>
          <p:cNvPr id="19" name="Text 17"/>
          <p:cNvSpPr/>
          <p:nvPr/>
        </p:nvSpPr>
        <p:spPr>
          <a:xfrm>
            <a:off x="950976" y="3968496"/>
            <a:ext cx="3602736" cy="749808"/>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Licensing fee — the cost to use the platform</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Costs for developing additional features</a:t>
            </a:r>
            <a:endParaRPr lang="en-US" sz="950" dirty="0"/>
          </a:p>
        </p:txBody>
      </p:sp>
      <p:sp>
        <p:nvSpPr>
          <p:cNvPr id="20" name="Shape 18"/>
          <p:cNvSpPr/>
          <p:nvPr/>
        </p:nvSpPr>
        <p:spPr>
          <a:xfrm>
            <a:off x="4828032" y="832104"/>
            <a:ext cx="402336" cy="402336"/>
          </a:xfrm>
          <a:prstGeom prst="rect">
            <a:avLst/>
          </a:prstGeom>
          <a:solidFill>
            <a:srgbClr val="FC4D56"/>
          </a:solidFill>
          <a:ln w="12700">
            <a:solidFill>
              <a:srgbClr val="FC4D56"/>
            </a:solidFill>
            <a:prstDash val="solid"/>
          </a:ln>
        </p:spPr>
      </p:sp>
      <p:sp>
        <p:nvSpPr>
          <p:cNvPr id="21" name="Text 19"/>
          <p:cNvSpPr/>
          <p:nvPr/>
        </p:nvSpPr>
        <p:spPr>
          <a:xfrm>
            <a:off x="4828032" y="83210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2" name="Text 20"/>
          <p:cNvSpPr/>
          <p:nvPr/>
        </p:nvSpPr>
        <p:spPr>
          <a:xfrm>
            <a:off x="5321808" y="832104"/>
            <a:ext cx="3602736" cy="402336"/>
          </a:xfrm>
          <a:prstGeom prst="rect">
            <a:avLst/>
          </a:prstGeom>
          <a:noFill/>
          <a:ln/>
        </p:spPr>
        <p:txBody>
          <a:bodyPr wrap="square" lIns="0" tIns="0" rIns="0" bIns="0" rtlCol="0" anchor="ctr"/>
          <a:lstStyle/>
          <a:p>
            <a:pPr algn="l" indent="0" marL="0">
              <a:buNone/>
            </a:pPr>
            <a:r>
              <a:rPr lang="en-US" sz="1200" b="1" dirty="0">
                <a:solidFill>
                  <a:srgbClr val="020304"/>
                </a:solidFill>
                <a:latin typeface="Calibri" pitchFamily="34" charset="0"/>
                <a:ea typeface="Calibri" pitchFamily="34" charset="-122"/>
                <a:cs typeface="Calibri" pitchFamily="34" charset="-120"/>
              </a:rPr>
              <a:t>Team Support</a:t>
            </a:r>
            <a:endParaRPr lang="en-US" sz="1200" dirty="0"/>
          </a:p>
        </p:txBody>
      </p:sp>
      <p:sp>
        <p:nvSpPr>
          <p:cNvPr id="23" name="Text 21"/>
          <p:cNvSpPr/>
          <p:nvPr/>
        </p:nvSpPr>
        <p:spPr>
          <a:xfrm>
            <a:off x="5321808" y="1298448"/>
            <a:ext cx="3602736" cy="749808"/>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The Train-the-Trainer model</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Best practices from other Yoma deployments</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SLA: how Yoma will support Barbados and the Good Bank</a:t>
            </a:r>
            <a:endParaRPr lang="en-US" sz="950" dirty="0"/>
          </a:p>
        </p:txBody>
      </p:sp>
      <p:sp>
        <p:nvSpPr>
          <p:cNvPr id="24" name="Shape 22"/>
          <p:cNvSpPr/>
          <p:nvPr/>
        </p:nvSpPr>
        <p:spPr>
          <a:xfrm>
            <a:off x="4828032" y="2075688"/>
            <a:ext cx="4133088" cy="18288"/>
          </a:xfrm>
          <a:prstGeom prst="rect">
            <a:avLst/>
          </a:prstGeom>
          <a:solidFill>
            <a:srgbClr val="E8E8E8"/>
          </a:solidFill>
          <a:ln w="12700">
            <a:solidFill>
              <a:srgbClr val="E8E8E8"/>
            </a:solidFill>
            <a:prstDash val="solid"/>
          </a:ln>
        </p:spPr>
      </p:sp>
      <p:sp>
        <p:nvSpPr>
          <p:cNvPr id="25" name="Shape 23"/>
          <p:cNvSpPr/>
          <p:nvPr/>
        </p:nvSpPr>
        <p:spPr>
          <a:xfrm>
            <a:off x="4828032" y="2167128"/>
            <a:ext cx="402336" cy="402336"/>
          </a:xfrm>
          <a:prstGeom prst="rect">
            <a:avLst/>
          </a:prstGeom>
          <a:solidFill>
            <a:srgbClr val="41204B"/>
          </a:solidFill>
          <a:ln w="12700">
            <a:solidFill>
              <a:srgbClr val="41204B"/>
            </a:solidFill>
            <a:prstDash val="solid"/>
          </a:ln>
        </p:spPr>
      </p:sp>
      <p:sp>
        <p:nvSpPr>
          <p:cNvPr id="26" name="Text 24"/>
          <p:cNvSpPr/>
          <p:nvPr/>
        </p:nvSpPr>
        <p:spPr>
          <a:xfrm>
            <a:off x="4828032" y="2167128"/>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7" name="Text 25"/>
          <p:cNvSpPr/>
          <p:nvPr/>
        </p:nvSpPr>
        <p:spPr>
          <a:xfrm>
            <a:off x="5321808" y="2167128"/>
            <a:ext cx="3602736" cy="402336"/>
          </a:xfrm>
          <a:prstGeom prst="rect">
            <a:avLst/>
          </a:prstGeom>
          <a:noFill/>
          <a:ln/>
        </p:spPr>
        <p:txBody>
          <a:bodyPr wrap="square" lIns="0" tIns="0" rIns="0" bIns="0" rtlCol="0" anchor="ctr"/>
          <a:lstStyle/>
          <a:p>
            <a:pPr algn="l" indent="0" marL="0">
              <a:buNone/>
            </a:pPr>
            <a:r>
              <a:rPr lang="en-US" sz="1200" b="1" dirty="0">
                <a:solidFill>
                  <a:srgbClr val="020304"/>
                </a:solidFill>
                <a:latin typeface="Calibri" pitchFamily="34" charset="0"/>
                <a:ea typeface="Calibri" pitchFamily="34" charset="-122"/>
                <a:cs typeface="Calibri" pitchFamily="34" charset="-120"/>
              </a:rPr>
              <a:t>The Human Side</a:t>
            </a:r>
            <a:endParaRPr lang="en-US" sz="1200" dirty="0"/>
          </a:p>
        </p:txBody>
      </p:sp>
      <p:sp>
        <p:nvSpPr>
          <p:cNvPr id="28" name="Text 26"/>
          <p:cNvSpPr/>
          <p:nvPr/>
        </p:nvSpPr>
        <p:spPr>
          <a:xfrm>
            <a:off x="5321808" y="2633472"/>
            <a:ext cx="3602736" cy="749808"/>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What it actually takes to roll out the Good Bank — with real people, not just a platform</a:t>
            </a:r>
            <a:endParaRPr lang="en-US" sz="950" dirty="0"/>
          </a:p>
        </p:txBody>
      </p:sp>
      <p:sp>
        <p:nvSpPr>
          <p:cNvPr id="29" name="Shape 27"/>
          <p:cNvSpPr/>
          <p:nvPr/>
        </p:nvSpPr>
        <p:spPr>
          <a:xfrm>
            <a:off x="4828032" y="3410712"/>
            <a:ext cx="4133088" cy="18288"/>
          </a:xfrm>
          <a:prstGeom prst="rect">
            <a:avLst/>
          </a:prstGeom>
          <a:solidFill>
            <a:srgbClr val="E8E8E8"/>
          </a:solidFill>
          <a:ln w="12700">
            <a:solidFill>
              <a:srgbClr val="E8E8E8"/>
            </a:solidFill>
            <a:prstDash val="solid"/>
          </a:ln>
        </p:spPr>
      </p:sp>
      <p:sp>
        <p:nvSpPr>
          <p:cNvPr id="30" name="Shape 28"/>
          <p:cNvSpPr/>
          <p:nvPr/>
        </p:nvSpPr>
        <p:spPr>
          <a:xfrm>
            <a:off x="4828032" y="3502152"/>
            <a:ext cx="402336" cy="402336"/>
          </a:xfrm>
          <a:prstGeom prst="rect">
            <a:avLst/>
          </a:prstGeom>
          <a:solidFill>
            <a:srgbClr val="387F6A"/>
          </a:solidFill>
          <a:ln w="12700">
            <a:solidFill>
              <a:srgbClr val="387F6A"/>
            </a:solidFill>
            <a:prstDash val="solid"/>
          </a:ln>
        </p:spPr>
      </p:sp>
      <p:sp>
        <p:nvSpPr>
          <p:cNvPr id="31" name="Text 29"/>
          <p:cNvSpPr/>
          <p:nvPr/>
        </p:nvSpPr>
        <p:spPr>
          <a:xfrm>
            <a:off x="4828032" y="3502152"/>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32" name="Text 30"/>
          <p:cNvSpPr/>
          <p:nvPr/>
        </p:nvSpPr>
        <p:spPr>
          <a:xfrm>
            <a:off x="5321808" y="3502152"/>
            <a:ext cx="3602736" cy="402336"/>
          </a:xfrm>
          <a:prstGeom prst="rect">
            <a:avLst/>
          </a:prstGeom>
          <a:noFill/>
          <a:ln/>
        </p:spPr>
        <p:txBody>
          <a:bodyPr wrap="square" lIns="0" tIns="0" rIns="0" bIns="0" rtlCol="0" anchor="ctr"/>
          <a:lstStyle/>
          <a:p>
            <a:pPr algn="l" indent="0" marL="0">
              <a:buNone/>
            </a:pPr>
            <a:r>
              <a:rPr lang="en-US" sz="1200" b="1" dirty="0">
                <a:solidFill>
                  <a:srgbClr val="020304"/>
                </a:solidFill>
                <a:latin typeface="Calibri" pitchFamily="34" charset="0"/>
                <a:ea typeface="Calibri" pitchFamily="34" charset="-122"/>
                <a:cs typeface="Calibri" pitchFamily="34" charset="-120"/>
              </a:rPr>
              <a:t>Top 10 Requirements for Barbados</a:t>
            </a:r>
            <a:endParaRPr lang="en-US" sz="1200" dirty="0"/>
          </a:p>
        </p:txBody>
      </p:sp>
      <p:sp>
        <p:nvSpPr>
          <p:cNvPr id="33" name="Text 31"/>
          <p:cNvSpPr/>
          <p:nvPr/>
        </p:nvSpPr>
        <p:spPr>
          <a:xfrm>
            <a:off x="5321808" y="3968496"/>
            <a:ext cx="3602736" cy="749808"/>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RAG-rated: the technical reality and the operational gaps behind each requirement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387F6A"/>
          </a:solidFill>
          <a:ln w="12700">
            <a:solidFill>
              <a:srgbClr val="387F6A"/>
            </a:solidFill>
            <a:prstDash val="solid"/>
          </a:ln>
        </p:spPr>
      </p:sp>
      <p:sp>
        <p:nvSpPr>
          <p:cNvPr id="3" name="Shape 1"/>
          <p:cNvSpPr/>
          <p:nvPr/>
        </p:nvSpPr>
        <p:spPr>
          <a:xfrm>
            <a:off x="347472" y="0"/>
            <a:ext cx="8796528" cy="594360"/>
          </a:xfrm>
          <a:prstGeom prst="rect">
            <a:avLst/>
          </a:prstGeom>
          <a:solidFill>
            <a:srgbClr val="41204B"/>
          </a:solidFill>
          <a:ln w="12700">
            <a:solidFill>
              <a:srgbClr val="41204B"/>
            </a:solidFill>
            <a:prstDash val="solid"/>
          </a:ln>
        </p:spPr>
      </p:sp>
      <p:sp>
        <p:nvSpPr>
          <p:cNvPr id="4" name="Text 2"/>
          <p:cNvSpPr/>
          <p:nvPr/>
        </p:nvSpPr>
        <p:spPr>
          <a:xfrm>
            <a:off x="548640" y="0"/>
            <a:ext cx="8229600" cy="59436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HOW YOMA WORKS  ·  FLOW CHART  ·  5 MINUTES</a:t>
            </a:r>
            <a:endParaRPr lang="en-US" sz="1100" dirty="0"/>
          </a:p>
        </p:txBody>
      </p:sp>
      <p:sp>
        <p:nvSpPr>
          <p:cNvPr id="5" name="Shape 3"/>
          <p:cNvSpPr/>
          <p:nvPr/>
        </p:nvSpPr>
        <p:spPr>
          <a:xfrm>
            <a:off x="420624" y="960120"/>
            <a:ext cx="804672" cy="804672"/>
          </a:xfrm>
          <a:prstGeom prst="ellipse">
            <a:avLst/>
          </a:prstGeom>
          <a:solidFill>
            <a:srgbClr val="387F6A"/>
          </a:solidFill>
          <a:ln w="12700">
            <a:solidFill>
              <a:srgbClr val="387F6A"/>
            </a:solidFill>
            <a:prstDash val="solid"/>
          </a:ln>
        </p:spPr>
      </p:sp>
      <p:pic>
        <p:nvPicPr>
          <p:cNvPr id="6" name="Image 0" descr="preencoded.png">    </p:cNvPr>
          <p:cNvPicPr>
            <a:picLocks noChangeAspect="1"/>
          </p:cNvPicPr>
          <p:nvPr/>
        </p:nvPicPr>
        <p:blipFill>
          <a:blip r:embed="rId1"/>
          <a:stretch>
            <a:fillRect/>
          </a:stretch>
        </p:blipFill>
        <p:spPr>
          <a:xfrm>
            <a:off x="594360" y="1133856"/>
            <a:ext cx="457200" cy="457200"/>
          </a:xfrm>
          <a:prstGeom prst="rect">
            <a:avLst/>
          </a:prstGeom>
        </p:spPr>
      </p:pic>
      <p:sp>
        <p:nvSpPr>
          <p:cNvPr id="7" name="Text 4"/>
          <p:cNvSpPr/>
          <p:nvPr/>
        </p:nvSpPr>
        <p:spPr>
          <a:xfrm>
            <a:off x="114300" y="1892808"/>
            <a:ext cx="1417320" cy="292608"/>
          </a:xfrm>
          <a:prstGeom prst="rect">
            <a:avLst/>
          </a:prstGeom>
          <a:noFill/>
          <a:ln/>
        </p:spPr>
        <p:txBody>
          <a:bodyPr wrap="square" lIns="0" tIns="0" rIns="0" bIns="0" rtlCol="0" anchor="ctr"/>
          <a:lstStyle/>
          <a:p>
            <a:pPr algn="ctr" indent="0" marL="0">
              <a:buNone/>
            </a:pPr>
            <a:r>
              <a:rPr lang="en-US" sz="900" b="1" spc="100" kern="0" dirty="0">
                <a:solidFill>
                  <a:srgbClr val="020304"/>
                </a:solidFill>
                <a:latin typeface="Calibri" pitchFamily="34" charset="0"/>
                <a:ea typeface="Calibri" pitchFamily="34" charset="-122"/>
                <a:cs typeface="Calibri" pitchFamily="34" charset="-120"/>
              </a:rPr>
              <a:t>REGISTER</a:t>
            </a:r>
            <a:endParaRPr lang="en-US" sz="900" dirty="0"/>
          </a:p>
        </p:txBody>
      </p:sp>
      <p:sp>
        <p:nvSpPr>
          <p:cNvPr id="8" name="Text 5"/>
          <p:cNvSpPr/>
          <p:nvPr/>
        </p:nvSpPr>
        <p:spPr>
          <a:xfrm>
            <a:off x="114300" y="2203704"/>
            <a:ext cx="1417320" cy="658368"/>
          </a:xfrm>
          <a:prstGeom prst="rect">
            <a:avLst/>
          </a:prstGeom>
          <a:noFill/>
          <a:ln/>
        </p:spPr>
        <p:txBody>
          <a:bodyPr wrap="square" lIns="0" tIns="0" rIns="0" bIns="0" rtlCol="0" anchor="t"/>
          <a:lstStyle/>
          <a:p>
            <a:pPr algn="ctr" indent="0" marL="0">
              <a:buNone/>
            </a:pPr>
            <a:r>
              <a:rPr lang="en-US" sz="900" dirty="0">
                <a:solidFill>
                  <a:srgbClr val="737373"/>
                </a:solidFill>
                <a:latin typeface="Calibri" pitchFamily="34" charset="0"/>
                <a:ea typeface="Calibri" pitchFamily="34" charset="-122"/>
                <a:cs typeface="Calibri" pitchFamily="34" charset="-120"/>
              </a:rPr>
              <a:t>Youth signs up with</a:t>
            </a:r>
            <a:endParaRPr lang="en-US" sz="900" dirty="0"/>
          </a:p>
          <a:p>
            <a:pPr algn="ctr" indent="0" marL="0">
              <a:buNone/>
            </a:pPr>
            <a:r>
              <a:rPr lang="en-US" sz="900" dirty="0">
                <a:solidFill>
                  <a:srgbClr val="737373"/>
                </a:solidFill>
                <a:latin typeface="Calibri" pitchFamily="34" charset="0"/>
                <a:ea typeface="Calibri" pitchFamily="34" charset="-122"/>
                <a:cs typeface="Calibri" pitchFamily="34" charset="-120"/>
              </a:rPr>
              <a:t>email or phone</a:t>
            </a:r>
            <a:endParaRPr lang="en-US" sz="900" dirty="0"/>
          </a:p>
        </p:txBody>
      </p:sp>
      <p:sp>
        <p:nvSpPr>
          <p:cNvPr id="9" name="Shape 6"/>
          <p:cNvSpPr/>
          <p:nvPr/>
        </p:nvSpPr>
        <p:spPr>
          <a:xfrm>
            <a:off x="1568196" y="1362456"/>
            <a:ext cx="384048" cy="0"/>
          </a:xfrm>
          <a:prstGeom prst="line">
            <a:avLst/>
          </a:prstGeom>
          <a:noFill/>
          <a:ln w="19050">
            <a:solidFill>
              <a:srgbClr val="020304"/>
            </a:solidFill>
            <a:prstDash val="solid"/>
            <a:tailEnd type="arrow"/>
          </a:ln>
        </p:spPr>
      </p:sp>
      <p:sp>
        <p:nvSpPr>
          <p:cNvPr id="10" name="Shape 7"/>
          <p:cNvSpPr/>
          <p:nvPr/>
        </p:nvSpPr>
        <p:spPr>
          <a:xfrm>
            <a:off x="2295144" y="960120"/>
            <a:ext cx="804672" cy="804672"/>
          </a:xfrm>
          <a:prstGeom prst="ellipse">
            <a:avLst/>
          </a:prstGeom>
          <a:solidFill>
            <a:srgbClr val="51AFE9"/>
          </a:solidFill>
          <a:ln w="12700">
            <a:solidFill>
              <a:srgbClr val="51AFE9"/>
            </a:solidFill>
            <a:prstDash val="solid"/>
          </a:ln>
        </p:spPr>
      </p:sp>
      <p:pic>
        <p:nvPicPr>
          <p:cNvPr id="11" name="Image 1" descr="preencoded.png">    </p:cNvPr>
          <p:cNvPicPr>
            <a:picLocks noChangeAspect="1"/>
          </p:cNvPicPr>
          <p:nvPr/>
        </p:nvPicPr>
        <p:blipFill>
          <a:blip r:embed="rId2"/>
          <a:stretch>
            <a:fillRect/>
          </a:stretch>
        </p:blipFill>
        <p:spPr>
          <a:xfrm>
            <a:off x="2468880" y="1133856"/>
            <a:ext cx="457200" cy="457200"/>
          </a:xfrm>
          <a:prstGeom prst="rect">
            <a:avLst/>
          </a:prstGeom>
        </p:spPr>
      </p:pic>
      <p:sp>
        <p:nvSpPr>
          <p:cNvPr id="12" name="Text 8"/>
          <p:cNvSpPr/>
          <p:nvPr/>
        </p:nvSpPr>
        <p:spPr>
          <a:xfrm>
            <a:off x="1988820" y="1892808"/>
            <a:ext cx="1417320" cy="292608"/>
          </a:xfrm>
          <a:prstGeom prst="rect">
            <a:avLst/>
          </a:prstGeom>
          <a:noFill/>
          <a:ln/>
        </p:spPr>
        <p:txBody>
          <a:bodyPr wrap="square" lIns="0" tIns="0" rIns="0" bIns="0" rtlCol="0" anchor="ctr"/>
          <a:lstStyle/>
          <a:p>
            <a:pPr algn="ctr" indent="0" marL="0">
              <a:buNone/>
            </a:pPr>
            <a:r>
              <a:rPr lang="en-US" sz="900" b="1" spc="100" kern="0" dirty="0">
                <a:solidFill>
                  <a:srgbClr val="020304"/>
                </a:solidFill>
                <a:latin typeface="Calibri" pitchFamily="34" charset="0"/>
                <a:ea typeface="Calibri" pitchFamily="34" charset="-122"/>
                <a:cs typeface="Calibri" pitchFamily="34" charset="-120"/>
              </a:rPr>
              <a:t>DISCOVER</a:t>
            </a:r>
            <a:endParaRPr lang="en-US" sz="900" dirty="0"/>
          </a:p>
        </p:txBody>
      </p:sp>
      <p:sp>
        <p:nvSpPr>
          <p:cNvPr id="13" name="Text 9"/>
          <p:cNvSpPr/>
          <p:nvPr/>
        </p:nvSpPr>
        <p:spPr>
          <a:xfrm>
            <a:off x="1988820" y="2203704"/>
            <a:ext cx="1417320" cy="658368"/>
          </a:xfrm>
          <a:prstGeom prst="rect">
            <a:avLst/>
          </a:prstGeom>
          <a:noFill/>
          <a:ln/>
        </p:spPr>
        <p:txBody>
          <a:bodyPr wrap="square" lIns="0" tIns="0" rIns="0" bIns="0" rtlCol="0" anchor="t"/>
          <a:lstStyle/>
          <a:p>
            <a:pPr algn="ctr" indent="0" marL="0">
              <a:buNone/>
            </a:pPr>
            <a:r>
              <a:rPr lang="en-US" sz="900" dirty="0">
                <a:solidFill>
                  <a:srgbClr val="737373"/>
                </a:solidFill>
                <a:latin typeface="Calibri" pitchFamily="34" charset="0"/>
                <a:ea typeface="Calibri" pitchFamily="34" charset="-122"/>
                <a:cs typeface="Calibri" pitchFamily="34" charset="-120"/>
              </a:rPr>
              <a:t>Browses and joins</a:t>
            </a:r>
            <a:endParaRPr lang="en-US" sz="900" dirty="0"/>
          </a:p>
          <a:p>
            <a:pPr algn="ctr" indent="0" marL="0">
              <a:buNone/>
            </a:pPr>
            <a:r>
              <a:rPr lang="en-US" sz="900" dirty="0">
                <a:solidFill>
                  <a:srgbClr val="737373"/>
                </a:solidFill>
                <a:latin typeface="Calibri" pitchFamily="34" charset="0"/>
                <a:ea typeface="Calibri" pitchFamily="34" charset="-122"/>
                <a:cs typeface="Calibri" pitchFamily="34" charset="-120"/>
              </a:rPr>
              <a:t>an opportunity</a:t>
            </a:r>
            <a:endParaRPr lang="en-US" sz="900" dirty="0"/>
          </a:p>
        </p:txBody>
      </p:sp>
      <p:sp>
        <p:nvSpPr>
          <p:cNvPr id="14" name="Shape 10"/>
          <p:cNvSpPr/>
          <p:nvPr/>
        </p:nvSpPr>
        <p:spPr>
          <a:xfrm>
            <a:off x="3442716" y="1362456"/>
            <a:ext cx="384048" cy="0"/>
          </a:xfrm>
          <a:prstGeom prst="line">
            <a:avLst/>
          </a:prstGeom>
          <a:noFill/>
          <a:ln w="19050">
            <a:solidFill>
              <a:srgbClr val="020304"/>
            </a:solidFill>
            <a:prstDash val="solid"/>
            <a:tailEnd type="arrow"/>
          </a:ln>
        </p:spPr>
      </p:sp>
      <p:sp>
        <p:nvSpPr>
          <p:cNvPr id="15" name="Shape 11"/>
          <p:cNvSpPr/>
          <p:nvPr/>
        </p:nvSpPr>
        <p:spPr>
          <a:xfrm>
            <a:off x="4169664" y="960120"/>
            <a:ext cx="804672" cy="804672"/>
          </a:xfrm>
          <a:prstGeom prst="ellipse">
            <a:avLst/>
          </a:prstGeom>
          <a:solidFill>
            <a:srgbClr val="F0A02D"/>
          </a:solidFill>
          <a:ln w="12700">
            <a:solidFill>
              <a:srgbClr val="F0A02D"/>
            </a:solidFill>
            <a:prstDash val="solid"/>
          </a:ln>
        </p:spPr>
      </p:sp>
      <p:pic>
        <p:nvPicPr>
          <p:cNvPr id="16" name="Image 2" descr="preencoded.png">    </p:cNvPr>
          <p:cNvPicPr>
            <a:picLocks noChangeAspect="1"/>
          </p:cNvPicPr>
          <p:nvPr/>
        </p:nvPicPr>
        <p:blipFill>
          <a:blip r:embed="rId3"/>
          <a:stretch>
            <a:fillRect/>
          </a:stretch>
        </p:blipFill>
        <p:spPr>
          <a:xfrm>
            <a:off x="4343400" y="1133856"/>
            <a:ext cx="457200" cy="457200"/>
          </a:xfrm>
          <a:prstGeom prst="rect">
            <a:avLst/>
          </a:prstGeom>
        </p:spPr>
      </p:pic>
      <p:sp>
        <p:nvSpPr>
          <p:cNvPr id="17" name="Text 12"/>
          <p:cNvSpPr/>
          <p:nvPr/>
        </p:nvSpPr>
        <p:spPr>
          <a:xfrm>
            <a:off x="3863340" y="1892808"/>
            <a:ext cx="1417320" cy="292608"/>
          </a:xfrm>
          <a:prstGeom prst="rect">
            <a:avLst/>
          </a:prstGeom>
          <a:noFill/>
          <a:ln/>
        </p:spPr>
        <p:txBody>
          <a:bodyPr wrap="square" lIns="0" tIns="0" rIns="0" bIns="0" rtlCol="0" anchor="ctr"/>
          <a:lstStyle/>
          <a:p>
            <a:pPr algn="ctr" indent="0" marL="0">
              <a:buNone/>
            </a:pPr>
            <a:r>
              <a:rPr lang="en-US" sz="900" b="1" spc="100" kern="0" dirty="0">
                <a:solidFill>
                  <a:srgbClr val="020304"/>
                </a:solidFill>
                <a:latin typeface="Calibri" pitchFamily="34" charset="0"/>
                <a:ea typeface="Calibri" pitchFamily="34" charset="-122"/>
                <a:cs typeface="Calibri" pitchFamily="34" charset="-120"/>
              </a:rPr>
              <a:t>COMPLETE</a:t>
            </a:r>
            <a:endParaRPr lang="en-US" sz="900" dirty="0"/>
          </a:p>
        </p:txBody>
      </p:sp>
      <p:sp>
        <p:nvSpPr>
          <p:cNvPr id="18" name="Text 13"/>
          <p:cNvSpPr/>
          <p:nvPr/>
        </p:nvSpPr>
        <p:spPr>
          <a:xfrm>
            <a:off x="3863340" y="2203704"/>
            <a:ext cx="1417320" cy="658368"/>
          </a:xfrm>
          <a:prstGeom prst="rect">
            <a:avLst/>
          </a:prstGeom>
          <a:noFill/>
          <a:ln/>
        </p:spPr>
        <p:txBody>
          <a:bodyPr wrap="square" lIns="0" tIns="0" rIns="0" bIns="0" rtlCol="0" anchor="t"/>
          <a:lstStyle/>
          <a:p>
            <a:pPr algn="ctr" indent="0" marL="0">
              <a:buNone/>
            </a:pPr>
            <a:r>
              <a:rPr lang="en-US" sz="900" dirty="0">
                <a:solidFill>
                  <a:srgbClr val="737373"/>
                </a:solidFill>
                <a:latin typeface="Calibri" pitchFamily="34" charset="0"/>
                <a:ea typeface="Calibri" pitchFamily="34" charset="-122"/>
                <a:cs typeface="Calibri" pitchFamily="34" charset="-120"/>
              </a:rPr>
              <a:t>Does the activity;</a:t>
            </a:r>
            <a:endParaRPr lang="en-US" sz="900" dirty="0"/>
          </a:p>
          <a:p>
            <a:pPr algn="ctr" indent="0" marL="0">
              <a:buNone/>
            </a:pPr>
            <a:r>
              <a:rPr lang="en-US" sz="900" dirty="0">
                <a:solidFill>
                  <a:srgbClr val="737373"/>
                </a:solidFill>
                <a:latin typeface="Calibri" pitchFamily="34" charset="0"/>
                <a:ea typeface="Calibri" pitchFamily="34" charset="-122"/>
                <a:cs typeface="Calibri" pitchFamily="34" charset="-120"/>
              </a:rPr>
              <a:t>partner verifies</a:t>
            </a:r>
            <a:endParaRPr lang="en-US" sz="900" dirty="0"/>
          </a:p>
        </p:txBody>
      </p:sp>
      <p:sp>
        <p:nvSpPr>
          <p:cNvPr id="19" name="Shape 14"/>
          <p:cNvSpPr/>
          <p:nvPr/>
        </p:nvSpPr>
        <p:spPr>
          <a:xfrm>
            <a:off x="5317236" y="1362456"/>
            <a:ext cx="384048" cy="0"/>
          </a:xfrm>
          <a:prstGeom prst="line">
            <a:avLst/>
          </a:prstGeom>
          <a:noFill/>
          <a:ln w="19050">
            <a:solidFill>
              <a:srgbClr val="020304"/>
            </a:solidFill>
            <a:prstDash val="solid"/>
            <a:tailEnd type="arrow"/>
          </a:ln>
        </p:spPr>
      </p:sp>
      <p:sp>
        <p:nvSpPr>
          <p:cNvPr id="20" name="Shape 15"/>
          <p:cNvSpPr/>
          <p:nvPr/>
        </p:nvSpPr>
        <p:spPr>
          <a:xfrm>
            <a:off x="6044184" y="960120"/>
            <a:ext cx="804672" cy="804672"/>
          </a:xfrm>
          <a:prstGeom prst="ellipse">
            <a:avLst/>
          </a:prstGeom>
          <a:solidFill>
            <a:srgbClr val="387F6A"/>
          </a:solidFill>
          <a:ln w="12700">
            <a:solidFill>
              <a:srgbClr val="387F6A"/>
            </a:solidFill>
            <a:prstDash val="solid"/>
          </a:ln>
        </p:spPr>
      </p:sp>
      <p:pic>
        <p:nvPicPr>
          <p:cNvPr id="21" name="Image 3" descr="preencoded.png">    </p:cNvPr>
          <p:cNvPicPr>
            <a:picLocks noChangeAspect="1"/>
          </p:cNvPicPr>
          <p:nvPr/>
        </p:nvPicPr>
        <p:blipFill>
          <a:blip r:embed="rId4"/>
          <a:stretch>
            <a:fillRect/>
          </a:stretch>
        </p:blipFill>
        <p:spPr>
          <a:xfrm>
            <a:off x="6217920" y="1133856"/>
            <a:ext cx="457200" cy="457200"/>
          </a:xfrm>
          <a:prstGeom prst="rect">
            <a:avLst/>
          </a:prstGeom>
        </p:spPr>
      </p:pic>
      <p:sp>
        <p:nvSpPr>
          <p:cNvPr id="22" name="Text 16"/>
          <p:cNvSpPr/>
          <p:nvPr/>
        </p:nvSpPr>
        <p:spPr>
          <a:xfrm>
            <a:off x="5737860" y="1892808"/>
            <a:ext cx="1417320" cy="292608"/>
          </a:xfrm>
          <a:prstGeom prst="rect">
            <a:avLst/>
          </a:prstGeom>
          <a:noFill/>
          <a:ln/>
        </p:spPr>
        <p:txBody>
          <a:bodyPr wrap="square" lIns="0" tIns="0" rIns="0" bIns="0" rtlCol="0" anchor="ctr"/>
          <a:lstStyle/>
          <a:p>
            <a:pPr algn="ctr" indent="0" marL="0">
              <a:buNone/>
            </a:pPr>
            <a:r>
              <a:rPr lang="en-US" sz="900" b="1" spc="100" kern="0" dirty="0">
                <a:solidFill>
                  <a:srgbClr val="020304"/>
                </a:solidFill>
                <a:latin typeface="Calibri" pitchFamily="34" charset="0"/>
                <a:ea typeface="Calibri" pitchFamily="34" charset="-122"/>
                <a:cs typeface="Calibri" pitchFamily="34" charset="-120"/>
              </a:rPr>
              <a:t>EARN ZLTO</a:t>
            </a:r>
            <a:endParaRPr lang="en-US" sz="900" dirty="0"/>
          </a:p>
        </p:txBody>
      </p:sp>
      <p:sp>
        <p:nvSpPr>
          <p:cNvPr id="23" name="Text 17"/>
          <p:cNvSpPr/>
          <p:nvPr/>
        </p:nvSpPr>
        <p:spPr>
          <a:xfrm>
            <a:off x="5737860" y="2203704"/>
            <a:ext cx="1417320" cy="658368"/>
          </a:xfrm>
          <a:prstGeom prst="rect">
            <a:avLst/>
          </a:prstGeom>
          <a:noFill/>
          <a:ln/>
        </p:spPr>
        <p:txBody>
          <a:bodyPr wrap="square" lIns="0" tIns="0" rIns="0" bIns="0" rtlCol="0" anchor="t"/>
          <a:lstStyle/>
          <a:p>
            <a:pPr algn="ctr" indent="0" marL="0">
              <a:buNone/>
            </a:pPr>
            <a:r>
              <a:rPr lang="en-US" sz="900" dirty="0">
                <a:solidFill>
                  <a:srgbClr val="737373"/>
                </a:solidFill>
                <a:latin typeface="Calibri" pitchFamily="34" charset="0"/>
                <a:ea typeface="Calibri" pitchFamily="34" charset="-122"/>
                <a:cs typeface="Calibri" pitchFamily="34" charset="-120"/>
              </a:rPr>
              <a:t>Tokens issued</a:t>
            </a:r>
            <a:endParaRPr lang="en-US" sz="900" dirty="0"/>
          </a:p>
          <a:p>
            <a:pPr algn="ctr" indent="0" marL="0">
              <a:buNone/>
            </a:pPr>
            <a:r>
              <a:rPr lang="en-US" sz="900" dirty="0">
                <a:solidFill>
                  <a:srgbClr val="737373"/>
                </a:solidFill>
                <a:latin typeface="Calibri" pitchFamily="34" charset="0"/>
                <a:ea typeface="Calibri" pitchFamily="34" charset="-122"/>
                <a:cs typeface="Calibri" pitchFamily="34" charset="-120"/>
              </a:rPr>
              <a:t>automatically</a:t>
            </a:r>
            <a:endParaRPr lang="en-US" sz="900" dirty="0"/>
          </a:p>
        </p:txBody>
      </p:sp>
      <p:sp>
        <p:nvSpPr>
          <p:cNvPr id="24" name="Shape 18"/>
          <p:cNvSpPr/>
          <p:nvPr/>
        </p:nvSpPr>
        <p:spPr>
          <a:xfrm>
            <a:off x="7191756" y="1362456"/>
            <a:ext cx="384048" cy="0"/>
          </a:xfrm>
          <a:prstGeom prst="line">
            <a:avLst/>
          </a:prstGeom>
          <a:noFill/>
          <a:ln w="19050">
            <a:solidFill>
              <a:srgbClr val="020304"/>
            </a:solidFill>
            <a:prstDash val="solid"/>
            <a:tailEnd type="arrow"/>
          </a:ln>
        </p:spPr>
      </p:sp>
      <p:sp>
        <p:nvSpPr>
          <p:cNvPr id="25" name="Shape 19"/>
          <p:cNvSpPr/>
          <p:nvPr/>
        </p:nvSpPr>
        <p:spPr>
          <a:xfrm>
            <a:off x="7918704" y="960120"/>
            <a:ext cx="804672" cy="804672"/>
          </a:xfrm>
          <a:prstGeom prst="ellipse">
            <a:avLst/>
          </a:prstGeom>
          <a:solidFill>
            <a:srgbClr val="FC4D56"/>
          </a:solidFill>
          <a:ln w="12700">
            <a:solidFill>
              <a:srgbClr val="FC4D56"/>
            </a:solidFill>
            <a:prstDash val="solid"/>
          </a:ln>
        </p:spPr>
      </p:sp>
      <p:pic>
        <p:nvPicPr>
          <p:cNvPr id="26" name="Image 4" descr="preencoded.png">    </p:cNvPr>
          <p:cNvPicPr>
            <a:picLocks noChangeAspect="1"/>
          </p:cNvPicPr>
          <p:nvPr/>
        </p:nvPicPr>
        <p:blipFill>
          <a:blip r:embed="rId5"/>
          <a:stretch>
            <a:fillRect/>
          </a:stretch>
        </p:blipFill>
        <p:spPr>
          <a:xfrm>
            <a:off x="8092440" y="1133856"/>
            <a:ext cx="457200" cy="457200"/>
          </a:xfrm>
          <a:prstGeom prst="rect">
            <a:avLst/>
          </a:prstGeom>
        </p:spPr>
      </p:pic>
      <p:sp>
        <p:nvSpPr>
          <p:cNvPr id="27" name="Text 20"/>
          <p:cNvSpPr/>
          <p:nvPr/>
        </p:nvSpPr>
        <p:spPr>
          <a:xfrm>
            <a:off x="7612380" y="1892808"/>
            <a:ext cx="1417320" cy="292608"/>
          </a:xfrm>
          <a:prstGeom prst="rect">
            <a:avLst/>
          </a:prstGeom>
          <a:noFill/>
          <a:ln/>
        </p:spPr>
        <p:txBody>
          <a:bodyPr wrap="square" lIns="0" tIns="0" rIns="0" bIns="0" rtlCol="0" anchor="ctr"/>
          <a:lstStyle/>
          <a:p>
            <a:pPr algn="ctr" indent="0" marL="0">
              <a:buNone/>
            </a:pPr>
            <a:r>
              <a:rPr lang="en-US" sz="900" b="1" spc="100" kern="0" dirty="0">
                <a:solidFill>
                  <a:srgbClr val="020304"/>
                </a:solidFill>
                <a:latin typeface="Calibri" pitchFamily="34" charset="0"/>
                <a:ea typeface="Calibri" pitchFamily="34" charset="-122"/>
                <a:cs typeface="Calibri" pitchFamily="34" charset="-120"/>
              </a:rPr>
              <a:t>REDEEM</a:t>
            </a:r>
            <a:endParaRPr lang="en-US" sz="900" dirty="0"/>
          </a:p>
        </p:txBody>
      </p:sp>
      <p:sp>
        <p:nvSpPr>
          <p:cNvPr id="28" name="Text 21"/>
          <p:cNvSpPr/>
          <p:nvPr/>
        </p:nvSpPr>
        <p:spPr>
          <a:xfrm>
            <a:off x="7612380" y="2203704"/>
            <a:ext cx="1417320" cy="658368"/>
          </a:xfrm>
          <a:prstGeom prst="rect">
            <a:avLst/>
          </a:prstGeom>
          <a:noFill/>
          <a:ln/>
        </p:spPr>
        <p:txBody>
          <a:bodyPr wrap="square" lIns="0" tIns="0" rIns="0" bIns="0" rtlCol="0" anchor="t"/>
          <a:lstStyle/>
          <a:p>
            <a:pPr algn="ctr" indent="0" marL="0">
              <a:buNone/>
            </a:pPr>
            <a:r>
              <a:rPr lang="en-US" sz="900" dirty="0">
                <a:solidFill>
                  <a:srgbClr val="737373"/>
                </a:solidFill>
                <a:latin typeface="Calibri" pitchFamily="34" charset="0"/>
                <a:ea typeface="Calibri" pitchFamily="34" charset="-122"/>
                <a:cs typeface="Calibri" pitchFamily="34" charset="-120"/>
              </a:rPr>
              <a:t>Spends Zlto on</a:t>
            </a:r>
            <a:endParaRPr lang="en-US" sz="900" dirty="0"/>
          </a:p>
          <a:p>
            <a:pPr algn="ctr" indent="0" marL="0">
              <a:buNone/>
            </a:pPr>
            <a:r>
              <a:rPr lang="en-US" sz="900" dirty="0">
                <a:solidFill>
                  <a:srgbClr val="737373"/>
                </a:solidFill>
                <a:latin typeface="Calibri" pitchFamily="34" charset="0"/>
                <a:ea typeface="Calibri" pitchFamily="34" charset="-122"/>
                <a:cs typeface="Calibri" pitchFamily="34" charset="-120"/>
              </a:rPr>
              <a:t>airtime or data</a:t>
            </a:r>
            <a:endParaRPr lang="en-US" sz="900" dirty="0"/>
          </a:p>
        </p:txBody>
      </p:sp>
      <p:sp>
        <p:nvSpPr>
          <p:cNvPr id="29" name="Shape 22"/>
          <p:cNvSpPr/>
          <p:nvPr/>
        </p:nvSpPr>
        <p:spPr>
          <a:xfrm>
            <a:off x="1988820" y="2999232"/>
            <a:ext cx="3291840" cy="292608"/>
          </a:xfrm>
          <a:prstGeom prst="rect">
            <a:avLst/>
          </a:prstGeom>
          <a:solidFill>
            <a:srgbClr val="51AFE9">
              <a:alpha val="15000"/>
            </a:srgbClr>
          </a:solidFill>
          <a:ln w="12700">
            <a:solidFill>
              <a:srgbClr val="51AFE9"/>
            </a:solidFill>
            <a:prstDash val="solid"/>
          </a:ln>
        </p:spPr>
      </p:sp>
      <p:sp>
        <p:nvSpPr>
          <p:cNvPr id="30" name="Text 23"/>
          <p:cNvSpPr/>
          <p:nvPr/>
        </p:nvSpPr>
        <p:spPr>
          <a:xfrm>
            <a:off x="1988820" y="2999232"/>
            <a:ext cx="3291840" cy="292608"/>
          </a:xfrm>
          <a:prstGeom prst="rect">
            <a:avLst/>
          </a:prstGeom>
          <a:noFill/>
          <a:ln/>
        </p:spPr>
        <p:txBody>
          <a:bodyPr wrap="square" lIns="0" tIns="0" rIns="0" bIns="0" rtlCol="0" anchor="ctr"/>
          <a:lstStyle/>
          <a:p>
            <a:pPr algn="ctr" indent="0" marL="0">
              <a:buNone/>
            </a:pPr>
            <a:r>
              <a:rPr lang="en-US" sz="800" b="1" spc="100" kern="0" dirty="0">
                <a:solidFill>
                  <a:srgbClr val="51AFE9"/>
                </a:solidFill>
                <a:latin typeface="Calibri" pitchFamily="34" charset="0"/>
                <a:ea typeface="Calibri" pitchFamily="34" charset="-122"/>
                <a:cs typeface="Calibri" pitchFamily="34" charset="-120"/>
              </a:rPr>
              <a:t>OPPORTUNITY PARTNERS</a:t>
            </a:r>
            <a:endParaRPr lang="en-US" sz="800" dirty="0"/>
          </a:p>
        </p:txBody>
      </p:sp>
      <p:sp>
        <p:nvSpPr>
          <p:cNvPr id="31" name="Shape 24"/>
          <p:cNvSpPr/>
          <p:nvPr/>
        </p:nvSpPr>
        <p:spPr>
          <a:xfrm>
            <a:off x="5737860" y="2999232"/>
            <a:ext cx="1417320" cy="292608"/>
          </a:xfrm>
          <a:prstGeom prst="rect">
            <a:avLst/>
          </a:prstGeom>
          <a:solidFill>
            <a:srgbClr val="387F6A">
              <a:alpha val="15000"/>
            </a:srgbClr>
          </a:solidFill>
          <a:ln w="12700">
            <a:solidFill>
              <a:srgbClr val="387F6A"/>
            </a:solidFill>
            <a:prstDash val="solid"/>
          </a:ln>
        </p:spPr>
      </p:sp>
      <p:sp>
        <p:nvSpPr>
          <p:cNvPr id="32" name="Text 25"/>
          <p:cNvSpPr/>
          <p:nvPr/>
        </p:nvSpPr>
        <p:spPr>
          <a:xfrm>
            <a:off x="5737860" y="2999232"/>
            <a:ext cx="1417320" cy="292608"/>
          </a:xfrm>
          <a:prstGeom prst="rect">
            <a:avLst/>
          </a:prstGeom>
          <a:noFill/>
          <a:ln/>
        </p:spPr>
        <p:txBody>
          <a:bodyPr wrap="square" lIns="0" tIns="0" rIns="0" bIns="0" rtlCol="0" anchor="ctr"/>
          <a:lstStyle/>
          <a:p>
            <a:pPr algn="ctr" indent="0" marL="0">
              <a:buNone/>
            </a:pPr>
            <a:r>
              <a:rPr lang="en-US" sz="800" b="1" spc="100" kern="0" dirty="0">
                <a:solidFill>
                  <a:srgbClr val="387F6A"/>
                </a:solidFill>
                <a:latin typeface="Calibri" pitchFamily="34" charset="0"/>
                <a:ea typeface="Calibri" pitchFamily="34" charset="-122"/>
                <a:cs typeface="Calibri" pitchFamily="34" charset="-120"/>
              </a:rPr>
              <a:t>ZLTO PLATFORM</a:t>
            </a:r>
            <a:endParaRPr lang="en-US" sz="800" dirty="0"/>
          </a:p>
        </p:txBody>
      </p:sp>
      <p:sp>
        <p:nvSpPr>
          <p:cNvPr id="33" name="Shape 26"/>
          <p:cNvSpPr/>
          <p:nvPr/>
        </p:nvSpPr>
        <p:spPr>
          <a:xfrm>
            <a:off x="7612380" y="2999232"/>
            <a:ext cx="1417320" cy="292608"/>
          </a:xfrm>
          <a:prstGeom prst="rect">
            <a:avLst/>
          </a:prstGeom>
          <a:solidFill>
            <a:srgbClr val="FC4D56">
              <a:alpha val="15000"/>
            </a:srgbClr>
          </a:solidFill>
          <a:ln w="12700">
            <a:solidFill>
              <a:srgbClr val="FC4D56"/>
            </a:solidFill>
            <a:prstDash val="solid"/>
          </a:ln>
        </p:spPr>
      </p:sp>
      <p:sp>
        <p:nvSpPr>
          <p:cNvPr id="34" name="Text 27"/>
          <p:cNvSpPr/>
          <p:nvPr/>
        </p:nvSpPr>
        <p:spPr>
          <a:xfrm>
            <a:off x="7612380" y="2999232"/>
            <a:ext cx="1417320" cy="292608"/>
          </a:xfrm>
          <a:prstGeom prst="rect">
            <a:avLst/>
          </a:prstGeom>
          <a:noFill/>
          <a:ln/>
        </p:spPr>
        <p:txBody>
          <a:bodyPr wrap="square" lIns="0" tIns="0" rIns="0" bIns="0" rtlCol="0" anchor="ctr"/>
          <a:lstStyle/>
          <a:p>
            <a:pPr algn="ctr" indent="0" marL="0">
              <a:buNone/>
            </a:pPr>
            <a:r>
              <a:rPr lang="en-US" sz="800" b="1" spc="100" kern="0" dirty="0">
                <a:solidFill>
                  <a:srgbClr val="FC4D56"/>
                </a:solidFill>
                <a:latin typeface="Calibri" pitchFamily="34" charset="0"/>
                <a:ea typeface="Calibri" pitchFamily="34" charset="-122"/>
                <a:cs typeface="Calibri" pitchFamily="34" charset="-120"/>
              </a:rPr>
              <a:t>REWARD PARTNERS</a:t>
            </a:r>
            <a:endParaRPr lang="en-US" sz="800" dirty="0"/>
          </a:p>
        </p:txBody>
      </p:sp>
      <p:sp>
        <p:nvSpPr>
          <p:cNvPr id="35" name="Shape 28"/>
          <p:cNvSpPr/>
          <p:nvPr/>
        </p:nvSpPr>
        <p:spPr>
          <a:xfrm>
            <a:off x="457200" y="3493008"/>
            <a:ext cx="8229600" cy="1444752"/>
          </a:xfrm>
          <a:prstGeom prst="rect">
            <a:avLst/>
          </a:prstGeom>
          <a:solidFill>
            <a:srgbClr val="F5F5F5"/>
          </a:solidFill>
          <a:ln w="12700">
            <a:solidFill>
              <a:srgbClr val="E8E8E8"/>
            </a:solidFill>
            <a:prstDash val="solid"/>
          </a:ln>
        </p:spPr>
      </p:sp>
      <p:sp>
        <p:nvSpPr>
          <p:cNvPr id="36" name="Shape 29"/>
          <p:cNvSpPr/>
          <p:nvPr/>
        </p:nvSpPr>
        <p:spPr>
          <a:xfrm>
            <a:off x="457200" y="3493008"/>
            <a:ext cx="54864" cy="1444752"/>
          </a:xfrm>
          <a:prstGeom prst="rect">
            <a:avLst/>
          </a:prstGeom>
          <a:solidFill>
            <a:srgbClr val="387F6A"/>
          </a:solidFill>
          <a:ln w="12700">
            <a:solidFill>
              <a:srgbClr val="387F6A"/>
            </a:solidFill>
            <a:prstDash val="solid"/>
          </a:ln>
        </p:spPr>
      </p:sp>
      <p:sp>
        <p:nvSpPr>
          <p:cNvPr id="37" name="Text 30"/>
          <p:cNvSpPr/>
          <p:nvPr/>
        </p:nvSpPr>
        <p:spPr>
          <a:xfrm>
            <a:off x="594360" y="3566160"/>
            <a:ext cx="1371600" cy="256032"/>
          </a:xfrm>
          <a:prstGeom prst="rect">
            <a:avLst/>
          </a:prstGeom>
          <a:noFill/>
          <a:ln/>
        </p:spPr>
        <p:txBody>
          <a:bodyPr wrap="square" lIns="0" tIns="0" rIns="0" bIns="0" rtlCol="0" anchor="t"/>
          <a:lstStyle/>
          <a:p>
            <a:pPr algn="l" indent="0" marL="0">
              <a:buNone/>
            </a:pPr>
            <a:r>
              <a:rPr lang="en-US" sz="950" b="1" dirty="0">
                <a:solidFill>
                  <a:srgbClr val="020304"/>
                </a:solidFill>
                <a:latin typeface="Calibri" pitchFamily="34" charset="0"/>
                <a:ea typeface="Calibri" pitchFamily="34" charset="-122"/>
                <a:cs typeface="Calibri" pitchFamily="34" charset="-120"/>
              </a:rPr>
              <a:t>For Barbados:</a:t>
            </a:r>
            <a:endParaRPr lang="en-US" sz="950" dirty="0"/>
          </a:p>
        </p:txBody>
      </p:sp>
      <p:sp>
        <p:nvSpPr>
          <p:cNvPr id="38" name="Text 31"/>
          <p:cNvSpPr/>
          <p:nvPr/>
        </p:nvSpPr>
        <p:spPr>
          <a:xfrm>
            <a:off x="594360" y="3858768"/>
            <a:ext cx="7909560" cy="1005840"/>
          </a:xfrm>
          <a:prstGeom prst="rect">
            <a:avLst/>
          </a:prstGeom>
          <a:noFill/>
          <a:ln/>
        </p:spPr>
        <p:txBody>
          <a:bodyPr wrap="square" lIns="0" tIns="0" rIns="0" bIns="0" rtlCol="0" anchor="t"/>
          <a:lstStyle/>
          <a:p>
            <a:pPr algn="l" indent="0" marL="0">
              <a:buNone/>
            </a:pPr>
            <a:r>
              <a:rPr lang="en-US" sz="950" dirty="0">
                <a:solidFill>
                  <a:srgbClr val="737373"/>
                </a:solidFill>
                <a:latin typeface="Calibri" pitchFamily="34" charset="0"/>
                <a:ea typeface="Calibri" pitchFamily="34" charset="-122"/>
                <a:cs typeface="Calibri" pitchFamily="34" charset="-120"/>
              </a:rPr>
              <a:t>Opportunity partners include NGOs, community organisations, and government agencies. Reward partners are anchor telcos Flow and Digicel — airtime and data vouchers are the primary reward type. Youth: 13–20 year olds in Barbados, primarily smartphone users. FutureBARBADOS sits across all three sides — managing partner relationships, overseeing the platform, and supporting youth.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51AFE9"/>
          </a:solidFill>
          <a:ln w="12700">
            <a:solidFill>
              <a:srgbClr val="51AFE9"/>
            </a:solidFill>
            <a:prstDash val="solid"/>
          </a:ln>
        </p:spPr>
      </p:sp>
      <p:sp>
        <p:nvSpPr>
          <p:cNvPr id="3" name="Shape 1"/>
          <p:cNvSpPr/>
          <p:nvPr/>
        </p:nvSpPr>
        <p:spPr>
          <a:xfrm>
            <a:off x="347472" y="0"/>
            <a:ext cx="8796528" cy="594360"/>
          </a:xfrm>
          <a:prstGeom prst="rect">
            <a:avLst/>
          </a:prstGeom>
          <a:solidFill>
            <a:srgbClr val="41204B"/>
          </a:solidFill>
          <a:ln w="12700">
            <a:solidFill>
              <a:srgbClr val="41204B"/>
            </a:solidFill>
            <a:prstDash val="solid"/>
          </a:ln>
        </p:spPr>
      </p:sp>
      <p:sp>
        <p:nvSpPr>
          <p:cNvPr id="4" name="Text 2"/>
          <p:cNvSpPr/>
          <p:nvPr/>
        </p:nvSpPr>
        <p:spPr>
          <a:xfrm>
            <a:off x="548640" y="0"/>
            <a:ext cx="8229600" cy="594360"/>
          </a:xfrm>
          <a:prstGeom prst="rect">
            <a:avLst/>
          </a:prstGeom>
          <a:noFill/>
          <a:ln/>
        </p:spPr>
        <p:txBody>
          <a:bodyPr wrap="square" lIns="0" tIns="0" rIns="0" bIns="0" rtlCol="0" anchor="ctr"/>
          <a:lstStyle/>
          <a:p>
            <a:pPr algn="l" indent="0" marL="0">
              <a:buNone/>
            </a:pPr>
            <a:r>
              <a:rPr lang="en-US" sz="1200" b="1" spc="200" kern="0" dirty="0">
                <a:solidFill>
                  <a:srgbClr val="FFFFFF"/>
                </a:solidFill>
                <a:latin typeface="Calibri" pitchFamily="34" charset="0"/>
                <a:ea typeface="Calibri" pitchFamily="34" charset="-122"/>
                <a:cs typeface="Calibri" pitchFamily="34" charset="-120"/>
              </a:rPr>
              <a:t>DEMO  ·  5 MINUTES</a:t>
            </a:r>
            <a:endParaRPr lang="en-US" sz="1200" dirty="0"/>
          </a:p>
        </p:txBody>
      </p:sp>
      <p:sp>
        <p:nvSpPr>
          <p:cNvPr id="5" name="Text 3"/>
          <p:cNvSpPr/>
          <p:nvPr/>
        </p:nvSpPr>
        <p:spPr>
          <a:xfrm>
            <a:off x="548640" y="667512"/>
            <a:ext cx="8046720" cy="347472"/>
          </a:xfrm>
          <a:prstGeom prst="rect">
            <a:avLst/>
          </a:prstGeom>
          <a:noFill/>
          <a:ln/>
        </p:spPr>
        <p:txBody>
          <a:bodyPr wrap="square" lIns="0" tIns="0" rIns="0" bIns="0" rtlCol="0" anchor="ctr"/>
          <a:lstStyle/>
          <a:p>
            <a:pPr algn="l" indent="0" marL="0">
              <a:buNone/>
            </a:pPr>
            <a:r>
              <a:rPr lang="en-US" sz="1200" dirty="0">
                <a:solidFill>
                  <a:srgbClr val="737373"/>
                </a:solidFill>
                <a:latin typeface="Calibri" pitchFamily="34" charset="0"/>
                <a:ea typeface="Calibri" pitchFamily="34" charset="-122"/>
                <a:cs typeface="Calibri" pitchFamily="34" charset="-120"/>
              </a:rPr>
              <a:t>Three things we'll walk through together on the live platform.</a:t>
            </a:r>
            <a:endParaRPr lang="en-US" sz="1200" dirty="0"/>
          </a:p>
        </p:txBody>
      </p:sp>
      <p:sp>
        <p:nvSpPr>
          <p:cNvPr id="6" name="Shape 4"/>
          <p:cNvSpPr/>
          <p:nvPr/>
        </p:nvSpPr>
        <p:spPr>
          <a:xfrm>
            <a:off x="457200" y="1097280"/>
            <a:ext cx="2697480" cy="3611880"/>
          </a:xfrm>
          <a:prstGeom prst="rect">
            <a:avLst/>
          </a:prstGeom>
          <a:solidFill>
            <a:srgbClr val="F5F5F5"/>
          </a:solidFill>
          <a:ln w="12700">
            <a:solidFill>
              <a:srgbClr val="E8E8E8"/>
            </a:solidFill>
            <a:prstDash val="solid"/>
          </a:ln>
        </p:spPr>
      </p:sp>
      <p:sp>
        <p:nvSpPr>
          <p:cNvPr id="7" name="Shape 5"/>
          <p:cNvSpPr/>
          <p:nvPr/>
        </p:nvSpPr>
        <p:spPr>
          <a:xfrm>
            <a:off x="457200" y="1097280"/>
            <a:ext cx="2697480" cy="502920"/>
          </a:xfrm>
          <a:prstGeom prst="rect">
            <a:avLst/>
          </a:prstGeom>
          <a:solidFill>
            <a:srgbClr val="51AFE9"/>
          </a:solidFill>
          <a:ln w="12700">
            <a:solidFill>
              <a:srgbClr val="51AFE9"/>
            </a:solidFill>
            <a:prstDash val="solid"/>
          </a:ln>
        </p:spPr>
      </p:sp>
      <p:sp>
        <p:nvSpPr>
          <p:cNvPr id="8" name="Text 6"/>
          <p:cNvSpPr/>
          <p:nvPr/>
        </p:nvSpPr>
        <p:spPr>
          <a:xfrm>
            <a:off x="566928" y="1097280"/>
            <a:ext cx="365760" cy="5029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pic>
        <p:nvPicPr>
          <p:cNvPr id="9" name="Image 0" descr="preencoded.png">    </p:cNvPr>
          <p:cNvPicPr>
            <a:picLocks noChangeAspect="1"/>
          </p:cNvPicPr>
          <p:nvPr/>
        </p:nvPicPr>
        <p:blipFill>
          <a:blip r:embed="rId1"/>
          <a:stretch>
            <a:fillRect/>
          </a:stretch>
        </p:blipFill>
        <p:spPr>
          <a:xfrm>
            <a:off x="2724912" y="1207008"/>
            <a:ext cx="292608" cy="292608"/>
          </a:xfrm>
          <a:prstGeom prst="rect">
            <a:avLst/>
          </a:prstGeom>
        </p:spPr>
      </p:pic>
      <p:sp>
        <p:nvSpPr>
          <p:cNvPr id="10" name="Text 7"/>
          <p:cNvSpPr/>
          <p:nvPr/>
        </p:nvSpPr>
        <p:spPr>
          <a:xfrm>
            <a:off x="594360" y="1673352"/>
            <a:ext cx="2423160" cy="475488"/>
          </a:xfrm>
          <a:prstGeom prst="rect">
            <a:avLst/>
          </a:prstGeom>
          <a:noFill/>
          <a:ln/>
        </p:spPr>
        <p:txBody>
          <a:bodyPr wrap="square" lIns="0" tIns="0" rIns="0" bIns="0" rtlCol="0" anchor="t"/>
          <a:lstStyle/>
          <a:p>
            <a:pPr algn="l" indent="0" marL="0">
              <a:buNone/>
            </a:pPr>
            <a:r>
              <a:rPr lang="en-US" sz="1100" b="1" dirty="0">
                <a:solidFill>
                  <a:srgbClr val="020304"/>
                </a:solidFill>
                <a:latin typeface="Calibri" pitchFamily="34" charset="0"/>
                <a:ea typeface="Calibri" pitchFamily="34" charset="-122"/>
                <a:cs typeface="Calibri" pitchFamily="34" charset="-120"/>
              </a:rPr>
              <a:t>Registering for an Opportunity</a:t>
            </a:r>
            <a:endParaRPr lang="en-US" sz="1100" dirty="0"/>
          </a:p>
        </p:txBody>
      </p:sp>
      <p:sp>
        <p:nvSpPr>
          <p:cNvPr id="11" name="Shape 8"/>
          <p:cNvSpPr/>
          <p:nvPr/>
        </p:nvSpPr>
        <p:spPr>
          <a:xfrm>
            <a:off x="594360" y="2212848"/>
            <a:ext cx="2423160" cy="18288"/>
          </a:xfrm>
          <a:prstGeom prst="rect">
            <a:avLst/>
          </a:prstGeom>
          <a:solidFill>
            <a:srgbClr val="E0E0E0"/>
          </a:solidFill>
          <a:ln w="12700">
            <a:solidFill>
              <a:srgbClr val="E0E0E0"/>
            </a:solidFill>
            <a:prstDash val="solid"/>
          </a:ln>
        </p:spPr>
      </p:sp>
      <p:sp>
        <p:nvSpPr>
          <p:cNvPr id="12" name="Text 9"/>
          <p:cNvSpPr/>
          <p:nvPr/>
        </p:nvSpPr>
        <p:spPr>
          <a:xfrm>
            <a:off x="594360" y="2286000"/>
            <a:ext cx="2423160" cy="2331720"/>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Creating a Yoma account as a new youth user — what the sign-up flow looks like</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Browsing the opportunity feed: search, filter, and discover</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Selecting and joining an opportunity</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What the experience feels like on a smartphone in Barbados</a:t>
            </a:r>
            <a:endParaRPr lang="en-US" sz="950" dirty="0"/>
          </a:p>
        </p:txBody>
      </p:sp>
      <p:sp>
        <p:nvSpPr>
          <p:cNvPr id="13" name="Shape 10"/>
          <p:cNvSpPr/>
          <p:nvPr/>
        </p:nvSpPr>
        <p:spPr>
          <a:xfrm>
            <a:off x="3314700" y="1097280"/>
            <a:ext cx="2697480" cy="3611880"/>
          </a:xfrm>
          <a:prstGeom prst="rect">
            <a:avLst/>
          </a:prstGeom>
          <a:solidFill>
            <a:srgbClr val="F5F5F5"/>
          </a:solidFill>
          <a:ln w="12700">
            <a:solidFill>
              <a:srgbClr val="E8E8E8"/>
            </a:solidFill>
            <a:prstDash val="solid"/>
          </a:ln>
        </p:spPr>
      </p:sp>
      <p:sp>
        <p:nvSpPr>
          <p:cNvPr id="14" name="Shape 11"/>
          <p:cNvSpPr/>
          <p:nvPr/>
        </p:nvSpPr>
        <p:spPr>
          <a:xfrm>
            <a:off x="3314700" y="1097280"/>
            <a:ext cx="2697480" cy="502920"/>
          </a:xfrm>
          <a:prstGeom prst="rect">
            <a:avLst/>
          </a:prstGeom>
          <a:solidFill>
            <a:srgbClr val="387F6A"/>
          </a:solidFill>
          <a:ln w="12700">
            <a:solidFill>
              <a:srgbClr val="387F6A"/>
            </a:solidFill>
            <a:prstDash val="solid"/>
          </a:ln>
        </p:spPr>
      </p:sp>
      <p:sp>
        <p:nvSpPr>
          <p:cNvPr id="15" name="Text 12"/>
          <p:cNvSpPr/>
          <p:nvPr/>
        </p:nvSpPr>
        <p:spPr>
          <a:xfrm>
            <a:off x="3424428" y="1097280"/>
            <a:ext cx="365760" cy="5029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pic>
        <p:nvPicPr>
          <p:cNvPr id="16" name="Image 1" descr="preencoded.png">    </p:cNvPr>
          <p:cNvPicPr>
            <a:picLocks noChangeAspect="1"/>
          </p:cNvPicPr>
          <p:nvPr/>
        </p:nvPicPr>
        <p:blipFill>
          <a:blip r:embed="rId2"/>
          <a:stretch>
            <a:fillRect/>
          </a:stretch>
        </p:blipFill>
        <p:spPr>
          <a:xfrm>
            <a:off x="5582412" y="1207008"/>
            <a:ext cx="292608" cy="292608"/>
          </a:xfrm>
          <a:prstGeom prst="rect">
            <a:avLst/>
          </a:prstGeom>
        </p:spPr>
      </p:pic>
      <p:sp>
        <p:nvSpPr>
          <p:cNvPr id="17" name="Text 13"/>
          <p:cNvSpPr/>
          <p:nvPr/>
        </p:nvSpPr>
        <p:spPr>
          <a:xfrm>
            <a:off x="3451860" y="1673352"/>
            <a:ext cx="2423160" cy="475488"/>
          </a:xfrm>
          <a:prstGeom prst="rect">
            <a:avLst/>
          </a:prstGeom>
          <a:noFill/>
          <a:ln/>
        </p:spPr>
        <p:txBody>
          <a:bodyPr wrap="square" lIns="0" tIns="0" rIns="0" bIns="0" rtlCol="0" anchor="t"/>
          <a:lstStyle/>
          <a:p>
            <a:pPr algn="l" indent="0" marL="0">
              <a:buNone/>
            </a:pPr>
            <a:r>
              <a:rPr lang="en-US" sz="1100" b="1" dirty="0">
                <a:solidFill>
                  <a:srgbClr val="020304"/>
                </a:solidFill>
                <a:latin typeface="Calibri" pitchFamily="34" charset="0"/>
                <a:ea typeface="Calibri" pitchFamily="34" charset="-122"/>
                <a:cs typeface="Calibri" pitchFamily="34" charset="-120"/>
              </a:rPr>
              <a:t>Redeeming Zlto for Rewards</a:t>
            </a:r>
            <a:endParaRPr lang="en-US" sz="1100" dirty="0"/>
          </a:p>
        </p:txBody>
      </p:sp>
      <p:sp>
        <p:nvSpPr>
          <p:cNvPr id="18" name="Shape 14"/>
          <p:cNvSpPr/>
          <p:nvPr/>
        </p:nvSpPr>
        <p:spPr>
          <a:xfrm>
            <a:off x="3451860" y="2212848"/>
            <a:ext cx="2423160" cy="18288"/>
          </a:xfrm>
          <a:prstGeom prst="rect">
            <a:avLst/>
          </a:prstGeom>
          <a:solidFill>
            <a:srgbClr val="E0E0E0"/>
          </a:solidFill>
          <a:ln w="12700">
            <a:solidFill>
              <a:srgbClr val="E0E0E0"/>
            </a:solidFill>
            <a:prstDash val="solid"/>
          </a:ln>
        </p:spPr>
      </p:sp>
      <p:sp>
        <p:nvSpPr>
          <p:cNvPr id="19" name="Text 15"/>
          <p:cNvSpPr/>
          <p:nvPr/>
        </p:nvSpPr>
        <p:spPr>
          <a:xfrm>
            <a:off x="3451860" y="2286000"/>
            <a:ext cx="2423160" cy="2331720"/>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Browsing the rewards marketplace — what's available and at what Zlto cost</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Selecting a reward and initiating redemption</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The confirmation flow — what youth see and receive after redeeming</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Watching the Zlto balance update in real time</a:t>
            </a:r>
            <a:endParaRPr lang="en-US" sz="950" dirty="0"/>
          </a:p>
        </p:txBody>
      </p:sp>
      <p:sp>
        <p:nvSpPr>
          <p:cNvPr id="20" name="Shape 16"/>
          <p:cNvSpPr/>
          <p:nvPr/>
        </p:nvSpPr>
        <p:spPr>
          <a:xfrm>
            <a:off x="6172200" y="1097280"/>
            <a:ext cx="2697480" cy="3611880"/>
          </a:xfrm>
          <a:prstGeom prst="rect">
            <a:avLst/>
          </a:prstGeom>
          <a:solidFill>
            <a:srgbClr val="F5F5F5"/>
          </a:solidFill>
          <a:ln w="12700">
            <a:solidFill>
              <a:srgbClr val="E8E8E8"/>
            </a:solidFill>
            <a:prstDash val="solid"/>
          </a:ln>
        </p:spPr>
      </p:sp>
      <p:sp>
        <p:nvSpPr>
          <p:cNvPr id="21" name="Shape 17"/>
          <p:cNvSpPr/>
          <p:nvPr/>
        </p:nvSpPr>
        <p:spPr>
          <a:xfrm>
            <a:off x="6172200" y="1097280"/>
            <a:ext cx="2697480" cy="502920"/>
          </a:xfrm>
          <a:prstGeom prst="rect">
            <a:avLst/>
          </a:prstGeom>
          <a:solidFill>
            <a:srgbClr val="F0A02D"/>
          </a:solidFill>
          <a:ln w="12700">
            <a:solidFill>
              <a:srgbClr val="F0A02D"/>
            </a:solidFill>
            <a:prstDash val="solid"/>
          </a:ln>
        </p:spPr>
      </p:sp>
      <p:sp>
        <p:nvSpPr>
          <p:cNvPr id="22" name="Text 18"/>
          <p:cNvSpPr/>
          <p:nvPr/>
        </p:nvSpPr>
        <p:spPr>
          <a:xfrm>
            <a:off x="6281928" y="1097280"/>
            <a:ext cx="365760" cy="5029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pic>
        <p:nvPicPr>
          <p:cNvPr id="23" name="Image 2" descr="preencoded.png">    </p:cNvPr>
          <p:cNvPicPr>
            <a:picLocks noChangeAspect="1"/>
          </p:cNvPicPr>
          <p:nvPr/>
        </p:nvPicPr>
        <p:blipFill>
          <a:blip r:embed="rId3"/>
          <a:stretch>
            <a:fillRect/>
          </a:stretch>
        </p:blipFill>
        <p:spPr>
          <a:xfrm>
            <a:off x="8439912" y="1207008"/>
            <a:ext cx="292608" cy="292608"/>
          </a:xfrm>
          <a:prstGeom prst="rect">
            <a:avLst/>
          </a:prstGeom>
        </p:spPr>
      </p:pic>
      <p:sp>
        <p:nvSpPr>
          <p:cNvPr id="24" name="Text 19"/>
          <p:cNvSpPr/>
          <p:nvPr/>
        </p:nvSpPr>
        <p:spPr>
          <a:xfrm>
            <a:off x="6309360" y="1673352"/>
            <a:ext cx="2423160" cy="475488"/>
          </a:xfrm>
          <a:prstGeom prst="rect">
            <a:avLst/>
          </a:prstGeom>
          <a:noFill/>
          <a:ln/>
        </p:spPr>
        <p:txBody>
          <a:bodyPr wrap="square" lIns="0" tIns="0" rIns="0" bIns="0" rtlCol="0" anchor="t"/>
          <a:lstStyle/>
          <a:p>
            <a:pPr algn="l" indent="0" marL="0">
              <a:buNone/>
            </a:pPr>
            <a:r>
              <a:rPr lang="en-US" sz="1100" b="1" dirty="0">
                <a:solidFill>
                  <a:srgbClr val="020304"/>
                </a:solidFill>
                <a:latin typeface="Calibri" pitchFamily="34" charset="0"/>
                <a:ea typeface="Calibri" pitchFamily="34" charset="-122"/>
                <a:cs typeface="Calibri" pitchFamily="34" charset="-120"/>
              </a:rPr>
              <a:t>Different Ways of Redeeming</a:t>
            </a:r>
            <a:endParaRPr lang="en-US" sz="1100" dirty="0"/>
          </a:p>
        </p:txBody>
      </p:sp>
      <p:sp>
        <p:nvSpPr>
          <p:cNvPr id="25" name="Shape 20"/>
          <p:cNvSpPr/>
          <p:nvPr/>
        </p:nvSpPr>
        <p:spPr>
          <a:xfrm>
            <a:off x="6309360" y="2212848"/>
            <a:ext cx="2423160" cy="18288"/>
          </a:xfrm>
          <a:prstGeom prst="rect">
            <a:avLst/>
          </a:prstGeom>
          <a:solidFill>
            <a:srgbClr val="E0E0E0"/>
          </a:solidFill>
          <a:ln w="12700">
            <a:solidFill>
              <a:srgbClr val="E0E0E0"/>
            </a:solidFill>
            <a:prstDash val="solid"/>
          </a:ln>
        </p:spPr>
      </p:sp>
      <p:sp>
        <p:nvSpPr>
          <p:cNvPr id="26" name="Text 21"/>
          <p:cNvSpPr/>
          <p:nvPr/>
        </p:nvSpPr>
        <p:spPr>
          <a:xfrm>
            <a:off x="6309360" y="2286000"/>
            <a:ext cx="2423160" cy="2331720"/>
          </a:xfrm>
          <a:prstGeom prst="rect">
            <a:avLst/>
          </a:prstGeom>
          <a:noFill/>
          <a:ln/>
        </p:spPr>
        <p:txBody>
          <a:bodyPr wrap="square" lIns="0" tIns="0" rIns="0" bIns="0" rtlCol="0" anchor="t"/>
          <a:lstStyle/>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Airtime and data voucher redemption — the primary Barbados model</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Manual redemption via partner fulfilment process</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QR-based instant verification at point of redemption</a:t>
            </a:r>
            <a:endParaRPr lang="en-US" sz="950" dirty="0"/>
          </a:p>
          <a:p>
            <a:pPr algn="l" marL="342900" indent="-342900">
              <a:buSzPct val="100000"/>
              <a:buChar char="•"/>
            </a:pPr>
            <a:r>
              <a:rPr lang="en-US" sz="950" dirty="0">
                <a:solidFill>
                  <a:srgbClr val="737373"/>
                </a:solidFill>
                <a:latin typeface="Calibri" pitchFamily="34" charset="0"/>
                <a:ea typeface="Calibri" pitchFamily="34" charset="-122"/>
                <a:cs typeface="Calibri" pitchFamily="34" charset="-120"/>
              </a:rPr>
              <a:t>What the reward partner sees and does on their side of the platform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1204B"/>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F0A02D"/>
          </a:solidFill>
          <a:ln w="12700">
            <a:solidFill>
              <a:srgbClr val="F0A02D"/>
            </a:solidFill>
            <a:prstDash val="solid"/>
          </a:ln>
        </p:spPr>
      </p:sp>
      <p:sp>
        <p:nvSpPr>
          <p:cNvPr id="3" name="Text 1"/>
          <p:cNvSpPr/>
          <p:nvPr/>
        </p:nvSpPr>
        <p:spPr>
          <a:xfrm>
            <a:off x="457200" y="201168"/>
            <a:ext cx="8229600" cy="347472"/>
          </a:xfrm>
          <a:prstGeom prst="rect">
            <a:avLst/>
          </a:prstGeom>
          <a:noFill/>
          <a:ln/>
        </p:spPr>
        <p:txBody>
          <a:bodyPr wrap="square" lIns="0" tIns="0" rIns="0" bIns="0" rtlCol="0" anchor="ctr"/>
          <a:lstStyle/>
          <a:p>
            <a:pPr algn="l" indent="0" marL="0">
              <a:buNone/>
            </a:pPr>
            <a:r>
              <a:rPr lang="en-US" sz="1100" b="1" spc="300" kern="0" dirty="0">
                <a:solidFill>
                  <a:srgbClr val="F0A02D"/>
                </a:solidFill>
                <a:latin typeface="Calibri" pitchFamily="34" charset="0"/>
                <a:ea typeface="Calibri" pitchFamily="34" charset="-122"/>
                <a:cs typeface="Calibri" pitchFamily="34" charset="-120"/>
              </a:rPr>
              <a:t>COSTS</a:t>
            </a:r>
            <a:endParaRPr lang="en-US" sz="1100" dirty="0"/>
          </a:p>
        </p:txBody>
      </p:sp>
      <p:sp>
        <p:nvSpPr>
          <p:cNvPr id="4" name="Text 2"/>
          <p:cNvSpPr/>
          <p:nvPr/>
        </p:nvSpPr>
        <p:spPr>
          <a:xfrm>
            <a:off x="457200" y="640080"/>
            <a:ext cx="822960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Understanding what Yoma costs — and what gets you what.</a:t>
            </a:r>
            <a:endParaRPr lang="en-US" sz="1300" dirty="0"/>
          </a:p>
        </p:txBody>
      </p:sp>
      <p:sp>
        <p:nvSpPr>
          <p:cNvPr id="5" name="Shape 3"/>
          <p:cNvSpPr/>
          <p:nvPr/>
        </p:nvSpPr>
        <p:spPr>
          <a:xfrm>
            <a:off x="320040" y="1115568"/>
            <a:ext cx="4114800" cy="3429000"/>
          </a:xfrm>
          <a:prstGeom prst="rect">
            <a:avLst/>
          </a:prstGeom>
          <a:solidFill>
            <a:srgbClr val="FFFFFF">
              <a:alpha val="25000"/>
            </a:srgbClr>
          </a:solidFill>
          <a:ln w="12700">
            <a:solidFill>
              <a:srgbClr val="387F6A"/>
            </a:solidFill>
            <a:prstDash val="solid"/>
          </a:ln>
        </p:spPr>
      </p:sp>
      <p:sp>
        <p:nvSpPr>
          <p:cNvPr id="6" name="Shape 4"/>
          <p:cNvSpPr/>
          <p:nvPr/>
        </p:nvSpPr>
        <p:spPr>
          <a:xfrm>
            <a:off x="320040" y="1115568"/>
            <a:ext cx="4114800" cy="64008"/>
          </a:xfrm>
          <a:prstGeom prst="rect">
            <a:avLst/>
          </a:prstGeom>
          <a:solidFill>
            <a:srgbClr val="387F6A"/>
          </a:solidFill>
          <a:ln w="12700">
            <a:solidFill>
              <a:srgbClr val="387F6A"/>
            </a:solidFill>
            <a:prstDash val="solid"/>
          </a:ln>
        </p:spPr>
      </p:sp>
      <p:pic>
        <p:nvPicPr>
          <p:cNvPr id="7" name="Image 0" descr="preencoded.png">    </p:cNvPr>
          <p:cNvPicPr>
            <a:picLocks noChangeAspect="1"/>
          </p:cNvPicPr>
          <p:nvPr/>
        </p:nvPicPr>
        <p:blipFill>
          <a:blip r:embed="rId1"/>
          <a:stretch>
            <a:fillRect/>
          </a:stretch>
        </p:blipFill>
        <p:spPr>
          <a:xfrm>
            <a:off x="457200" y="1207008"/>
            <a:ext cx="292608" cy="292608"/>
          </a:xfrm>
          <a:prstGeom prst="rect">
            <a:avLst/>
          </a:prstGeom>
        </p:spPr>
      </p:pic>
      <p:sp>
        <p:nvSpPr>
          <p:cNvPr id="8" name="Text 5"/>
          <p:cNvSpPr/>
          <p:nvPr/>
        </p:nvSpPr>
        <p:spPr>
          <a:xfrm>
            <a:off x="841248" y="1197864"/>
            <a:ext cx="3474720" cy="292608"/>
          </a:xfrm>
          <a:prstGeom prst="rect">
            <a:avLst/>
          </a:prstGeom>
          <a:noFill/>
          <a:ln/>
        </p:spPr>
        <p:txBody>
          <a:bodyPr wrap="square" lIns="0" tIns="0" rIns="0" bIns="0" rtlCol="0" anchor="ctr"/>
          <a:lstStyle/>
          <a:p>
            <a:pPr algn="l" indent="0" marL="0">
              <a:buNone/>
            </a:pPr>
            <a:r>
              <a:rPr lang="en-US" sz="950" b="1" spc="100" kern="0" dirty="0">
                <a:solidFill>
                  <a:srgbClr val="FFFFFF"/>
                </a:solidFill>
                <a:latin typeface="Calibri" pitchFamily="34" charset="0"/>
                <a:ea typeface="Calibri" pitchFamily="34" charset="-122"/>
                <a:cs typeface="Calibri" pitchFamily="34" charset="-120"/>
              </a:rPr>
              <a:t>PLATFORM LICENSING FEE</a:t>
            </a:r>
            <a:endParaRPr lang="en-US" sz="950" dirty="0"/>
          </a:p>
        </p:txBody>
      </p:sp>
      <p:sp>
        <p:nvSpPr>
          <p:cNvPr id="9" name="Text 6"/>
          <p:cNvSpPr/>
          <p:nvPr/>
        </p:nvSpPr>
        <p:spPr>
          <a:xfrm>
            <a:off x="457200" y="1554480"/>
            <a:ext cx="3840480" cy="256032"/>
          </a:xfrm>
          <a:prstGeom prst="rect">
            <a:avLst/>
          </a:prstGeom>
          <a:noFill/>
          <a:ln/>
        </p:spPr>
        <p:txBody>
          <a:bodyPr wrap="square" lIns="0" tIns="0" rIns="0" bIns="0" rtlCol="0" anchor="ctr"/>
          <a:lstStyle/>
          <a:p>
            <a:pPr algn="l" indent="0" marL="0">
              <a:buNone/>
            </a:pPr>
            <a:r>
              <a:rPr lang="en-US" sz="950" i="1" dirty="0">
                <a:solidFill>
                  <a:srgbClr val="C0C0C0"/>
                </a:solidFill>
                <a:latin typeface="Calibri" pitchFamily="34" charset="0"/>
                <a:ea typeface="Calibri" pitchFamily="34" charset="-122"/>
                <a:cs typeface="Calibri" pitchFamily="34" charset="-120"/>
              </a:rPr>
              <a:t>The cost to use Yoma</a:t>
            </a:r>
            <a:endParaRPr lang="en-US" sz="950" dirty="0"/>
          </a:p>
        </p:txBody>
      </p:sp>
      <p:sp>
        <p:nvSpPr>
          <p:cNvPr id="10" name="Text 7"/>
          <p:cNvSpPr/>
          <p:nvPr/>
        </p:nvSpPr>
        <p:spPr>
          <a:xfrm>
            <a:off x="457200" y="1874520"/>
            <a:ext cx="3840480" cy="2176272"/>
          </a:xfrm>
          <a:prstGeom prst="rect">
            <a:avLst/>
          </a:prstGeom>
          <a:noFill/>
          <a:ln/>
        </p:spPr>
        <p:txBody>
          <a:bodyPr wrap="square" lIns="0" tIns="0" rIns="0" bIns="0" rtlCol="0" anchor="t"/>
          <a:lstStyle/>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Access to the full Yoma platform — web app, opportunity management, rewards marketplace, YoID credentials, and partner portal</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Hosting, infrastructure, and core platform maintenance included in the licensing arrangement</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Standard deployment support from the RLabs / Yoma team</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Licensing terms are negotiated directly with RLabs — there is no published price list</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FutureBARBADOS should confirm what is included in the current partnership agreement and what triggers additional charges</a:t>
            </a:r>
            <a:endParaRPr lang="en-US" sz="900" dirty="0"/>
          </a:p>
        </p:txBody>
      </p:sp>
      <p:sp>
        <p:nvSpPr>
          <p:cNvPr id="11" name="Shape 8"/>
          <p:cNvSpPr/>
          <p:nvPr/>
        </p:nvSpPr>
        <p:spPr>
          <a:xfrm>
            <a:off x="411480" y="4133088"/>
            <a:ext cx="3931920" cy="329184"/>
          </a:xfrm>
          <a:prstGeom prst="rect">
            <a:avLst/>
          </a:prstGeom>
          <a:solidFill>
            <a:srgbClr val="387F6A">
              <a:alpha val="18000"/>
            </a:srgbClr>
          </a:solidFill>
          <a:ln w="12700">
            <a:solidFill>
              <a:srgbClr val="387F6A"/>
            </a:solidFill>
            <a:prstDash val="solid"/>
          </a:ln>
        </p:spPr>
      </p:sp>
      <p:sp>
        <p:nvSpPr>
          <p:cNvPr id="12" name="Text 9"/>
          <p:cNvSpPr/>
          <p:nvPr/>
        </p:nvSpPr>
        <p:spPr>
          <a:xfrm>
            <a:off x="484632" y="4133088"/>
            <a:ext cx="3822192" cy="329184"/>
          </a:xfrm>
          <a:prstGeom prst="rect">
            <a:avLst/>
          </a:prstGeom>
          <a:noFill/>
          <a:ln/>
        </p:spPr>
        <p:txBody>
          <a:bodyPr wrap="square" lIns="0" tIns="0" rIns="0" bIns="0" rtlCol="0" anchor="ctr"/>
          <a:lstStyle/>
          <a:p>
            <a:pPr algn="l" indent="0" marL="0">
              <a:buNone/>
            </a:pPr>
            <a:r>
              <a:rPr lang="en-US" sz="800" i="1" dirty="0">
                <a:solidFill>
                  <a:srgbClr val="FFFFFF"/>
                </a:solidFill>
                <a:latin typeface="Calibri" pitchFamily="34" charset="0"/>
                <a:ea typeface="Calibri" pitchFamily="34" charset="-122"/>
                <a:cs typeface="Calibri" pitchFamily="34" charset="-120"/>
              </a:rPr>
              <a:t>Key question: Is the fee a flat annual cost, a per-youth seat, or a percentage of rewards transacted?</a:t>
            </a:r>
            <a:endParaRPr lang="en-US" sz="800" dirty="0"/>
          </a:p>
        </p:txBody>
      </p:sp>
      <p:sp>
        <p:nvSpPr>
          <p:cNvPr id="13" name="Shape 10"/>
          <p:cNvSpPr/>
          <p:nvPr/>
        </p:nvSpPr>
        <p:spPr>
          <a:xfrm>
            <a:off x="4754880" y="1115568"/>
            <a:ext cx="4114800" cy="3429000"/>
          </a:xfrm>
          <a:prstGeom prst="rect">
            <a:avLst/>
          </a:prstGeom>
          <a:solidFill>
            <a:srgbClr val="FFFFFF">
              <a:alpha val="25000"/>
            </a:srgbClr>
          </a:solidFill>
          <a:ln w="12700">
            <a:solidFill>
              <a:srgbClr val="F0A02D"/>
            </a:solidFill>
            <a:prstDash val="solid"/>
          </a:ln>
        </p:spPr>
      </p:sp>
      <p:sp>
        <p:nvSpPr>
          <p:cNvPr id="14" name="Shape 11"/>
          <p:cNvSpPr/>
          <p:nvPr/>
        </p:nvSpPr>
        <p:spPr>
          <a:xfrm>
            <a:off x="4754880" y="1115568"/>
            <a:ext cx="4114800" cy="64008"/>
          </a:xfrm>
          <a:prstGeom prst="rect">
            <a:avLst/>
          </a:prstGeom>
          <a:solidFill>
            <a:srgbClr val="F0A02D"/>
          </a:solidFill>
          <a:ln w="12700">
            <a:solidFill>
              <a:srgbClr val="F0A02D"/>
            </a:solidFill>
            <a:prstDash val="solid"/>
          </a:ln>
        </p:spPr>
      </p:sp>
      <p:pic>
        <p:nvPicPr>
          <p:cNvPr id="15" name="Image 1" descr="preencoded.png">    </p:cNvPr>
          <p:cNvPicPr>
            <a:picLocks noChangeAspect="1"/>
          </p:cNvPicPr>
          <p:nvPr/>
        </p:nvPicPr>
        <p:blipFill>
          <a:blip r:embed="rId2"/>
          <a:stretch>
            <a:fillRect/>
          </a:stretch>
        </p:blipFill>
        <p:spPr>
          <a:xfrm>
            <a:off x="4892040" y="1207008"/>
            <a:ext cx="292608" cy="292608"/>
          </a:xfrm>
          <a:prstGeom prst="rect">
            <a:avLst/>
          </a:prstGeom>
        </p:spPr>
      </p:pic>
      <p:sp>
        <p:nvSpPr>
          <p:cNvPr id="16" name="Text 12"/>
          <p:cNvSpPr/>
          <p:nvPr/>
        </p:nvSpPr>
        <p:spPr>
          <a:xfrm>
            <a:off x="5276088" y="1197864"/>
            <a:ext cx="3474720" cy="292608"/>
          </a:xfrm>
          <a:prstGeom prst="rect">
            <a:avLst/>
          </a:prstGeom>
          <a:noFill/>
          <a:ln/>
        </p:spPr>
        <p:txBody>
          <a:bodyPr wrap="square" lIns="0" tIns="0" rIns="0" bIns="0" rtlCol="0" anchor="ctr"/>
          <a:lstStyle/>
          <a:p>
            <a:pPr algn="l" indent="0" marL="0">
              <a:buNone/>
            </a:pPr>
            <a:r>
              <a:rPr lang="en-US" sz="950" b="1" spc="100" kern="0" dirty="0">
                <a:solidFill>
                  <a:srgbClr val="FFFFFF"/>
                </a:solidFill>
                <a:latin typeface="Calibri" pitchFamily="34" charset="0"/>
                <a:ea typeface="Calibri" pitchFamily="34" charset="-122"/>
                <a:cs typeface="Calibri" pitchFamily="34" charset="-120"/>
              </a:rPr>
              <a:t>FEATURE DEVELOPMENT COSTS</a:t>
            </a:r>
            <a:endParaRPr lang="en-US" sz="950" dirty="0"/>
          </a:p>
        </p:txBody>
      </p:sp>
      <p:sp>
        <p:nvSpPr>
          <p:cNvPr id="17" name="Text 13"/>
          <p:cNvSpPr/>
          <p:nvPr/>
        </p:nvSpPr>
        <p:spPr>
          <a:xfrm>
            <a:off x="4892040" y="1554480"/>
            <a:ext cx="3840480" cy="256032"/>
          </a:xfrm>
          <a:prstGeom prst="rect">
            <a:avLst/>
          </a:prstGeom>
          <a:noFill/>
          <a:ln/>
        </p:spPr>
        <p:txBody>
          <a:bodyPr wrap="square" lIns="0" tIns="0" rIns="0" bIns="0" rtlCol="0" anchor="ctr"/>
          <a:lstStyle/>
          <a:p>
            <a:pPr algn="l" indent="0" marL="0">
              <a:buNone/>
            </a:pPr>
            <a:r>
              <a:rPr lang="en-US" sz="950" i="1" dirty="0">
                <a:solidFill>
                  <a:srgbClr val="C0C0C0"/>
                </a:solidFill>
                <a:latin typeface="Calibri" pitchFamily="34" charset="0"/>
                <a:ea typeface="Calibri" pitchFamily="34" charset="-122"/>
                <a:cs typeface="Calibri" pitchFamily="34" charset="-120"/>
              </a:rPr>
              <a:t>Building beyond the standard platform</a:t>
            </a:r>
            <a:endParaRPr lang="en-US" sz="950" dirty="0"/>
          </a:p>
        </p:txBody>
      </p:sp>
      <p:sp>
        <p:nvSpPr>
          <p:cNvPr id="18" name="Text 14"/>
          <p:cNvSpPr/>
          <p:nvPr/>
        </p:nvSpPr>
        <p:spPr>
          <a:xfrm>
            <a:off x="4892040" y="1874520"/>
            <a:ext cx="3840480" cy="2176272"/>
          </a:xfrm>
          <a:prstGeom prst="rect">
            <a:avLst/>
          </a:prstGeom>
          <a:noFill/>
          <a:ln/>
        </p:spPr>
        <p:txBody>
          <a:bodyPr wrap="square" lIns="0" tIns="0" rIns="0" bIns="0" rtlCol="0" anchor="t"/>
          <a:lstStyle/>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Any capability not on the current platform roadmap must be scoped and quoted separately</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Barbados requirements likely needing development: data export / CSV reporting, staging environment, WhatsApp notifications, custom roles</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Development is done by the RLabs engineering team — timelines and costs are quoted per request</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Features on the Q4 2026 roadmap (e.g. data export) may require funding to accelerate ahead of the pilot</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FutureBARBADOS should request a written feature request process and formal quotes for any non-standard item</a:t>
            </a:r>
            <a:endParaRPr lang="en-US" sz="900" dirty="0"/>
          </a:p>
        </p:txBody>
      </p:sp>
      <p:sp>
        <p:nvSpPr>
          <p:cNvPr id="19" name="Shape 15"/>
          <p:cNvSpPr/>
          <p:nvPr/>
        </p:nvSpPr>
        <p:spPr>
          <a:xfrm>
            <a:off x="4846320" y="4133088"/>
            <a:ext cx="3931920" cy="329184"/>
          </a:xfrm>
          <a:prstGeom prst="rect">
            <a:avLst/>
          </a:prstGeom>
          <a:solidFill>
            <a:srgbClr val="F0A02D">
              <a:alpha val="18000"/>
            </a:srgbClr>
          </a:solidFill>
          <a:ln w="12700">
            <a:solidFill>
              <a:srgbClr val="F0A02D"/>
            </a:solidFill>
            <a:prstDash val="solid"/>
          </a:ln>
        </p:spPr>
      </p:sp>
      <p:sp>
        <p:nvSpPr>
          <p:cNvPr id="20" name="Text 16"/>
          <p:cNvSpPr/>
          <p:nvPr/>
        </p:nvSpPr>
        <p:spPr>
          <a:xfrm>
            <a:off x="4919472" y="4133088"/>
            <a:ext cx="3822192" cy="329184"/>
          </a:xfrm>
          <a:prstGeom prst="rect">
            <a:avLst/>
          </a:prstGeom>
          <a:noFill/>
          <a:ln/>
        </p:spPr>
        <p:txBody>
          <a:bodyPr wrap="square" lIns="0" tIns="0" rIns="0" bIns="0" rtlCol="0" anchor="ctr"/>
          <a:lstStyle/>
          <a:p>
            <a:pPr algn="l" indent="0" marL="0">
              <a:buNone/>
            </a:pPr>
            <a:r>
              <a:rPr lang="en-US" sz="800" i="1" dirty="0">
                <a:solidFill>
                  <a:srgbClr val="FFFFFF"/>
                </a:solidFill>
                <a:latin typeface="Calibri" pitchFamily="34" charset="0"/>
                <a:ea typeface="Calibri" pitchFamily="34" charset="-122"/>
                <a:cs typeface="Calibri" pitchFamily="34" charset="-120"/>
              </a:rPr>
              <a:t>Key question: Which of the Top 10 Barbados requirements fall outside the standard platform and need a development quote?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1204B"/>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51AFE9"/>
          </a:solidFill>
          <a:ln w="12700">
            <a:solidFill>
              <a:srgbClr val="51AFE9"/>
            </a:solidFill>
            <a:prstDash val="solid"/>
          </a:ln>
        </p:spPr>
      </p:sp>
      <p:sp>
        <p:nvSpPr>
          <p:cNvPr id="3" name="Text 1"/>
          <p:cNvSpPr/>
          <p:nvPr/>
        </p:nvSpPr>
        <p:spPr>
          <a:xfrm>
            <a:off x="457200" y="201168"/>
            <a:ext cx="8229600" cy="347472"/>
          </a:xfrm>
          <a:prstGeom prst="rect">
            <a:avLst/>
          </a:prstGeom>
          <a:noFill/>
          <a:ln/>
        </p:spPr>
        <p:txBody>
          <a:bodyPr wrap="square" lIns="0" tIns="0" rIns="0" bIns="0" rtlCol="0" anchor="ctr"/>
          <a:lstStyle/>
          <a:p>
            <a:pPr algn="l" indent="0" marL="0">
              <a:buNone/>
            </a:pPr>
            <a:r>
              <a:rPr lang="en-US" sz="1100" b="1" spc="300" kern="0" dirty="0">
                <a:solidFill>
                  <a:srgbClr val="51AFE9"/>
                </a:solidFill>
                <a:latin typeface="Calibri" pitchFamily="34" charset="0"/>
                <a:ea typeface="Calibri" pitchFamily="34" charset="-122"/>
                <a:cs typeface="Calibri" pitchFamily="34" charset="-120"/>
              </a:rPr>
              <a:t>TEAM SUPPORT</a:t>
            </a:r>
            <a:endParaRPr lang="en-US" sz="1100" dirty="0"/>
          </a:p>
        </p:txBody>
      </p:sp>
      <p:sp>
        <p:nvSpPr>
          <p:cNvPr id="4" name="Text 2"/>
          <p:cNvSpPr/>
          <p:nvPr/>
        </p:nvSpPr>
        <p:spPr>
          <a:xfrm>
            <a:off x="457200" y="640080"/>
            <a:ext cx="822960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How Yoma and RLabs will support the Barbados rollout.</a:t>
            </a:r>
            <a:endParaRPr lang="en-US" sz="1300" dirty="0"/>
          </a:p>
        </p:txBody>
      </p:sp>
      <p:sp>
        <p:nvSpPr>
          <p:cNvPr id="5" name="Shape 3"/>
          <p:cNvSpPr/>
          <p:nvPr/>
        </p:nvSpPr>
        <p:spPr>
          <a:xfrm>
            <a:off x="320040" y="1143000"/>
            <a:ext cx="2761488" cy="3520440"/>
          </a:xfrm>
          <a:prstGeom prst="rect">
            <a:avLst/>
          </a:prstGeom>
          <a:solidFill>
            <a:srgbClr val="FFFFFF">
              <a:alpha val="25000"/>
            </a:srgbClr>
          </a:solidFill>
          <a:ln w="12700">
            <a:solidFill>
              <a:srgbClr val="387F6A"/>
            </a:solidFill>
            <a:prstDash val="solid"/>
          </a:ln>
        </p:spPr>
      </p:sp>
      <p:sp>
        <p:nvSpPr>
          <p:cNvPr id="6" name="Shape 4"/>
          <p:cNvSpPr/>
          <p:nvPr/>
        </p:nvSpPr>
        <p:spPr>
          <a:xfrm>
            <a:off x="320040" y="1143000"/>
            <a:ext cx="2761488" cy="502920"/>
          </a:xfrm>
          <a:prstGeom prst="rect">
            <a:avLst/>
          </a:prstGeom>
          <a:solidFill>
            <a:srgbClr val="387F6A"/>
          </a:solidFill>
          <a:ln w="12700">
            <a:solidFill>
              <a:srgbClr val="387F6A"/>
            </a:solidFill>
            <a:prstDash val="solid"/>
          </a:ln>
        </p:spPr>
      </p:sp>
      <p:pic>
        <p:nvPicPr>
          <p:cNvPr id="7" name="Image 0" descr="preencoded.png">    </p:cNvPr>
          <p:cNvPicPr>
            <a:picLocks noChangeAspect="1"/>
          </p:cNvPicPr>
          <p:nvPr/>
        </p:nvPicPr>
        <p:blipFill>
          <a:blip r:embed="rId1"/>
          <a:stretch>
            <a:fillRect/>
          </a:stretch>
        </p:blipFill>
        <p:spPr>
          <a:xfrm>
            <a:off x="429768" y="1261872"/>
            <a:ext cx="274320" cy="274320"/>
          </a:xfrm>
          <a:prstGeom prst="rect">
            <a:avLst/>
          </a:prstGeom>
        </p:spPr>
      </p:pic>
      <p:sp>
        <p:nvSpPr>
          <p:cNvPr id="8" name="Text 5"/>
          <p:cNvSpPr/>
          <p:nvPr/>
        </p:nvSpPr>
        <p:spPr>
          <a:xfrm>
            <a:off x="795528" y="1261872"/>
            <a:ext cx="2194560" cy="274320"/>
          </a:xfrm>
          <a:prstGeom prst="rect">
            <a:avLst/>
          </a:prstGeom>
          <a:noFill/>
          <a:ln/>
        </p:spPr>
        <p:txBody>
          <a:bodyPr wrap="square" lIns="0" tIns="0" rIns="0" bIns="0" rtlCol="0" anchor="ctr"/>
          <a:lstStyle/>
          <a:p>
            <a:pPr algn="l" indent="0" marL="0">
              <a:buNone/>
            </a:pPr>
            <a:r>
              <a:rPr lang="en-US" sz="850" b="1" spc="100" kern="0" dirty="0">
                <a:solidFill>
                  <a:srgbClr val="FFFFFF"/>
                </a:solidFill>
                <a:latin typeface="Calibri" pitchFamily="34" charset="0"/>
                <a:ea typeface="Calibri" pitchFamily="34" charset="-122"/>
                <a:cs typeface="Calibri" pitchFamily="34" charset="-120"/>
              </a:rPr>
              <a:t>TRAIN-THE-TRAINER</a:t>
            </a:r>
            <a:endParaRPr lang="en-US" sz="850" dirty="0"/>
          </a:p>
        </p:txBody>
      </p:sp>
      <p:sp>
        <p:nvSpPr>
          <p:cNvPr id="9" name="Text 6"/>
          <p:cNvSpPr/>
          <p:nvPr/>
        </p:nvSpPr>
        <p:spPr>
          <a:xfrm>
            <a:off x="457200" y="1728216"/>
            <a:ext cx="2487168" cy="749808"/>
          </a:xfrm>
          <a:prstGeom prst="rect">
            <a:avLst/>
          </a:prstGeom>
          <a:noFill/>
          <a:ln/>
        </p:spPr>
        <p:txBody>
          <a:bodyPr wrap="square" lIns="0" tIns="0" rIns="0" bIns="0" rtlCol="0" anchor="t"/>
          <a:lstStyle/>
          <a:p>
            <a:pPr algn="l" indent="0" marL="0">
              <a:buNone/>
            </a:pPr>
            <a:r>
              <a:rPr lang="en-US" sz="950" i="1" dirty="0">
                <a:solidFill>
                  <a:srgbClr val="C0C0C0"/>
                </a:solidFill>
                <a:latin typeface="Calibri" pitchFamily="34" charset="0"/>
                <a:ea typeface="Calibri" pitchFamily="34" charset="-122"/>
                <a:cs typeface="Calibri" pitchFamily="34" charset="-120"/>
              </a:rPr>
              <a:t>RLabs trains FutureBARBADOS, who then trains and supports all local opportunity and reward partners in Barbados.</a:t>
            </a:r>
            <a:endParaRPr lang="en-US" sz="950" dirty="0"/>
          </a:p>
        </p:txBody>
      </p:sp>
      <p:sp>
        <p:nvSpPr>
          <p:cNvPr id="10" name="Shape 7"/>
          <p:cNvSpPr/>
          <p:nvPr/>
        </p:nvSpPr>
        <p:spPr>
          <a:xfrm>
            <a:off x="457200" y="2532888"/>
            <a:ext cx="2487168" cy="18288"/>
          </a:xfrm>
          <a:prstGeom prst="rect">
            <a:avLst/>
          </a:prstGeom>
          <a:solidFill>
            <a:srgbClr val="E0E0E0"/>
          </a:solidFill>
          <a:ln w="12700">
            <a:solidFill>
              <a:srgbClr val="E0E0E0"/>
            </a:solidFill>
            <a:prstDash val="solid"/>
          </a:ln>
        </p:spPr>
      </p:sp>
      <p:sp>
        <p:nvSpPr>
          <p:cNvPr id="11" name="Text 8"/>
          <p:cNvSpPr/>
          <p:nvPr/>
        </p:nvSpPr>
        <p:spPr>
          <a:xfrm>
            <a:off x="457200" y="2624328"/>
            <a:ext cx="2487168" cy="1947672"/>
          </a:xfrm>
          <a:prstGeom prst="rect">
            <a:avLst/>
          </a:prstGeom>
          <a:noFill/>
          <a:ln/>
        </p:spPr>
        <p:txBody>
          <a:bodyPr wrap="square" lIns="0" tIns="0" rIns="0" bIns="0" rtlCol="0" anchor="t"/>
          <a:lstStyle/>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Single intensive training from RLabs covering platform use, partner onboarding, and troubleshooting</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FutureBARBADOS becomes the first-line support contact for all Barbados partners</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Training materials and onboarding guides for this model are currently being developed — a dependency before go-live</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Scope and timing of the RLabs training session should be formally agreed</a:t>
            </a:r>
            <a:endParaRPr lang="en-US" sz="900" dirty="0"/>
          </a:p>
        </p:txBody>
      </p:sp>
      <p:sp>
        <p:nvSpPr>
          <p:cNvPr id="12" name="Shape 9"/>
          <p:cNvSpPr/>
          <p:nvPr/>
        </p:nvSpPr>
        <p:spPr>
          <a:xfrm>
            <a:off x="3191256" y="1143000"/>
            <a:ext cx="2761488" cy="3520440"/>
          </a:xfrm>
          <a:prstGeom prst="rect">
            <a:avLst/>
          </a:prstGeom>
          <a:solidFill>
            <a:srgbClr val="FFFFFF">
              <a:alpha val="25000"/>
            </a:srgbClr>
          </a:solidFill>
          <a:ln w="12700">
            <a:solidFill>
              <a:srgbClr val="51AFE9"/>
            </a:solidFill>
            <a:prstDash val="solid"/>
          </a:ln>
        </p:spPr>
      </p:sp>
      <p:sp>
        <p:nvSpPr>
          <p:cNvPr id="13" name="Shape 10"/>
          <p:cNvSpPr/>
          <p:nvPr/>
        </p:nvSpPr>
        <p:spPr>
          <a:xfrm>
            <a:off x="3191256" y="1143000"/>
            <a:ext cx="2761488" cy="502920"/>
          </a:xfrm>
          <a:prstGeom prst="rect">
            <a:avLst/>
          </a:prstGeom>
          <a:solidFill>
            <a:srgbClr val="51AFE9"/>
          </a:solidFill>
          <a:ln w="12700">
            <a:solidFill>
              <a:srgbClr val="51AFE9"/>
            </a:solidFill>
            <a:prstDash val="solid"/>
          </a:ln>
        </p:spPr>
      </p:sp>
      <p:pic>
        <p:nvPicPr>
          <p:cNvPr id="14" name="Image 1" descr="preencoded.png">    </p:cNvPr>
          <p:cNvPicPr>
            <a:picLocks noChangeAspect="1"/>
          </p:cNvPicPr>
          <p:nvPr/>
        </p:nvPicPr>
        <p:blipFill>
          <a:blip r:embed="rId2"/>
          <a:stretch>
            <a:fillRect/>
          </a:stretch>
        </p:blipFill>
        <p:spPr>
          <a:xfrm>
            <a:off x="3300984" y="1261872"/>
            <a:ext cx="274320" cy="274320"/>
          </a:xfrm>
          <a:prstGeom prst="rect">
            <a:avLst/>
          </a:prstGeom>
        </p:spPr>
      </p:pic>
      <p:sp>
        <p:nvSpPr>
          <p:cNvPr id="15" name="Text 11"/>
          <p:cNvSpPr/>
          <p:nvPr/>
        </p:nvSpPr>
        <p:spPr>
          <a:xfrm>
            <a:off x="3666744" y="1261872"/>
            <a:ext cx="2194560" cy="274320"/>
          </a:xfrm>
          <a:prstGeom prst="rect">
            <a:avLst/>
          </a:prstGeom>
          <a:noFill/>
          <a:ln/>
        </p:spPr>
        <p:txBody>
          <a:bodyPr wrap="square" lIns="0" tIns="0" rIns="0" bIns="0" rtlCol="0" anchor="ctr"/>
          <a:lstStyle/>
          <a:p>
            <a:pPr algn="l" indent="0" marL="0">
              <a:buNone/>
            </a:pPr>
            <a:r>
              <a:rPr lang="en-US" sz="850" b="1" spc="100" kern="0" dirty="0">
                <a:solidFill>
                  <a:srgbClr val="FFFFFF"/>
                </a:solidFill>
                <a:latin typeface="Calibri" pitchFamily="34" charset="0"/>
                <a:ea typeface="Calibri" pitchFamily="34" charset="-122"/>
                <a:cs typeface="Calibri" pitchFamily="34" charset="-120"/>
              </a:rPr>
              <a:t>BEST PRACTICES</a:t>
            </a:r>
            <a:endParaRPr lang="en-US" sz="850" dirty="0"/>
          </a:p>
        </p:txBody>
      </p:sp>
      <p:sp>
        <p:nvSpPr>
          <p:cNvPr id="16" name="Text 12"/>
          <p:cNvSpPr/>
          <p:nvPr/>
        </p:nvSpPr>
        <p:spPr>
          <a:xfrm>
            <a:off x="3328416" y="1728216"/>
            <a:ext cx="2487168" cy="749808"/>
          </a:xfrm>
          <a:prstGeom prst="rect">
            <a:avLst/>
          </a:prstGeom>
          <a:noFill/>
          <a:ln/>
        </p:spPr>
        <p:txBody>
          <a:bodyPr wrap="square" lIns="0" tIns="0" rIns="0" bIns="0" rtlCol="0" anchor="t"/>
          <a:lstStyle/>
          <a:p>
            <a:pPr algn="l" indent="0" marL="0">
              <a:buNone/>
            </a:pPr>
            <a:r>
              <a:rPr lang="en-US" sz="950" i="1" dirty="0">
                <a:solidFill>
                  <a:srgbClr val="C0C0C0"/>
                </a:solidFill>
                <a:latin typeface="Calibri" pitchFamily="34" charset="0"/>
                <a:ea typeface="Calibri" pitchFamily="34" charset="-122"/>
                <a:cs typeface="Calibri" pitchFamily="34" charset="-120"/>
              </a:rPr>
              <a:t>Yoma shares documented learnings from other country deployments to help Barbados avoid known failure modes.</a:t>
            </a:r>
            <a:endParaRPr lang="en-US" sz="950" dirty="0"/>
          </a:p>
        </p:txBody>
      </p:sp>
      <p:sp>
        <p:nvSpPr>
          <p:cNvPr id="17" name="Shape 13"/>
          <p:cNvSpPr/>
          <p:nvPr/>
        </p:nvSpPr>
        <p:spPr>
          <a:xfrm>
            <a:off x="3328416" y="2532888"/>
            <a:ext cx="2487168" cy="18288"/>
          </a:xfrm>
          <a:prstGeom prst="rect">
            <a:avLst/>
          </a:prstGeom>
          <a:solidFill>
            <a:srgbClr val="E0E0E0"/>
          </a:solidFill>
          <a:ln w="12700">
            <a:solidFill>
              <a:srgbClr val="E0E0E0"/>
            </a:solidFill>
            <a:prstDash val="solid"/>
          </a:ln>
        </p:spPr>
      </p:sp>
      <p:sp>
        <p:nvSpPr>
          <p:cNvPr id="18" name="Text 14"/>
          <p:cNvSpPr/>
          <p:nvPr/>
        </p:nvSpPr>
        <p:spPr>
          <a:xfrm>
            <a:off x="3328416" y="2624328"/>
            <a:ext cx="2487168" cy="1947672"/>
          </a:xfrm>
          <a:prstGeom prst="rect">
            <a:avLst/>
          </a:prstGeom>
          <a:noFill/>
          <a:ln/>
        </p:spPr>
        <p:txBody>
          <a:bodyPr wrap="square" lIns="0" tIns="0" rIns="0" bIns="0" rtlCol="0" anchor="t"/>
          <a:lstStyle/>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Case studies and deployment lessons from South Africa, Nigeria, and other active Yoma markets</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Guidance on Zlto economy calibration — what reward values sustain participation</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Onboarding templates, partner briefing materials, and communication guides (in development)</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Opportunity and reward partner engagement frameworks — what has and hasn't worked elsewhere</a:t>
            </a:r>
            <a:endParaRPr lang="en-US" sz="900" dirty="0"/>
          </a:p>
        </p:txBody>
      </p:sp>
      <p:sp>
        <p:nvSpPr>
          <p:cNvPr id="19" name="Shape 15"/>
          <p:cNvSpPr/>
          <p:nvPr/>
        </p:nvSpPr>
        <p:spPr>
          <a:xfrm>
            <a:off x="6062472" y="1143000"/>
            <a:ext cx="2761488" cy="3520440"/>
          </a:xfrm>
          <a:prstGeom prst="rect">
            <a:avLst/>
          </a:prstGeom>
          <a:solidFill>
            <a:srgbClr val="FFFFFF">
              <a:alpha val="25000"/>
            </a:srgbClr>
          </a:solidFill>
          <a:ln w="12700">
            <a:solidFill>
              <a:srgbClr val="FC4D56"/>
            </a:solidFill>
            <a:prstDash val="solid"/>
          </a:ln>
        </p:spPr>
      </p:sp>
      <p:sp>
        <p:nvSpPr>
          <p:cNvPr id="20" name="Shape 16"/>
          <p:cNvSpPr/>
          <p:nvPr/>
        </p:nvSpPr>
        <p:spPr>
          <a:xfrm>
            <a:off x="6062472" y="1143000"/>
            <a:ext cx="2761488" cy="502920"/>
          </a:xfrm>
          <a:prstGeom prst="rect">
            <a:avLst/>
          </a:prstGeom>
          <a:solidFill>
            <a:srgbClr val="FC4D56"/>
          </a:solidFill>
          <a:ln w="12700">
            <a:solidFill>
              <a:srgbClr val="FC4D56"/>
            </a:solidFill>
            <a:prstDash val="solid"/>
          </a:ln>
        </p:spPr>
      </p:sp>
      <p:pic>
        <p:nvPicPr>
          <p:cNvPr id="21" name="Image 2" descr="preencoded.png">    </p:cNvPr>
          <p:cNvPicPr>
            <a:picLocks noChangeAspect="1"/>
          </p:cNvPicPr>
          <p:nvPr/>
        </p:nvPicPr>
        <p:blipFill>
          <a:blip r:embed="rId3"/>
          <a:stretch>
            <a:fillRect/>
          </a:stretch>
        </p:blipFill>
        <p:spPr>
          <a:xfrm>
            <a:off x="6172200" y="1261872"/>
            <a:ext cx="274320" cy="274320"/>
          </a:xfrm>
          <a:prstGeom prst="rect">
            <a:avLst/>
          </a:prstGeom>
        </p:spPr>
      </p:pic>
      <p:sp>
        <p:nvSpPr>
          <p:cNvPr id="22" name="Text 17"/>
          <p:cNvSpPr/>
          <p:nvPr/>
        </p:nvSpPr>
        <p:spPr>
          <a:xfrm>
            <a:off x="6537960" y="1261872"/>
            <a:ext cx="2194560" cy="274320"/>
          </a:xfrm>
          <a:prstGeom prst="rect">
            <a:avLst/>
          </a:prstGeom>
          <a:noFill/>
          <a:ln/>
        </p:spPr>
        <p:txBody>
          <a:bodyPr wrap="square" lIns="0" tIns="0" rIns="0" bIns="0" rtlCol="0" anchor="ctr"/>
          <a:lstStyle/>
          <a:p>
            <a:pPr algn="l" indent="0" marL="0">
              <a:buNone/>
            </a:pPr>
            <a:r>
              <a:rPr lang="en-US" sz="850" b="1" spc="100" kern="0" dirty="0">
                <a:solidFill>
                  <a:srgbClr val="FFFFFF"/>
                </a:solidFill>
                <a:latin typeface="Calibri" pitchFamily="34" charset="0"/>
                <a:ea typeface="Calibri" pitchFamily="34" charset="-122"/>
                <a:cs typeface="Calibri" pitchFamily="34" charset="-120"/>
              </a:rPr>
              <a:t>SERVICE LEVEL AGREEMENT</a:t>
            </a:r>
            <a:endParaRPr lang="en-US" sz="850" dirty="0"/>
          </a:p>
        </p:txBody>
      </p:sp>
      <p:sp>
        <p:nvSpPr>
          <p:cNvPr id="23" name="Text 18"/>
          <p:cNvSpPr/>
          <p:nvPr/>
        </p:nvSpPr>
        <p:spPr>
          <a:xfrm>
            <a:off x="6199632" y="1728216"/>
            <a:ext cx="2487168" cy="749808"/>
          </a:xfrm>
          <a:prstGeom prst="rect">
            <a:avLst/>
          </a:prstGeom>
          <a:noFill/>
          <a:ln/>
        </p:spPr>
        <p:txBody>
          <a:bodyPr wrap="square" lIns="0" tIns="0" rIns="0" bIns="0" rtlCol="0" anchor="t"/>
          <a:lstStyle/>
          <a:p>
            <a:pPr algn="l" indent="0" marL="0">
              <a:buNone/>
            </a:pPr>
            <a:r>
              <a:rPr lang="en-US" sz="950" i="1" dirty="0">
                <a:solidFill>
                  <a:srgbClr val="C0C0C0"/>
                </a:solidFill>
                <a:latin typeface="Calibri" pitchFamily="34" charset="0"/>
                <a:ea typeface="Calibri" pitchFamily="34" charset="-122"/>
                <a:cs typeface="Calibri" pitchFamily="34" charset="-120"/>
              </a:rPr>
              <a:t>A formal agreement defining response times and named contacts for platform issues from the Barbados deployment.</a:t>
            </a:r>
            <a:endParaRPr lang="en-US" sz="950" dirty="0"/>
          </a:p>
        </p:txBody>
      </p:sp>
      <p:sp>
        <p:nvSpPr>
          <p:cNvPr id="24" name="Shape 19"/>
          <p:cNvSpPr/>
          <p:nvPr/>
        </p:nvSpPr>
        <p:spPr>
          <a:xfrm>
            <a:off x="6199632" y="2532888"/>
            <a:ext cx="2487168" cy="18288"/>
          </a:xfrm>
          <a:prstGeom prst="rect">
            <a:avLst/>
          </a:prstGeom>
          <a:solidFill>
            <a:srgbClr val="E0E0E0"/>
          </a:solidFill>
          <a:ln w="12700">
            <a:solidFill>
              <a:srgbClr val="E0E0E0"/>
            </a:solidFill>
            <a:prstDash val="solid"/>
          </a:ln>
        </p:spPr>
      </p:sp>
      <p:sp>
        <p:nvSpPr>
          <p:cNvPr id="25" name="Text 20"/>
          <p:cNvSpPr/>
          <p:nvPr/>
        </p:nvSpPr>
        <p:spPr>
          <a:xfrm>
            <a:off x="6199632" y="2624328"/>
            <a:ext cx="2487168" cy="1947672"/>
          </a:xfrm>
          <a:prstGeom prst="rect">
            <a:avLst/>
          </a:prstGeom>
          <a:noFill/>
          <a:ln/>
        </p:spPr>
        <p:txBody>
          <a:bodyPr wrap="square" lIns="0" tIns="0" rIns="0" bIns="0" rtlCol="0" anchor="t"/>
          <a:lstStyle/>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Response time commitments for platform issues — P1 / P2 / P3 priority tiers</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Named contacts on the Yoma and Zlto teams for FutureBARBADOS to escalate issues directly</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Clear escalation path for reward partner issues — currently a single-contact bottleneck with no formal process</a:t>
            </a:r>
            <a:endParaRPr lang="en-US" sz="900" dirty="0"/>
          </a:p>
          <a:p>
            <a:pPr algn="l" marL="342900" indent="-342900">
              <a:buSzPct val="100000"/>
              <a:buChar char="•"/>
            </a:pPr>
            <a:r>
              <a:rPr lang="en-US" sz="900" dirty="0">
                <a:solidFill>
                  <a:srgbClr val="D0D0D0"/>
                </a:solidFill>
                <a:latin typeface="Calibri" pitchFamily="34" charset="0"/>
                <a:ea typeface="Calibri" pitchFamily="34" charset="-122"/>
                <a:cs typeface="Calibri" pitchFamily="34" charset="-120"/>
              </a:rPr>
              <a:t>No formal SLA currently exists for the Barbados deployment — this must be negotiated before go-live</a:t>
            </a:r>
            <a:endParaRPr lang="en-US" sz="900" dirty="0"/>
          </a:p>
        </p:txBody>
      </p:sp>
      <p:sp>
        <p:nvSpPr>
          <p:cNvPr id="26" name="Shape 21"/>
          <p:cNvSpPr/>
          <p:nvPr/>
        </p:nvSpPr>
        <p:spPr>
          <a:xfrm>
            <a:off x="320040" y="4773168"/>
            <a:ext cx="8503920" cy="274320"/>
          </a:xfrm>
          <a:prstGeom prst="rect">
            <a:avLst/>
          </a:prstGeom>
          <a:solidFill>
            <a:srgbClr val="F0A02D">
              <a:alpha val="15000"/>
            </a:srgbClr>
          </a:solidFill>
          <a:ln w="12700">
            <a:solidFill>
              <a:srgbClr val="F0A02D"/>
            </a:solidFill>
            <a:prstDash val="solid"/>
          </a:ln>
        </p:spPr>
      </p:sp>
      <p:sp>
        <p:nvSpPr>
          <p:cNvPr id="27" name="Text 22"/>
          <p:cNvSpPr/>
          <p:nvPr/>
        </p:nvSpPr>
        <p:spPr>
          <a:xfrm>
            <a:off x="457200" y="4773168"/>
            <a:ext cx="8321040" cy="274320"/>
          </a:xfrm>
          <a:prstGeom prst="rect">
            <a:avLst/>
          </a:prstGeom>
          <a:noFill/>
          <a:ln/>
        </p:spPr>
        <p:txBody>
          <a:bodyPr wrap="square" lIns="0" tIns="0" rIns="0" bIns="0" rtlCol="0" anchor="ctr"/>
          <a:lstStyle/>
          <a:p>
            <a:pPr algn="l" indent="0" marL="0">
              <a:buNone/>
            </a:pPr>
            <a:r>
              <a:rPr lang="en-US" sz="850" i="1" dirty="0">
                <a:solidFill>
                  <a:srgbClr val="FFFFFF"/>
                </a:solidFill>
                <a:latin typeface="Calibri" pitchFamily="34" charset="0"/>
                <a:ea typeface="Calibri" pitchFamily="34" charset="-122"/>
                <a:cs typeface="Calibri" pitchFamily="34" charset="-120"/>
              </a:rPr>
              <a:t>None of these three support commitments have been formally documented for Barbados. All three need to be agreed before go-live.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FC4D56"/>
          </a:solidFill>
          <a:ln w="12700">
            <a:solidFill>
              <a:srgbClr val="FC4D56"/>
            </a:solidFill>
            <a:prstDash val="solid"/>
          </a:ln>
        </p:spPr>
      </p:sp>
      <p:sp>
        <p:nvSpPr>
          <p:cNvPr id="3" name="Shape 1"/>
          <p:cNvSpPr/>
          <p:nvPr/>
        </p:nvSpPr>
        <p:spPr>
          <a:xfrm>
            <a:off x="347472" y="0"/>
            <a:ext cx="8796528" cy="594360"/>
          </a:xfrm>
          <a:prstGeom prst="rect">
            <a:avLst/>
          </a:prstGeom>
          <a:solidFill>
            <a:srgbClr val="41204B"/>
          </a:solidFill>
          <a:ln w="12700">
            <a:solidFill>
              <a:srgbClr val="41204B"/>
            </a:solidFill>
            <a:prstDash val="solid"/>
          </a:ln>
        </p:spPr>
      </p:sp>
      <p:sp>
        <p:nvSpPr>
          <p:cNvPr id="4" name="Text 2"/>
          <p:cNvSpPr/>
          <p:nvPr/>
        </p:nvSpPr>
        <p:spPr>
          <a:xfrm>
            <a:off x="548640" y="0"/>
            <a:ext cx="8229600" cy="59436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THE HUMAN SIDE OF ROLLING OUT THE GOOD BANK</a:t>
            </a:r>
            <a:endParaRPr lang="en-US" sz="1100" dirty="0"/>
          </a:p>
        </p:txBody>
      </p:sp>
      <p:sp>
        <p:nvSpPr>
          <p:cNvPr id="5" name="Text 3"/>
          <p:cNvSpPr/>
          <p:nvPr/>
        </p:nvSpPr>
        <p:spPr>
          <a:xfrm>
            <a:off x="548640" y="667512"/>
            <a:ext cx="8321040" cy="384048"/>
          </a:xfrm>
          <a:prstGeom prst="rect">
            <a:avLst/>
          </a:prstGeom>
          <a:noFill/>
          <a:ln/>
        </p:spPr>
        <p:txBody>
          <a:bodyPr wrap="square" lIns="0" tIns="0" rIns="0" bIns="0" rtlCol="0" anchor="ctr"/>
          <a:lstStyle/>
          <a:p>
            <a:pPr algn="l" indent="0" marL="0">
              <a:buNone/>
            </a:pPr>
            <a:r>
              <a:rPr lang="en-US" sz="1200" dirty="0">
                <a:solidFill>
                  <a:srgbClr val="737373"/>
                </a:solidFill>
                <a:latin typeface="Calibri" pitchFamily="34" charset="0"/>
                <a:ea typeface="Calibri" pitchFamily="34" charset="-122"/>
                <a:cs typeface="Calibri" pitchFamily="34" charset="-120"/>
              </a:rPr>
              <a:t>The technology is the easiest part. Getting people — partners, youth, and staff — to actually use it is where programmes succeed or fail.</a:t>
            </a:r>
            <a:endParaRPr lang="en-US" sz="1200" dirty="0"/>
          </a:p>
        </p:txBody>
      </p:sp>
      <p:sp>
        <p:nvSpPr>
          <p:cNvPr id="6" name="Shape 4"/>
          <p:cNvSpPr/>
          <p:nvPr/>
        </p:nvSpPr>
        <p:spPr>
          <a:xfrm>
            <a:off x="457200" y="1143000"/>
            <a:ext cx="4087368" cy="1719072"/>
          </a:xfrm>
          <a:prstGeom prst="rect">
            <a:avLst/>
          </a:prstGeom>
          <a:solidFill>
            <a:srgbClr val="F5F5F5"/>
          </a:solidFill>
          <a:ln w="12700">
            <a:solidFill>
              <a:srgbClr val="E8E8E8"/>
            </a:solidFill>
            <a:prstDash val="solid"/>
          </a:ln>
        </p:spPr>
      </p:sp>
      <p:sp>
        <p:nvSpPr>
          <p:cNvPr id="7" name="Shape 5"/>
          <p:cNvSpPr/>
          <p:nvPr/>
        </p:nvSpPr>
        <p:spPr>
          <a:xfrm>
            <a:off x="457200" y="1143000"/>
            <a:ext cx="54864" cy="1719072"/>
          </a:xfrm>
          <a:prstGeom prst="rect">
            <a:avLst/>
          </a:prstGeom>
          <a:solidFill>
            <a:srgbClr val="FC4D56"/>
          </a:solidFill>
          <a:ln w="12700">
            <a:solidFill>
              <a:srgbClr val="FC4D56"/>
            </a:solidFill>
            <a:prstDash val="solid"/>
          </a:ln>
        </p:spPr>
      </p:sp>
      <p:sp>
        <p:nvSpPr>
          <p:cNvPr id="8" name="Shape 6"/>
          <p:cNvSpPr/>
          <p:nvPr/>
        </p:nvSpPr>
        <p:spPr>
          <a:xfrm>
            <a:off x="594360" y="1280160"/>
            <a:ext cx="329184" cy="329184"/>
          </a:xfrm>
          <a:prstGeom prst="rect">
            <a:avLst/>
          </a:prstGeom>
          <a:solidFill>
            <a:srgbClr val="FC4D56"/>
          </a:solidFill>
          <a:ln w="12700">
            <a:solidFill>
              <a:srgbClr val="FC4D56"/>
            </a:solidFill>
            <a:prstDash val="solid"/>
          </a:ln>
        </p:spPr>
      </p:sp>
      <p:pic>
        <p:nvPicPr>
          <p:cNvPr id="9" name="Image 0" descr="preencoded.png">    </p:cNvPr>
          <p:cNvPicPr>
            <a:picLocks noChangeAspect="1"/>
          </p:cNvPicPr>
          <p:nvPr/>
        </p:nvPicPr>
        <p:blipFill>
          <a:blip r:embed="rId1"/>
          <a:stretch>
            <a:fillRect/>
          </a:stretch>
        </p:blipFill>
        <p:spPr>
          <a:xfrm>
            <a:off x="621792" y="1307592"/>
            <a:ext cx="274320" cy="274320"/>
          </a:xfrm>
          <a:prstGeom prst="rect">
            <a:avLst/>
          </a:prstGeom>
        </p:spPr>
      </p:pic>
      <p:sp>
        <p:nvSpPr>
          <p:cNvPr id="10" name="Text 7"/>
          <p:cNvSpPr/>
          <p:nvPr/>
        </p:nvSpPr>
        <p:spPr>
          <a:xfrm>
            <a:off x="1005840" y="1271016"/>
            <a:ext cx="3447288" cy="347472"/>
          </a:xfrm>
          <a:prstGeom prst="rect">
            <a:avLst/>
          </a:prstGeom>
          <a:noFill/>
          <a:ln/>
        </p:spPr>
        <p:txBody>
          <a:bodyPr wrap="square" lIns="0" tIns="0" rIns="0" bIns="0" rtlCol="0" anchor="ctr"/>
          <a:lstStyle/>
          <a:p>
            <a:pPr algn="l" indent="0" marL="0">
              <a:buNone/>
            </a:pPr>
            <a:r>
              <a:rPr lang="en-US" sz="1050" b="1" dirty="0">
                <a:solidFill>
                  <a:srgbClr val="020304"/>
                </a:solidFill>
                <a:latin typeface="Calibri" pitchFamily="34" charset="0"/>
                <a:ea typeface="Calibri" pitchFamily="34" charset="-122"/>
                <a:cs typeface="Calibri" pitchFamily="34" charset="-120"/>
              </a:rPr>
              <a:t>Youth activation — the first experience</a:t>
            </a:r>
            <a:endParaRPr lang="en-US" sz="1050" dirty="0"/>
          </a:p>
        </p:txBody>
      </p:sp>
      <p:sp>
        <p:nvSpPr>
          <p:cNvPr id="11" name="Text 8"/>
          <p:cNvSpPr/>
          <p:nvPr/>
        </p:nvSpPr>
        <p:spPr>
          <a:xfrm>
            <a:off x="594360" y="1691640"/>
            <a:ext cx="3858768" cy="1078992"/>
          </a:xfrm>
          <a:prstGeom prst="rect">
            <a:avLst/>
          </a:prstGeom>
          <a:noFill/>
          <a:ln/>
        </p:spPr>
        <p:txBody>
          <a:bodyPr wrap="square" lIns="0" tIns="0" rIns="0" bIns="0" rtlCol="0" anchor="t"/>
          <a:lstStyle/>
          <a:p>
            <a:pPr algn="l" indent="0" marL="0">
              <a:buNone/>
            </a:pPr>
            <a:r>
              <a:rPr lang="en-US" sz="900" dirty="0">
                <a:solidFill>
                  <a:srgbClr val="737373"/>
                </a:solidFill>
                <a:latin typeface="Calibri" pitchFamily="34" charset="0"/>
                <a:ea typeface="Calibri" pitchFamily="34" charset="-122"/>
                <a:cs typeface="Calibri" pitchFamily="34" charset="-120"/>
              </a:rPr>
              <a:t>Youth who have a poor first experience do not return. The first opportunity, the first reward redemption — both must be frictionless and feel worth it. Airtime and data vouchers were chosen deliberately because they have immediate, tangible personal value. That was the right call. Every design decision in the pilot should be optimised for that first win.</a:t>
            </a:r>
            <a:endParaRPr lang="en-US" sz="900" dirty="0"/>
          </a:p>
        </p:txBody>
      </p:sp>
      <p:sp>
        <p:nvSpPr>
          <p:cNvPr id="12" name="Shape 9"/>
          <p:cNvSpPr/>
          <p:nvPr/>
        </p:nvSpPr>
        <p:spPr>
          <a:xfrm>
            <a:off x="4690872" y="1143000"/>
            <a:ext cx="4087368" cy="1719072"/>
          </a:xfrm>
          <a:prstGeom prst="rect">
            <a:avLst/>
          </a:prstGeom>
          <a:solidFill>
            <a:srgbClr val="F5F5F5"/>
          </a:solidFill>
          <a:ln w="12700">
            <a:solidFill>
              <a:srgbClr val="E8E8E8"/>
            </a:solidFill>
            <a:prstDash val="solid"/>
          </a:ln>
        </p:spPr>
      </p:sp>
      <p:sp>
        <p:nvSpPr>
          <p:cNvPr id="13" name="Shape 10"/>
          <p:cNvSpPr/>
          <p:nvPr/>
        </p:nvSpPr>
        <p:spPr>
          <a:xfrm>
            <a:off x="4690872" y="1143000"/>
            <a:ext cx="54864" cy="1719072"/>
          </a:xfrm>
          <a:prstGeom prst="rect">
            <a:avLst/>
          </a:prstGeom>
          <a:solidFill>
            <a:srgbClr val="387F6A"/>
          </a:solidFill>
          <a:ln w="12700">
            <a:solidFill>
              <a:srgbClr val="387F6A"/>
            </a:solidFill>
            <a:prstDash val="solid"/>
          </a:ln>
        </p:spPr>
      </p:sp>
      <p:sp>
        <p:nvSpPr>
          <p:cNvPr id="14" name="Shape 11"/>
          <p:cNvSpPr/>
          <p:nvPr/>
        </p:nvSpPr>
        <p:spPr>
          <a:xfrm>
            <a:off x="4828032" y="1280160"/>
            <a:ext cx="329184" cy="329184"/>
          </a:xfrm>
          <a:prstGeom prst="rect">
            <a:avLst/>
          </a:prstGeom>
          <a:solidFill>
            <a:srgbClr val="387F6A"/>
          </a:solidFill>
          <a:ln w="12700">
            <a:solidFill>
              <a:srgbClr val="387F6A"/>
            </a:solidFill>
            <a:prstDash val="solid"/>
          </a:ln>
        </p:spPr>
      </p:sp>
      <p:pic>
        <p:nvPicPr>
          <p:cNvPr id="15" name="Image 1" descr="preencoded.png">    </p:cNvPr>
          <p:cNvPicPr>
            <a:picLocks noChangeAspect="1"/>
          </p:cNvPicPr>
          <p:nvPr/>
        </p:nvPicPr>
        <p:blipFill>
          <a:blip r:embed="rId2"/>
          <a:stretch>
            <a:fillRect/>
          </a:stretch>
        </p:blipFill>
        <p:spPr>
          <a:xfrm>
            <a:off x="4855464" y="1307592"/>
            <a:ext cx="274320" cy="274320"/>
          </a:xfrm>
          <a:prstGeom prst="rect">
            <a:avLst/>
          </a:prstGeom>
        </p:spPr>
      </p:pic>
      <p:sp>
        <p:nvSpPr>
          <p:cNvPr id="16" name="Text 12"/>
          <p:cNvSpPr/>
          <p:nvPr/>
        </p:nvSpPr>
        <p:spPr>
          <a:xfrm>
            <a:off x="5239512" y="1271016"/>
            <a:ext cx="3447288" cy="347472"/>
          </a:xfrm>
          <a:prstGeom prst="rect">
            <a:avLst/>
          </a:prstGeom>
          <a:noFill/>
          <a:ln/>
        </p:spPr>
        <p:txBody>
          <a:bodyPr wrap="square" lIns="0" tIns="0" rIns="0" bIns="0" rtlCol="0" anchor="ctr"/>
          <a:lstStyle/>
          <a:p>
            <a:pPr algn="l" indent="0" marL="0">
              <a:buNone/>
            </a:pPr>
            <a:r>
              <a:rPr lang="en-US" sz="1050" b="1" dirty="0">
                <a:solidFill>
                  <a:srgbClr val="020304"/>
                </a:solidFill>
                <a:latin typeface="Calibri" pitchFamily="34" charset="0"/>
                <a:ea typeface="Calibri" pitchFamily="34" charset="-122"/>
                <a:cs typeface="Calibri" pitchFamily="34" charset="-120"/>
              </a:rPr>
              <a:t>Partner commitment — beyond the sign-up</a:t>
            </a:r>
            <a:endParaRPr lang="en-US" sz="1050" dirty="0"/>
          </a:p>
        </p:txBody>
      </p:sp>
      <p:sp>
        <p:nvSpPr>
          <p:cNvPr id="17" name="Text 13"/>
          <p:cNvSpPr/>
          <p:nvPr/>
        </p:nvSpPr>
        <p:spPr>
          <a:xfrm>
            <a:off x="4828032" y="1691640"/>
            <a:ext cx="3858768" cy="1078992"/>
          </a:xfrm>
          <a:prstGeom prst="rect">
            <a:avLst/>
          </a:prstGeom>
          <a:noFill/>
          <a:ln/>
        </p:spPr>
        <p:txBody>
          <a:bodyPr wrap="square" lIns="0" tIns="0" rIns="0" bIns="0" rtlCol="0" anchor="t"/>
          <a:lstStyle/>
          <a:p>
            <a:pPr algn="l" indent="0" marL="0">
              <a:buNone/>
            </a:pPr>
            <a:r>
              <a:rPr lang="en-US" sz="900" dirty="0">
                <a:solidFill>
                  <a:srgbClr val="737373"/>
                </a:solidFill>
                <a:latin typeface="Calibri" pitchFamily="34" charset="0"/>
                <a:ea typeface="Calibri" pitchFamily="34" charset="-122"/>
                <a:cs typeface="Calibri" pitchFamily="34" charset="-120"/>
              </a:rPr>
              <a:t>Opportunity and reward partners will sign up enthusiastically. Sustained engagement is harder. Partners need a local person to call when things don't work — that person is FutureBARBADOS. Without a dedicated relationship manager, partner activity drops. Managing partner expectations and troubleshooting promptly is not optional: it's the operational core of the whole model.</a:t>
            </a:r>
            <a:endParaRPr lang="en-US" sz="900" dirty="0"/>
          </a:p>
        </p:txBody>
      </p:sp>
      <p:sp>
        <p:nvSpPr>
          <p:cNvPr id="18" name="Shape 14"/>
          <p:cNvSpPr/>
          <p:nvPr/>
        </p:nvSpPr>
        <p:spPr>
          <a:xfrm>
            <a:off x="457200" y="3008376"/>
            <a:ext cx="4087368" cy="1719072"/>
          </a:xfrm>
          <a:prstGeom prst="rect">
            <a:avLst/>
          </a:prstGeom>
          <a:solidFill>
            <a:srgbClr val="F5F5F5"/>
          </a:solidFill>
          <a:ln w="12700">
            <a:solidFill>
              <a:srgbClr val="E8E8E8"/>
            </a:solidFill>
            <a:prstDash val="solid"/>
          </a:ln>
        </p:spPr>
      </p:sp>
      <p:sp>
        <p:nvSpPr>
          <p:cNvPr id="19" name="Shape 15"/>
          <p:cNvSpPr/>
          <p:nvPr/>
        </p:nvSpPr>
        <p:spPr>
          <a:xfrm>
            <a:off x="457200" y="3008376"/>
            <a:ext cx="54864" cy="1719072"/>
          </a:xfrm>
          <a:prstGeom prst="rect">
            <a:avLst/>
          </a:prstGeom>
          <a:solidFill>
            <a:srgbClr val="51AFE9"/>
          </a:solidFill>
          <a:ln w="12700">
            <a:solidFill>
              <a:srgbClr val="51AFE9"/>
            </a:solidFill>
            <a:prstDash val="solid"/>
          </a:ln>
        </p:spPr>
      </p:sp>
      <p:sp>
        <p:nvSpPr>
          <p:cNvPr id="20" name="Shape 16"/>
          <p:cNvSpPr/>
          <p:nvPr/>
        </p:nvSpPr>
        <p:spPr>
          <a:xfrm>
            <a:off x="594360" y="3145536"/>
            <a:ext cx="329184" cy="329184"/>
          </a:xfrm>
          <a:prstGeom prst="rect">
            <a:avLst/>
          </a:prstGeom>
          <a:solidFill>
            <a:srgbClr val="51AFE9"/>
          </a:solidFill>
          <a:ln w="12700">
            <a:solidFill>
              <a:srgbClr val="51AFE9"/>
            </a:solidFill>
            <a:prstDash val="solid"/>
          </a:ln>
        </p:spPr>
      </p:sp>
      <p:pic>
        <p:nvPicPr>
          <p:cNvPr id="21" name="Image 2" descr="preencoded.png">    </p:cNvPr>
          <p:cNvPicPr>
            <a:picLocks noChangeAspect="1"/>
          </p:cNvPicPr>
          <p:nvPr/>
        </p:nvPicPr>
        <p:blipFill>
          <a:blip r:embed="rId3"/>
          <a:stretch>
            <a:fillRect/>
          </a:stretch>
        </p:blipFill>
        <p:spPr>
          <a:xfrm>
            <a:off x="621792" y="3172968"/>
            <a:ext cx="274320" cy="274320"/>
          </a:xfrm>
          <a:prstGeom prst="rect">
            <a:avLst/>
          </a:prstGeom>
        </p:spPr>
      </p:pic>
      <p:sp>
        <p:nvSpPr>
          <p:cNvPr id="22" name="Text 17"/>
          <p:cNvSpPr/>
          <p:nvPr/>
        </p:nvSpPr>
        <p:spPr>
          <a:xfrm>
            <a:off x="1005840" y="3136392"/>
            <a:ext cx="3447288" cy="347472"/>
          </a:xfrm>
          <a:prstGeom prst="rect">
            <a:avLst/>
          </a:prstGeom>
          <a:noFill/>
          <a:ln/>
        </p:spPr>
        <p:txBody>
          <a:bodyPr wrap="square" lIns="0" tIns="0" rIns="0" bIns="0" rtlCol="0" anchor="ctr"/>
          <a:lstStyle/>
          <a:p>
            <a:pPr algn="l" indent="0" marL="0">
              <a:buNone/>
            </a:pPr>
            <a:r>
              <a:rPr lang="en-US" sz="1050" b="1" dirty="0">
                <a:solidFill>
                  <a:srgbClr val="020304"/>
                </a:solidFill>
                <a:latin typeface="Calibri" pitchFamily="34" charset="0"/>
                <a:ea typeface="Calibri" pitchFamily="34" charset="-122"/>
                <a:cs typeface="Calibri" pitchFamily="34" charset="-120"/>
              </a:rPr>
              <a:t>Community awareness and trust</a:t>
            </a:r>
            <a:endParaRPr lang="en-US" sz="1050" dirty="0"/>
          </a:p>
        </p:txBody>
      </p:sp>
      <p:sp>
        <p:nvSpPr>
          <p:cNvPr id="23" name="Text 18"/>
          <p:cNvSpPr/>
          <p:nvPr/>
        </p:nvSpPr>
        <p:spPr>
          <a:xfrm>
            <a:off x="594360" y="3557016"/>
            <a:ext cx="3858768" cy="1078992"/>
          </a:xfrm>
          <a:prstGeom prst="rect">
            <a:avLst/>
          </a:prstGeom>
          <a:noFill/>
          <a:ln/>
        </p:spPr>
        <p:txBody>
          <a:bodyPr wrap="square" lIns="0" tIns="0" rIns="0" bIns="0" rtlCol="0" anchor="t"/>
          <a:lstStyle/>
          <a:p>
            <a:pPr algn="l" indent="0" marL="0">
              <a:buNone/>
            </a:pPr>
            <a:r>
              <a:rPr lang="en-US" sz="900" dirty="0">
                <a:solidFill>
                  <a:srgbClr val="737373"/>
                </a:solidFill>
                <a:latin typeface="Calibri" pitchFamily="34" charset="0"/>
                <a:ea typeface="Calibri" pitchFamily="34" charset="-122"/>
                <a:cs typeface="Calibri" pitchFamily="34" charset="-120"/>
              </a:rPr>
              <a:t>Youth and families need to understand what the Good Bank is, who runs it, and what happens to their data. Trust is built in person — through schools, youth organisations, and community leaders. Digital communications alone will not recruit the first cohort. The strongest tool FutureBARBADOS has is trusted community relationships, not a social media campaign.</a:t>
            </a:r>
            <a:endParaRPr lang="en-US" sz="900" dirty="0"/>
          </a:p>
        </p:txBody>
      </p:sp>
      <p:sp>
        <p:nvSpPr>
          <p:cNvPr id="24" name="Shape 19"/>
          <p:cNvSpPr/>
          <p:nvPr/>
        </p:nvSpPr>
        <p:spPr>
          <a:xfrm>
            <a:off x="4690872" y="3008376"/>
            <a:ext cx="4087368" cy="1719072"/>
          </a:xfrm>
          <a:prstGeom prst="rect">
            <a:avLst/>
          </a:prstGeom>
          <a:solidFill>
            <a:srgbClr val="F5F5F5"/>
          </a:solidFill>
          <a:ln w="12700">
            <a:solidFill>
              <a:srgbClr val="E8E8E8"/>
            </a:solidFill>
            <a:prstDash val="solid"/>
          </a:ln>
        </p:spPr>
      </p:sp>
      <p:sp>
        <p:nvSpPr>
          <p:cNvPr id="25" name="Shape 20"/>
          <p:cNvSpPr/>
          <p:nvPr/>
        </p:nvSpPr>
        <p:spPr>
          <a:xfrm>
            <a:off x="4690872" y="3008376"/>
            <a:ext cx="54864" cy="1719072"/>
          </a:xfrm>
          <a:prstGeom prst="rect">
            <a:avLst/>
          </a:prstGeom>
          <a:solidFill>
            <a:srgbClr val="F0A02D"/>
          </a:solidFill>
          <a:ln w="12700">
            <a:solidFill>
              <a:srgbClr val="F0A02D"/>
            </a:solidFill>
            <a:prstDash val="solid"/>
          </a:ln>
        </p:spPr>
      </p:sp>
      <p:sp>
        <p:nvSpPr>
          <p:cNvPr id="26" name="Shape 21"/>
          <p:cNvSpPr/>
          <p:nvPr/>
        </p:nvSpPr>
        <p:spPr>
          <a:xfrm>
            <a:off x="4828032" y="3145536"/>
            <a:ext cx="329184" cy="329184"/>
          </a:xfrm>
          <a:prstGeom prst="rect">
            <a:avLst/>
          </a:prstGeom>
          <a:solidFill>
            <a:srgbClr val="F0A02D"/>
          </a:solidFill>
          <a:ln w="12700">
            <a:solidFill>
              <a:srgbClr val="F0A02D"/>
            </a:solidFill>
            <a:prstDash val="solid"/>
          </a:ln>
        </p:spPr>
      </p:sp>
      <p:pic>
        <p:nvPicPr>
          <p:cNvPr id="27" name="Image 3" descr="preencoded.png">    </p:cNvPr>
          <p:cNvPicPr>
            <a:picLocks noChangeAspect="1"/>
          </p:cNvPicPr>
          <p:nvPr/>
        </p:nvPicPr>
        <p:blipFill>
          <a:blip r:embed="rId4"/>
          <a:stretch>
            <a:fillRect/>
          </a:stretch>
        </p:blipFill>
        <p:spPr>
          <a:xfrm>
            <a:off x="4855464" y="3172968"/>
            <a:ext cx="274320" cy="274320"/>
          </a:xfrm>
          <a:prstGeom prst="rect">
            <a:avLst/>
          </a:prstGeom>
        </p:spPr>
      </p:pic>
      <p:sp>
        <p:nvSpPr>
          <p:cNvPr id="28" name="Text 22"/>
          <p:cNvSpPr/>
          <p:nvPr/>
        </p:nvSpPr>
        <p:spPr>
          <a:xfrm>
            <a:off x="5239512" y="3136392"/>
            <a:ext cx="3447288" cy="347472"/>
          </a:xfrm>
          <a:prstGeom prst="rect">
            <a:avLst/>
          </a:prstGeom>
          <a:noFill/>
          <a:ln/>
        </p:spPr>
        <p:txBody>
          <a:bodyPr wrap="square" lIns="0" tIns="0" rIns="0" bIns="0" rtlCol="0" anchor="ctr"/>
          <a:lstStyle/>
          <a:p>
            <a:pPr algn="l" indent="0" marL="0">
              <a:buNone/>
            </a:pPr>
            <a:r>
              <a:rPr lang="en-US" sz="1050" b="1" dirty="0">
                <a:solidFill>
                  <a:srgbClr val="020304"/>
                </a:solidFill>
                <a:latin typeface="Calibri" pitchFamily="34" charset="0"/>
                <a:ea typeface="Calibri" pitchFamily="34" charset="-122"/>
                <a:cs typeface="Calibri" pitchFamily="34" charset="-120"/>
              </a:rPr>
              <a:t>Staff capacity — who runs this day to day</a:t>
            </a:r>
            <a:endParaRPr lang="en-US" sz="1050" dirty="0"/>
          </a:p>
        </p:txBody>
      </p:sp>
      <p:sp>
        <p:nvSpPr>
          <p:cNvPr id="29" name="Text 23"/>
          <p:cNvSpPr/>
          <p:nvPr/>
        </p:nvSpPr>
        <p:spPr>
          <a:xfrm>
            <a:off x="4828032" y="3557016"/>
            <a:ext cx="3858768" cy="1078992"/>
          </a:xfrm>
          <a:prstGeom prst="rect">
            <a:avLst/>
          </a:prstGeom>
          <a:noFill/>
          <a:ln/>
        </p:spPr>
        <p:txBody>
          <a:bodyPr wrap="square" lIns="0" tIns="0" rIns="0" bIns="0" rtlCol="0" anchor="t"/>
          <a:lstStyle/>
          <a:p>
            <a:pPr algn="l" indent="0" marL="0">
              <a:buNone/>
            </a:pPr>
            <a:r>
              <a:rPr lang="en-US" sz="900" dirty="0">
                <a:solidFill>
                  <a:srgbClr val="737373"/>
                </a:solidFill>
                <a:latin typeface="Calibri" pitchFamily="34" charset="0"/>
                <a:ea typeface="Calibri" pitchFamily="34" charset="-122"/>
                <a:cs typeface="Calibri" pitchFamily="34" charset="-120"/>
              </a:rPr>
              <a:t>The platform does not run itself. Someone at FutureBARBADOS needs to manage the partner portal, monitor activity, handle reward fulfilment queries, and escalate issues to Yoma. This is at minimum a dedicated part-time role during the pilot. At scale, it becomes a full-time operational function. Staffing the programme is not a nice-to-have — it is a prerequisite.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41204B"/>
          </a:solidFill>
          <a:ln w="12700">
            <a:solidFill>
              <a:srgbClr val="41204B"/>
            </a:solidFill>
            <a:prstDash val="solid"/>
          </a:ln>
        </p:spPr>
      </p:sp>
      <p:sp>
        <p:nvSpPr>
          <p:cNvPr id="3" name="Shape 1"/>
          <p:cNvSpPr/>
          <p:nvPr/>
        </p:nvSpPr>
        <p:spPr>
          <a:xfrm>
            <a:off x="347472" y="0"/>
            <a:ext cx="8796528" cy="594360"/>
          </a:xfrm>
          <a:prstGeom prst="rect">
            <a:avLst/>
          </a:prstGeom>
          <a:solidFill>
            <a:srgbClr val="41204B"/>
          </a:solidFill>
          <a:ln w="12700">
            <a:solidFill>
              <a:srgbClr val="41204B"/>
            </a:solidFill>
            <a:prstDash val="solid"/>
          </a:ln>
        </p:spPr>
      </p:sp>
      <p:sp>
        <p:nvSpPr>
          <p:cNvPr id="4" name="Text 2"/>
          <p:cNvSpPr/>
          <p:nvPr/>
        </p:nvSpPr>
        <p:spPr>
          <a:xfrm>
            <a:off x="548640" y="0"/>
            <a:ext cx="8229600" cy="59436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TOP 10 REQUIREMENTS FOR BARBADOS  ·  1 OF 2</a:t>
            </a:r>
            <a:endParaRPr lang="en-US" sz="1100" dirty="0"/>
          </a:p>
        </p:txBody>
      </p:sp>
      <p:sp>
        <p:nvSpPr>
          <p:cNvPr id="5" name="Shape 3"/>
          <p:cNvSpPr/>
          <p:nvPr/>
        </p:nvSpPr>
        <p:spPr>
          <a:xfrm>
            <a:off x="548640" y="667512"/>
            <a:ext cx="164592" cy="164592"/>
          </a:xfrm>
          <a:prstGeom prst="ellipse">
            <a:avLst/>
          </a:prstGeom>
          <a:solidFill>
            <a:srgbClr val="FC4D56"/>
          </a:solidFill>
          <a:ln w="12700">
            <a:solidFill>
              <a:srgbClr val="FC4D56"/>
            </a:solidFill>
            <a:prstDash val="solid"/>
          </a:ln>
        </p:spPr>
      </p:sp>
      <p:sp>
        <p:nvSpPr>
          <p:cNvPr id="6" name="Text 4"/>
          <p:cNvSpPr/>
          <p:nvPr/>
        </p:nvSpPr>
        <p:spPr>
          <a:xfrm>
            <a:off x="786384" y="630936"/>
            <a:ext cx="2560320" cy="256032"/>
          </a:xfrm>
          <a:prstGeom prst="rect">
            <a:avLst/>
          </a:prstGeom>
          <a:noFill/>
          <a:ln/>
        </p:spPr>
        <p:txBody>
          <a:bodyPr wrap="square" lIns="0" tIns="0" rIns="0" bIns="0" rtlCol="0" anchor="ctr"/>
          <a:lstStyle/>
          <a:p>
            <a:pPr algn="l" indent="0" marL="0">
              <a:buNone/>
            </a:pPr>
            <a:r>
              <a:rPr lang="en-US" sz="850" dirty="0">
                <a:solidFill>
                  <a:srgbClr val="737373"/>
                </a:solidFill>
                <a:latin typeface="Calibri" pitchFamily="34" charset="0"/>
                <a:ea typeface="Calibri" pitchFamily="34" charset="-122"/>
                <a:cs typeface="Calibri" pitchFamily="34" charset="-120"/>
              </a:rPr>
              <a:t>Red — critical gap / blocker</a:t>
            </a:r>
            <a:endParaRPr lang="en-US" sz="850" dirty="0"/>
          </a:p>
        </p:txBody>
      </p:sp>
      <p:sp>
        <p:nvSpPr>
          <p:cNvPr id="7" name="Shape 5"/>
          <p:cNvSpPr/>
          <p:nvPr/>
        </p:nvSpPr>
        <p:spPr>
          <a:xfrm>
            <a:off x="3383280" y="667512"/>
            <a:ext cx="164592" cy="164592"/>
          </a:xfrm>
          <a:prstGeom prst="ellipse">
            <a:avLst/>
          </a:prstGeom>
          <a:solidFill>
            <a:srgbClr val="F0A02D"/>
          </a:solidFill>
          <a:ln w="12700">
            <a:solidFill>
              <a:srgbClr val="F0A02D"/>
            </a:solidFill>
            <a:prstDash val="solid"/>
          </a:ln>
        </p:spPr>
      </p:sp>
      <p:sp>
        <p:nvSpPr>
          <p:cNvPr id="8" name="Text 6"/>
          <p:cNvSpPr/>
          <p:nvPr/>
        </p:nvSpPr>
        <p:spPr>
          <a:xfrm>
            <a:off x="3621024" y="630936"/>
            <a:ext cx="2560320" cy="256032"/>
          </a:xfrm>
          <a:prstGeom prst="rect">
            <a:avLst/>
          </a:prstGeom>
          <a:noFill/>
          <a:ln/>
        </p:spPr>
        <p:txBody>
          <a:bodyPr wrap="square" lIns="0" tIns="0" rIns="0" bIns="0" rtlCol="0" anchor="ctr"/>
          <a:lstStyle/>
          <a:p>
            <a:pPr algn="l" indent="0" marL="0">
              <a:buNone/>
            </a:pPr>
            <a:r>
              <a:rPr lang="en-US" sz="850" dirty="0">
                <a:solidFill>
                  <a:srgbClr val="737373"/>
                </a:solidFill>
                <a:latin typeface="Calibri" pitchFamily="34" charset="0"/>
                <a:ea typeface="Calibri" pitchFamily="34" charset="-122"/>
                <a:cs typeface="Calibri" pitchFamily="34" charset="-120"/>
              </a:rPr>
              <a:t>Amber — gaps remain</a:t>
            </a:r>
            <a:endParaRPr lang="en-US" sz="850" dirty="0"/>
          </a:p>
        </p:txBody>
      </p:sp>
      <p:sp>
        <p:nvSpPr>
          <p:cNvPr id="9" name="Shape 7"/>
          <p:cNvSpPr/>
          <p:nvPr/>
        </p:nvSpPr>
        <p:spPr>
          <a:xfrm>
            <a:off x="6217920" y="667512"/>
            <a:ext cx="164592" cy="164592"/>
          </a:xfrm>
          <a:prstGeom prst="ellipse">
            <a:avLst/>
          </a:prstGeom>
          <a:solidFill>
            <a:srgbClr val="387F6A"/>
          </a:solidFill>
          <a:ln w="12700">
            <a:solidFill>
              <a:srgbClr val="387F6A"/>
            </a:solidFill>
            <a:prstDash val="solid"/>
          </a:ln>
        </p:spPr>
      </p:sp>
      <p:sp>
        <p:nvSpPr>
          <p:cNvPr id="10" name="Text 8"/>
          <p:cNvSpPr/>
          <p:nvPr/>
        </p:nvSpPr>
        <p:spPr>
          <a:xfrm>
            <a:off x="6455664" y="630936"/>
            <a:ext cx="2560320" cy="256032"/>
          </a:xfrm>
          <a:prstGeom prst="rect">
            <a:avLst/>
          </a:prstGeom>
          <a:noFill/>
          <a:ln/>
        </p:spPr>
        <p:txBody>
          <a:bodyPr wrap="square" lIns="0" tIns="0" rIns="0" bIns="0" rtlCol="0" anchor="ctr"/>
          <a:lstStyle/>
          <a:p>
            <a:pPr algn="l" indent="0" marL="0">
              <a:buNone/>
            </a:pPr>
            <a:r>
              <a:rPr lang="en-US" sz="850" dirty="0">
                <a:solidFill>
                  <a:srgbClr val="737373"/>
                </a:solidFill>
                <a:latin typeface="Calibri" pitchFamily="34" charset="0"/>
                <a:ea typeface="Calibri" pitchFamily="34" charset="-122"/>
                <a:cs typeface="Calibri" pitchFamily="34" charset="-120"/>
              </a:rPr>
              <a:t>Green — in place, with caveats</a:t>
            </a:r>
            <a:endParaRPr lang="en-US" sz="850" dirty="0"/>
          </a:p>
        </p:txBody>
      </p:sp>
      <p:sp>
        <p:nvSpPr>
          <p:cNvPr id="11" name="Shape 9"/>
          <p:cNvSpPr/>
          <p:nvPr/>
        </p:nvSpPr>
        <p:spPr>
          <a:xfrm>
            <a:off x="457200" y="969264"/>
            <a:ext cx="8321040" cy="722376"/>
          </a:xfrm>
          <a:prstGeom prst="rect">
            <a:avLst/>
          </a:prstGeom>
          <a:solidFill>
            <a:srgbClr val="F5F5F5"/>
          </a:solidFill>
          <a:ln w="12700">
            <a:solidFill>
              <a:srgbClr val="E8E8E8"/>
            </a:solidFill>
            <a:prstDash val="solid"/>
          </a:ln>
        </p:spPr>
      </p:sp>
      <p:sp>
        <p:nvSpPr>
          <p:cNvPr id="12" name="Shape 10"/>
          <p:cNvSpPr/>
          <p:nvPr/>
        </p:nvSpPr>
        <p:spPr>
          <a:xfrm>
            <a:off x="457200" y="969264"/>
            <a:ext cx="438912" cy="722376"/>
          </a:xfrm>
          <a:prstGeom prst="rect">
            <a:avLst/>
          </a:prstGeom>
          <a:solidFill>
            <a:srgbClr val="FC4D56"/>
          </a:solidFill>
          <a:ln w="12700">
            <a:solidFill>
              <a:srgbClr val="FC4D56"/>
            </a:solidFill>
            <a:prstDash val="solid"/>
          </a:ln>
        </p:spPr>
      </p:sp>
      <p:sp>
        <p:nvSpPr>
          <p:cNvPr id="13" name="Text 11"/>
          <p:cNvSpPr/>
          <p:nvPr/>
        </p:nvSpPr>
        <p:spPr>
          <a:xfrm>
            <a:off x="457200" y="969264"/>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4" name="Shape 12"/>
          <p:cNvSpPr/>
          <p:nvPr/>
        </p:nvSpPr>
        <p:spPr>
          <a:xfrm>
            <a:off x="7699248" y="1188720"/>
            <a:ext cx="914400" cy="274320"/>
          </a:xfrm>
          <a:prstGeom prst="rect">
            <a:avLst/>
          </a:prstGeom>
          <a:solidFill>
            <a:srgbClr val="FC4D56">
              <a:alpha val="15000"/>
            </a:srgbClr>
          </a:solidFill>
          <a:ln w="12700">
            <a:solidFill>
              <a:srgbClr val="FC4D56"/>
            </a:solidFill>
            <a:prstDash val="solid"/>
          </a:ln>
        </p:spPr>
      </p:sp>
      <p:sp>
        <p:nvSpPr>
          <p:cNvPr id="15" name="Text 13"/>
          <p:cNvSpPr/>
          <p:nvPr/>
        </p:nvSpPr>
        <p:spPr>
          <a:xfrm>
            <a:off x="7699248" y="1188720"/>
            <a:ext cx="914400" cy="274320"/>
          </a:xfrm>
          <a:prstGeom prst="rect">
            <a:avLst/>
          </a:prstGeom>
          <a:noFill/>
          <a:ln/>
        </p:spPr>
        <p:txBody>
          <a:bodyPr wrap="square" lIns="0" tIns="0" rIns="0" bIns="0" rtlCol="0" anchor="ctr"/>
          <a:lstStyle/>
          <a:p>
            <a:pPr algn="ctr" indent="0" marL="0">
              <a:buNone/>
            </a:pPr>
            <a:r>
              <a:rPr lang="en-US" sz="750" b="1" spc="50" kern="0" dirty="0">
                <a:solidFill>
                  <a:srgbClr val="FC4D56"/>
                </a:solidFill>
                <a:latin typeface="Calibri" pitchFamily="34" charset="0"/>
                <a:ea typeface="Calibri" pitchFamily="34" charset="-122"/>
                <a:cs typeface="Calibri" pitchFamily="34" charset="-120"/>
              </a:rPr>
              <a:t>RED</a:t>
            </a:r>
            <a:endParaRPr lang="en-US" sz="750" dirty="0"/>
          </a:p>
        </p:txBody>
      </p:sp>
      <p:sp>
        <p:nvSpPr>
          <p:cNvPr id="16" name="Text 14"/>
          <p:cNvSpPr/>
          <p:nvPr/>
        </p:nvSpPr>
        <p:spPr>
          <a:xfrm>
            <a:off x="987552" y="1024128"/>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A functioning rewards marketplace with local Barbados rewards</a:t>
            </a:r>
            <a:endParaRPr lang="en-US" sz="1000" dirty="0"/>
          </a:p>
        </p:txBody>
      </p:sp>
      <p:sp>
        <p:nvSpPr>
          <p:cNvPr id="17" name="Text 15"/>
          <p:cNvSpPr/>
          <p:nvPr/>
        </p:nvSpPr>
        <p:spPr>
          <a:xfrm>
            <a:off x="987552" y="1316736"/>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FutureBARBADOS must hold commercial relationships with Flow and Digicel, procure voucher codes, and pass to Zlto — no documented workflow exists and there is no formal Zlto SLA for this market.</a:t>
            </a:r>
            <a:endParaRPr lang="en-US" sz="850" dirty="0"/>
          </a:p>
        </p:txBody>
      </p:sp>
      <p:sp>
        <p:nvSpPr>
          <p:cNvPr id="18" name="Shape 16"/>
          <p:cNvSpPr/>
          <p:nvPr/>
        </p:nvSpPr>
        <p:spPr>
          <a:xfrm>
            <a:off x="457200" y="1741932"/>
            <a:ext cx="8321040" cy="722376"/>
          </a:xfrm>
          <a:prstGeom prst="rect">
            <a:avLst/>
          </a:prstGeom>
          <a:solidFill>
            <a:srgbClr val="F5F5F5"/>
          </a:solidFill>
          <a:ln w="12700">
            <a:solidFill>
              <a:srgbClr val="E8E8E8"/>
            </a:solidFill>
            <a:prstDash val="solid"/>
          </a:ln>
        </p:spPr>
      </p:sp>
      <p:sp>
        <p:nvSpPr>
          <p:cNvPr id="19" name="Shape 17"/>
          <p:cNvSpPr/>
          <p:nvPr/>
        </p:nvSpPr>
        <p:spPr>
          <a:xfrm>
            <a:off x="457200" y="1741932"/>
            <a:ext cx="438912" cy="722376"/>
          </a:xfrm>
          <a:prstGeom prst="rect">
            <a:avLst/>
          </a:prstGeom>
          <a:solidFill>
            <a:srgbClr val="F0A02D"/>
          </a:solidFill>
          <a:ln w="12700">
            <a:solidFill>
              <a:srgbClr val="F0A02D"/>
            </a:solidFill>
            <a:prstDash val="solid"/>
          </a:ln>
        </p:spPr>
      </p:sp>
      <p:sp>
        <p:nvSpPr>
          <p:cNvPr id="20" name="Text 18"/>
          <p:cNvSpPr/>
          <p:nvPr/>
        </p:nvSpPr>
        <p:spPr>
          <a:xfrm>
            <a:off x="457200" y="1741932"/>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21" name="Shape 19"/>
          <p:cNvSpPr/>
          <p:nvPr/>
        </p:nvSpPr>
        <p:spPr>
          <a:xfrm>
            <a:off x="7699248" y="1961388"/>
            <a:ext cx="914400" cy="274320"/>
          </a:xfrm>
          <a:prstGeom prst="rect">
            <a:avLst/>
          </a:prstGeom>
          <a:solidFill>
            <a:srgbClr val="F0A02D">
              <a:alpha val="15000"/>
            </a:srgbClr>
          </a:solidFill>
          <a:ln w="12700">
            <a:solidFill>
              <a:srgbClr val="F0A02D"/>
            </a:solidFill>
            <a:prstDash val="solid"/>
          </a:ln>
        </p:spPr>
      </p:sp>
      <p:sp>
        <p:nvSpPr>
          <p:cNvPr id="22" name="Text 20"/>
          <p:cNvSpPr/>
          <p:nvPr/>
        </p:nvSpPr>
        <p:spPr>
          <a:xfrm>
            <a:off x="7699248" y="1961388"/>
            <a:ext cx="914400" cy="274320"/>
          </a:xfrm>
          <a:prstGeom prst="rect">
            <a:avLst/>
          </a:prstGeom>
          <a:noFill/>
          <a:ln/>
        </p:spPr>
        <p:txBody>
          <a:bodyPr wrap="square" lIns="0" tIns="0" rIns="0" bIns="0" rtlCol="0" anchor="ctr"/>
          <a:lstStyle/>
          <a:p>
            <a:pPr algn="ctr" indent="0" marL="0">
              <a:buNone/>
            </a:pPr>
            <a:r>
              <a:rPr lang="en-US" sz="750" b="1" spc="50" kern="0" dirty="0">
                <a:solidFill>
                  <a:srgbClr val="F0A02D"/>
                </a:solidFill>
                <a:latin typeface="Calibri" pitchFamily="34" charset="0"/>
                <a:ea typeface="Calibri" pitchFamily="34" charset="-122"/>
                <a:cs typeface="Calibri" pitchFamily="34" charset="-120"/>
              </a:rPr>
              <a:t>AMBER</a:t>
            </a:r>
            <a:endParaRPr lang="en-US" sz="750" dirty="0"/>
          </a:p>
        </p:txBody>
      </p:sp>
      <p:sp>
        <p:nvSpPr>
          <p:cNvPr id="23" name="Text 21"/>
          <p:cNvSpPr/>
          <p:nvPr/>
        </p:nvSpPr>
        <p:spPr>
          <a:xfrm>
            <a:off x="987552" y="1796796"/>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Youth communications via WhatsApp</a:t>
            </a:r>
            <a:endParaRPr lang="en-US" sz="1000" dirty="0"/>
          </a:p>
        </p:txBody>
      </p:sp>
      <p:sp>
        <p:nvSpPr>
          <p:cNvPr id="24" name="Text 22"/>
          <p:cNvSpPr/>
          <p:nvPr/>
        </p:nvSpPr>
        <p:spPr>
          <a:xfrm>
            <a:off x="987552" y="2089404"/>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Yoma has WhatsApp Business API for authentication only — not for engagement or notifications. Partners must manage all youth comms through their own channels. There is no platform-level notification system. Unresolved.</a:t>
            </a:r>
            <a:endParaRPr lang="en-US" sz="850" dirty="0"/>
          </a:p>
        </p:txBody>
      </p:sp>
      <p:sp>
        <p:nvSpPr>
          <p:cNvPr id="25" name="Shape 23"/>
          <p:cNvSpPr/>
          <p:nvPr/>
        </p:nvSpPr>
        <p:spPr>
          <a:xfrm>
            <a:off x="457200" y="2514600"/>
            <a:ext cx="8321040" cy="722376"/>
          </a:xfrm>
          <a:prstGeom prst="rect">
            <a:avLst/>
          </a:prstGeom>
          <a:solidFill>
            <a:srgbClr val="F5F5F5"/>
          </a:solidFill>
          <a:ln w="12700">
            <a:solidFill>
              <a:srgbClr val="E8E8E8"/>
            </a:solidFill>
            <a:prstDash val="solid"/>
          </a:ln>
        </p:spPr>
      </p:sp>
      <p:sp>
        <p:nvSpPr>
          <p:cNvPr id="26" name="Shape 24"/>
          <p:cNvSpPr/>
          <p:nvPr/>
        </p:nvSpPr>
        <p:spPr>
          <a:xfrm>
            <a:off x="457200" y="2514600"/>
            <a:ext cx="438912" cy="722376"/>
          </a:xfrm>
          <a:prstGeom prst="rect">
            <a:avLst/>
          </a:prstGeom>
          <a:solidFill>
            <a:srgbClr val="F0A02D"/>
          </a:solidFill>
          <a:ln w="12700">
            <a:solidFill>
              <a:srgbClr val="F0A02D"/>
            </a:solidFill>
            <a:prstDash val="solid"/>
          </a:ln>
        </p:spPr>
      </p:sp>
      <p:sp>
        <p:nvSpPr>
          <p:cNvPr id="27" name="Text 25"/>
          <p:cNvSpPr/>
          <p:nvPr/>
        </p:nvSpPr>
        <p:spPr>
          <a:xfrm>
            <a:off x="457200" y="2514600"/>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8" name="Shape 26"/>
          <p:cNvSpPr/>
          <p:nvPr/>
        </p:nvSpPr>
        <p:spPr>
          <a:xfrm>
            <a:off x="7699248" y="2734056"/>
            <a:ext cx="914400" cy="274320"/>
          </a:xfrm>
          <a:prstGeom prst="rect">
            <a:avLst/>
          </a:prstGeom>
          <a:solidFill>
            <a:srgbClr val="F0A02D">
              <a:alpha val="15000"/>
            </a:srgbClr>
          </a:solidFill>
          <a:ln w="12700">
            <a:solidFill>
              <a:srgbClr val="F0A02D"/>
            </a:solidFill>
            <a:prstDash val="solid"/>
          </a:ln>
        </p:spPr>
      </p:sp>
      <p:sp>
        <p:nvSpPr>
          <p:cNvPr id="29" name="Text 27"/>
          <p:cNvSpPr/>
          <p:nvPr/>
        </p:nvSpPr>
        <p:spPr>
          <a:xfrm>
            <a:off x="7699248" y="2734056"/>
            <a:ext cx="914400" cy="274320"/>
          </a:xfrm>
          <a:prstGeom prst="rect">
            <a:avLst/>
          </a:prstGeom>
          <a:noFill/>
          <a:ln/>
        </p:spPr>
        <p:txBody>
          <a:bodyPr wrap="square" lIns="0" tIns="0" rIns="0" bIns="0" rtlCol="0" anchor="ctr"/>
          <a:lstStyle/>
          <a:p>
            <a:pPr algn="ctr" indent="0" marL="0">
              <a:buNone/>
            </a:pPr>
            <a:r>
              <a:rPr lang="en-US" sz="750" b="1" spc="50" kern="0" dirty="0">
                <a:solidFill>
                  <a:srgbClr val="F0A02D"/>
                </a:solidFill>
                <a:latin typeface="Calibri" pitchFamily="34" charset="0"/>
                <a:ea typeface="Calibri" pitchFamily="34" charset="-122"/>
                <a:cs typeface="Calibri" pitchFamily="34" charset="-120"/>
              </a:rPr>
              <a:t>AMBER</a:t>
            </a:r>
            <a:endParaRPr lang="en-US" sz="750" dirty="0"/>
          </a:p>
        </p:txBody>
      </p:sp>
      <p:sp>
        <p:nvSpPr>
          <p:cNvPr id="30" name="Text 28"/>
          <p:cNvSpPr/>
          <p:nvPr/>
        </p:nvSpPr>
        <p:spPr>
          <a:xfrm>
            <a:off x="987552" y="2569464"/>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Partner training materials and an onboarding process</a:t>
            </a:r>
            <a:endParaRPr lang="en-US" sz="1000" dirty="0"/>
          </a:p>
        </p:txBody>
      </p:sp>
      <p:sp>
        <p:nvSpPr>
          <p:cNvPr id="31" name="Text 29"/>
          <p:cNvSpPr/>
          <p:nvPr/>
        </p:nvSpPr>
        <p:spPr>
          <a:xfrm>
            <a:off x="987552" y="2862072"/>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The Train-the-Trainer model is agreed in principle. The training materials and partner onboarding guides to execute it do not yet exist. FutureBARBADOS cannot train partners without them.</a:t>
            </a:r>
            <a:endParaRPr lang="en-US" sz="850" dirty="0"/>
          </a:p>
        </p:txBody>
      </p:sp>
      <p:sp>
        <p:nvSpPr>
          <p:cNvPr id="32" name="Shape 30"/>
          <p:cNvSpPr/>
          <p:nvPr/>
        </p:nvSpPr>
        <p:spPr>
          <a:xfrm>
            <a:off x="457200" y="3287268"/>
            <a:ext cx="8321040" cy="722376"/>
          </a:xfrm>
          <a:prstGeom prst="rect">
            <a:avLst/>
          </a:prstGeom>
          <a:solidFill>
            <a:srgbClr val="F5F5F5"/>
          </a:solidFill>
          <a:ln w="12700">
            <a:solidFill>
              <a:srgbClr val="E8E8E8"/>
            </a:solidFill>
            <a:prstDash val="solid"/>
          </a:ln>
        </p:spPr>
      </p:sp>
      <p:sp>
        <p:nvSpPr>
          <p:cNvPr id="33" name="Shape 31"/>
          <p:cNvSpPr/>
          <p:nvPr/>
        </p:nvSpPr>
        <p:spPr>
          <a:xfrm>
            <a:off x="457200" y="3287268"/>
            <a:ext cx="438912" cy="722376"/>
          </a:xfrm>
          <a:prstGeom prst="rect">
            <a:avLst/>
          </a:prstGeom>
          <a:solidFill>
            <a:srgbClr val="F0A02D"/>
          </a:solidFill>
          <a:ln w="12700">
            <a:solidFill>
              <a:srgbClr val="F0A02D"/>
            </a:solidFill>
            <a:prstDash val="solid"/>
          </a:ln>
        </p:spPr>
      </p:sp>
      <p:sp>
        <p:nvSpPr>
          <p:cNvPr id="34" name="Text 32"/>
          <p:cNvSpPr/>
          <p:nvPr/>
        </p:nvSpPr>
        <p:spPr>
          <a:xfrm>
            <a:off x="457200" y="3287268"/>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35" name="Shape 33"/>
          <p:cNvSpPr/>
          <p:nvPr/>
        </p:nvSpPr>
        <p:spPr>
          <a:xfrm>
            <a:off x="7699248" y="3506724"/>
            <a:ext cx="914400" cy="274320"/>
          </a:xfrm>
          <a:prstGeom prst="rect">
            <a:avLst/>
          </a:prstGeom>
          <a:solidFill>
            <a:srgbClr val="F0A02D">
              <a:alpha val="15000"/>
            </a:srgbClr>
          </a:solidFill>
          <a:ln w="12700">
            <a:solidFill>
              <a:srgbClr val="F0A02D"/>
            </a:solidFill>
            <a:prstDash val="solid"/>
          </a:ln>
        </p:spPr>
      </p:sp>
      <p:sp>
        <p:nvSpPr>
          <p:cNvPr id="36" name="Text 34"/>
          <p:cNvSpPr/>
          <p:nvPr/>
        </p:nvSpPr>
        <p:spPr>
          <a:xfrm>
            <a:off x="7699248" y="3506724"/>
            <a:ext cx="914400" cy="274320"/>
          </a:xfrm>
          <a:prstGeom prst="rect">
            <a:avLst/>
          </a:prstGeom>
          <a:noFill/>
          <a:ln/>
        </p:spPr>
        <p:txBody>
          <a:bodyPr wrap="square" lIns="0" tIns="0" rIns="0" bIns="0" rtlCol="0" anchor="ctr"/>
          <a:lstStyle/>
          <a:p>
            <a:pPr algn="ctr" indent="0" marL="0">
              <a:buNone/>
            </a:pPr>
            <a:r>
              <a:rPr lang="en-US" sz="750" b="1" spc="50" kern="0" dirty="0">
                <a:solidFill>
                  <a:srgbClr val="F0A02D"/>
                </a:solidFill>
                <a:latin typeface="Calibri" pitchFamily="34" charset="0"/>
                <a:ea typeface="Calibri" pitchFamily="34" charset="-122"/>
                <a:cs typeface="Calibri" pitchFamily="34" charset="-120"/>
              </a:rPr>
              <a:t>AMBER</a:t>
            </a:r>
            <a:endParaRPr lang="en-US" sz="750" dirty="0"/>
          </a:p>
        </p:txBody>
      </p:sp>
      <p:sp>
        <p:nvSpPr>
          <p:cNvPr id="37" name="Text 35"/>
          <p:cNvSpPr/>
          <p:nvPr/>
        </p:nvSpPr>
        <p:spPr>
          <a:xfrm>
            <a:off x="987552" y="3342132"/>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Data export and M&amp;E reporting</a:t>
            </a:r>
            <a:endParaRPr lang="en-US" sz="1000" dirty="0"/>
          </a:p>
        </p:txBody>
      </p:sp>
      <p:sp>
        <p:nvSpPr>
          <p:cNvPr id="38" name="Text 36"/>
          <p:cNvSpPr/>
          <p:nvPr/>
        </p:nvSpPr>
        <p:spPr>
          <a:xfrm>
            <a:off x="987552" y="3634740"/>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The Yoma dashboard tracks all key metrics but data cannot be exported. No CSV export or custom reporting exists. This is planned for Q4 2026 — potentially after the pilot reporting cycle. Manual workarounds will be needed.</a:t>
            </a:r>
            <a:endParaRPr lang="en-US" sz="850" dirty="0"/>
          </a:p>
        </p:txBody>
      </p:sp>
      <p:sp>
        <p:nvSpPr>
          <p:cNvPr id="39" name="Shape 37"/>
          <p:cNvSpPr/>
          <p:nvPr/>
        </p:nvSpPr>
        <p:spPr>
          <a:xfrm>
            <a:off x="457200" y="4059936"/>
            <a:ext cx="8321040" cy="722376"/>
          </a:xfrm>
          <a:prstGeom prst="rect">
            <a:avLst/>
          </a:prstGeom>
          <a:solidFill>
            <a:srgbClr val="F5F5F5"/>
          </a:solidFill>
          <a:ln w="12700">
            <a:solidFill>
              <a:srgbClr val="E8E8E8"/>
            </a:solidFill>
            <a:prstDash val="solid"/>
          </a:ln>
        </p:spPr>
      </p:sp>
      <p:sp>
        <p:nvSpPr>
          <p:cNvPr id="40" name="Shape 38"/>
          <p:cNvSpPr/>
          <p:nvPr/>
        </p:nvSpPr>
        <p:spPr>
          <a:xfrm>
            <a:off x="457200" y="4059936"/>
            <a:ext cx="438912" cy="722376"/>
          </a:xfrm>
          <a:prstGeom prst="rect">
            <a:avLst/>
          </a:prstGeom>
          <a:solidFill>
            <a:srgbClr val="387F6A"/>
          </a:solidFill>
          <a:ln w="12700">
            <a:solidFill>
              <a:srgbClr val="387F6A"/>
            </a:solidFill>
            <a:prstDash val="solid"/>
          </a:ln>
        </p:spPr>
      </p:sp>
      <p:sp>
        <p:nvSpPr>
          <p:cNvPr id="41" name="Text 39"/>
          <p:cNvSpPr/>
          <p:nvPr/>
        </p:nvSpPr>
        <p:spPr>
          <a:xfrm>
            <a:off x="457200" y="4059936"/>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42" name="Shape 40"/>
          <p:cNvSpPr/>
          <p:nvPr/>
        </p:nvSpPr>
        <p:spPr>
          <a:xfrm>
            <a:off x="7699248" y="4279392"/>
            <a:ext cx="914400" cy="274320"/>
          </a:xfrm>
          <a:prstGeom prst="rect">
            <a:avLst/>
          </a:prstGeom>
          <a:solidFill>
            <a:srgbClr val="387F6A">
              <a:alpha val="15000"/>
            </a:srgbClr>
          </a:solidFill>
          <a:ln w="12700">
            <a:solidFill>
              <a:srgbClr val="387F6A"/>
            </a:solidFill>
            <a:prstDash val="solid"/>
          </a:ln>
        </p:spPr>
      </p:sp>
      <p:sp>
        <p:nvSpPr>
          <p:cNvPr id="43" name="Text 41"/>
          <p:cNvSpPr/>
          <p:nvPr/>
        </p:nvSpPr>
        <p:spPr>
          <a:xfrm>
            <a:off x="7699248" y="4279392"/>
            <a:ext cx="914400" cy="274320"/>
          </a:xfrm>
          <a:prstGeom prst="rect">
            <a:avLst/>
          </a:prstGeom>
          <a:noFill/>
          <a:ln/>
        </p:spPr>
        <p:txBody>
          <a:bodyPr wrap="square" lIns="0" tIns="0" rIns="0" bIns="0" rtlCol="0" anchor="ctr"/>
          <a:lstStyle/>
          <a:p>
            <a:pPr algn="ctr" indent="0" marL="0">
              <a:buNone/>
            </a:pPr>
            <a:r>
              <a:rPr lang="en-US" sz="750" b="1" spc="50" kern="0" dirty="0">
                <a:solidFill>
                  <a:srgbClr val="387F6A"/>
                </a:solidFill>
                <a:latin typeface="Calibri" pitchFamily="34" charset="0"/>
                <a:ea typeface="Calibri" pitchFamily="34" charset="-122"/>
                <a:cs typeface="Calibri" pitchFamily="34" charset="-120"/>
              </a:rPr>
              <a:t>GREEN*</a:t>
            </a:r>
            <a:endParaRPr lang="en-US" sz="750" dirty="0"/>
          </a:p>
        </p:txBody>
      </p:sp>
      <p:sp>
        <p:nvSpPr>
          <p:cNvPr id="44" name="Text 42"/>
          <p:cNvSpPr/>
          <p:nvPr/>
        </p:nvSpPr>
        <p:spPr>
          <a:xfrm>
            <a:off x="987552" y="4114800"/>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A staging / beta environment for pre-launch testing</a:t>
            </a:r>
            <a:endParaRPr lang="en-US" sz="1000" dirty="0"/>
          </a:p>
        </p:txBody>
      </p:sp>
      <p:sp>
        <p:nvSpPr>
          <p:cNvPr id="45" name="Text 43"/>
          <p:cNvSpPr/>
          <p:nvPr/>
        </p:nvSpPr>
        <p:spPr>
          <a:xfrm>
            <a:off x="987552" y="4407408"/>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No separate beta environment exists — only the live platform. A staging environment was being arranged but requires development team involvement to configure. Not self-service; not standard; requires a formal request.</a:t>
            </a:r>
            <a:endParaRPr lang="en-US" sz="850" dirty="0"/>
          </a:p>
        </p:txBody>
      </p:sp>
      <p:sp>
        <p:nvSpPr>
          <p:cNvPr id="46" name="Shape 44"/>
          <p:cNvSpPr/>
          <p:nvPr/>
        </p:nvSpPr>
        <p:spPr>
          <a:xfrm>
            <a:off x="457200" y="4818888"/>
            <a:ext cx="8321040" cy="256032"/>
          </a:xfrm>
          <a:prstGeom prst="rect">
            <a:avLst/>
          </a:prstGeom>
          <a:solidFill>
            <a:srgbClr val="41204B"/>
          </a:solidFill>
          <a:ln w="12700">
            <a:solidFill>
              <a:srgbClr val="41204B"/>
            </a:solidFill>
            <a:prstDash val="solid"/>
          </a:ln>
        </p:spPr>
      </p:sp>
      <p:sp>
        <p:nvSpPr>
          <p:cNvPr id="47" name="Text 45"/>
          <p:cNvSpPr/>
          <p:nvPr/>
        </p:nvSpPr>
        <p:spPr>
          <a:xfrm>
            <a:off x="594360" y="4818888"/>
            <a:ext cx="8046720" cy="256032"/>
          </a:xfrm>
          <a:prstGeom prst="rect">
            <a:avLst/>
          </a:prstGeom>
          <a:noFill/>
          <a:ln/>
        </p:spPr>
        <p:txBody>
          <a:bodyPr wrap="square" lIns="0" tIns="0" rIns="0" bIns="0" rtlCol="0" anchor="ctr"/>
          <a:lstStyle/>
          <a:p>
            <a:pPr algn="l" indent="0" marL="0">
              <a:buNone/>
            </a:pPr>
            <a:r>
              <a:rPr lang="en-US" sz="850" i="1" dirty="0">
                <a:solidFill>
                  <a:srgbClr val="FFFFFF"/>
                </a:solidFill>
                <a:latin typeface="Calibri" pitchFamily="34" charset="0"/>
                <a:ea typeface="Calibri" pitchFamily="34" charset="-122"/>
                <a:cs typeface="Calibri" pitchFamily="34" charset="-120"/>
              </a:rPr>
              <a:t>All requirements are Tier 1 — core to the Good Bank value proposition. Every one has an unresolved operational question sitting behind the technology.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41204B"/>
          </a:solidFill>
          <a:ln w="12700">
            <a:solidFill>
              <a:srgbClr val="41204B"/>
            </a:solidFill>
            <a:prstDash val="solid"/>
          </a:ln>
        </p:spPr>
      </p:sp>
      <p:sp>
        <p:nvSpPr>
          <p:cNvPr id="3" name="Shape 1"/>
          <p:cNvSpPr/>
          <p:nvPr/>
        </p:nvSpPr>
        <p:spPr>
          <a:xfrm>
            <a:off x="347472" y="0"/>
            <a:ext cx="8796528" cy="594360"/>
          </a:xfrm>
          <a:prstGeom prst="rect">
            <a:avLst/>
          </a:prstGeom>
          <a:solidFill>
            <a:srgbClr val="41204B"/>
          </a:solidFill>
          <a:ln w="12700">
            <a:solidFill>
              <a:srgbClr val="41204B"/>
            </a:solidFill>
            <a:prstDash val="solid"/>
          </a:ln>
        </p:spPr>
      </p:sp>
      <p:sp>
        <p:nvSpPr>
          <p:cNvPr id="4" name="Text 2"/>
          <p:cNvSpPr/>
          <p:nvPr/>
        </p:nvSpPr>
        <p:spPr>
          <a:xfrm>
            <a:off x="548640" y="0"/>
            <a:ext cx="8229600" cy="59436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TOP 10 REQUIREMENTS FOR BARBADOS  ·  2 OF 2</a:t>
            </a:r>
            <a:endParaRPr lang="en-US" sz="1100" dirty="0"/>
          </a:p>
        </p:txBody>
      </p:sp>
      <p:sp>
        <p:nvSpPr>
          <p:cNvPr id="5" name="Shape 3"/>
          <p:cNvSpPr/>
          <p:nvPr/>
        </p:nvSpPr>
        <p:spPr>
          <a:xfrm>
            <a:off x="548640" y="667512"/>
            <a:ext cx="164592" cy="164592"/>
          </a:xfrm>
          <a:prstGeom prst="ellipse">
            <a:avLst/>
          </a:prstGeom>
          <a:solidFill>
            <a:srgbClr val="FC4D56"/>
          </a:solidFill>
          <a:ln w="12700">
            <a:solidFill>
              <a:srgbClr val="FC4D56"/>
            </a:solidFill>
            <a:prstDash val="solid"/>
          </a:ln>
        </p:spPr>
      </p:sp>
      <p:sp>
        <p:nvSpPr>
          <p:cNvPr id="6" name="Text 4"/>
          <p:cNvSpPr/>
          <p:nvPr/>
        </p:nvSpPr>
        <p:spPr>
          <a:xfrm>
            <a:off x="786384" y="630936"/>
            <a:ext cx="2560320" cy="256032"/>
          </a:xfrm>
          <a:prstGeom prst="rect">
            <a:avLst/>
          </a:prstGeom>
          <a:noFill/>
          <a:ln/>
        </p:spPr>
        <p:txBody>
          <a:bodyPr wrap="square" lIns="0" tIns="0" rIns="0" bIns="0" rtlCol="0" anchor="ctr"/>
          <a:lstStyle/>
          <a:p>
            <a:pPr algn="l" indent="0" marL="0">
              <a:buNone/>
            </a:pPr>
            <a:r>
              <a:rPr lang="en-US" sz="850" dirty="0">
                <a:solidFill>
                  <a:srgbClr val="737373"/>
                </a:solidFill>
                <a:latin typeface="Calibri" pitchFamily="34" charset="0"/>
                <a:ea typeface="Calibri" pitchFamily="34" charset="-122"/>
                <a:cs typeface="Calibri" pitchFamily="34" charset="-120"/>
              </a:rPr>
              <a:t>Red — critical gap / blocker</a:t>
            </a:r>
            <a:endParaRPr lang="en-US" sz="850" dirty="0"/>
          </a:p>
        </p:txBody>
      </p:sp>
      <p:sp>
        <p:nvSpPr>
          <p:cNvPr id="7" name="Shape 5"/>
          <p:cNvSpPr/>
          <p:nvPr/>
        </p:nvSpPr>
        <p:spPr>
          <a:xfrm>
            <a:off x="3383280" y="667512"/>
            <a:ext cx="164592" cy="164592"/>
          </a:xfrm>
          <a:prstGeom prst="ellipse">
            <a:avLst/>
          </a:prstGeom>
          <a:solidFill>
            <a:srgbClr val="F0A02D"/>
          </a:solidFill>
          <a:ln w="12700">
            <a:solidFill>
              <a:srgbClr val="F0A02D"/>
            </a:solidFill>
            <a:prstDash val="solid"/>
          </a:ln>
        </p:spPr>
      </p:sp>
      <p:sp>
        <p:nvSpPr>
          <p:cNvPr id="8" name="Text 6"/>
          <p:cNvSpPr/>
          <p:nvPr/>
        </p:nvSpPr>
        <p:spPr>
          <a:xfrm>
            <a:off x="3621024" y="630936"/>
            <a:ext cx="2560320" cy="256032"/>
          </a:xfrm>
          <a:prstGeom prst="rect">
            <a:avLst/>
          </a:prstGeom>
          <a:noFill/>
          <a:ln/>
        </p:spPr>
        <p:txBody>
          <a:bodyPr wrap="square" lIns="0" tIns="0" rIns="0" bIns="0" rtlCol="0" anchor="ctr"/>
          <a:lstStyle/>
          <a:p>
            <a:pPr algn="l" indent="0" marL="0">
              <a:buNone/>
            </a:pPr>
            <a:r>
              <a:rPr lang="en-US" sz="850" dirty="0">
                <a:solidFill>
                  <a:srgbClr val="737373"/>
                </a:solidFill>
                <a:latin typeface="Calibri" pitchFamily="34" charset="0"/>
                <a:ea typeface="Calibri" pitchFamily="34" charset="-122"/>
                <a:cs typeface="Calibri" pitchFamily="34" charset="-120"/>
              </a:rPr>
              <a:t>Amber — gaps remain</a:t>
            </a:r>
            <a:endParaRPr lang="en-US" sz="850" dirty="0"/>
          </a:p>
        </p:txBody>
      </p:sp>
      <p:sp>
        <p:nvSpPr>
          <p:cNvPr id="9" name="Shape 7"/>
          <p:cNvSpPr/>
          <p:nvPr/>
        </p:nvSpPr>
        <p:spPr>
          <a:xfrm>
            <a:off x="6217920" y="667512"/>
            <a:ext cx="164592" cy="164592"/>
          </a:xfrm>
          <a:prstGeom prst="ellipse">
            <a:avLst/>
          </a:prstGeom>
          <a:solidFill>
            <a:srgbClr val="387F6A"/>
          </a:solidFill>
          <a:ln w="12700">
            <a:solidFill>
              <a:srgbClr val="387F6A"/>
            </a:solidFill>
            <a:prstDash val="solid"/>
          </a:ln>
        </p:spPr>
      </p:sp>
      <p:sp>
        <p:nvSpPr>
          <p:cNvPr id="10" name="Text 8"/>
          <p:cNvSpPr/>
          <p:nvPr/>
        </p:nvSpPr>
        <p:spPr>
          <a:xfrm>
            <a:off x="6455664" y="630936"/>
            <a:ext cx="2560320" cy="256032"/>
          </a:xfrm>
          <a:prstGeom prst="rect">
            <a:avLst/>
          </a:prstGeom>
          <a:noFill/>
          <a:ln/>
        </p:spPr>
        <p:txBody>
          <a:bodyPr wrap="square" lIns="0" tIns="0" rIns="0" bIns="0" rtlCol="0" anchor="ctr"/>
          <a:lstStyle/>
          <a:p>
            <a:pPr algn="l" indent="0" marL="0">
              <a:buNone/>
            </a:pPr>
            <a:r>
              <a:rPr lang="en-US" sz="850" dirty="0">
                <a:solidFill>
                  <a:srgbClr val="737373"/>
                </a:solidFill>
                <a:latin typeface="Calibri" pitchFamily="34" charset="0"/>
                <a:ea typeface="Calibri" pitchFamily="34" charset="-122"/>
                <a:cs typeface="Calibri" pitchFamily="34" charset="-120"/>
              </a:rPr>
              <a:t>Green — in place, with caveats</a:t>
            </a:r>
            <a:endParaRPr lang="en-US" sz="850" dirty="0"/>
          </a:p>
        </p:txBody>
      </p:sp>
      <p:sp>
        <p:nvSpPr>
          <p:cNvPr id="11" name="Shape 9"/>
          <p:cNvSpPr/>
          <p:nvPr/>
        </p:nvSpPr>
        <p:spPr>
          <a:xfrm>
            <a:off x="457200" y="969264"/>
            <a:ext cx="8321040" cy="722376"/>
          </a:xfrm>
          <a:prstGeom prst="rect">
            <a:avLst/>
          </a:prstGeom>
          <a:solidFill>
            <a:srgbClr val="F5F5F5"/>
          </a:solidFill>
          <a:ln w="12700">
            <a:solidFill>
              <a:srgbClr val="E8E8E8"/>
            </a:solidFill>
            <a:prstDash val="solid"/>
          </a:ln>
        </p:spPr>
      </p:sp>
      <p:sp>
        <p:nvSpPr>
          <p:cNvPr id="12" name="Shape 10"/>
          <p:cNvSpPr/>
          <p:nvPr/>
        </p:nvSpPr>
        <p:spPr>
          <a:xfrm>
            <a:off x="457200" y="969264"/>
            <a:ext cx="438912" cy="722376"/>
          </a:xfrm>
          <a:prstGeom prst="rect">
            <a:avLst/>
          </a:prstGeom>
          <a:solidFill>
            <a:srgbClr val="387F6A"/>
          </a:solidFill>
          <a:ln w="12700">
            <a:solidFill>
              <a:srgbClr val="387F6A"/>
            </a:solidFill>
            <a:prstDash val="solid"/>
          </a:ln>
        </p:spPr>
      </p:sp>
      <p:sp>
        <p:nvSpPr>
          <p:cNvPr id="13" name="Text 11"/>
          <p:cNvSpPr/>
          <p:nvPr/>
        </p:nvSpPr>
        <p:spPr>
          <a:xfrm>
            <a:off x="457200" y="969264"/>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14" name="Shape 12"/>
          <p:cNvSpPr/>
          <p:nvPr/>
        </p:nvSpPr>
        <p:spPr>
          <a:xfrm>
            <a:off x="7699248" y="1188720"/>
            <a:ext cx="914400" cy="274320"/>
          </a:xfrm>
          <a:prstGeom prst="rect">
            <a:avLst/>
          </a:prstGeom>
          <a:solidFill>
            <a:srgbClr val="387F6A">
              <a:alpha val="15000"/>
            </a:srgbClr>
          </a:solidFill>
          <a:ln w="12700">
            <a:solidFill>
              <a:srgbClr val="387F6A"/>
            </a:solidFill>
            <a:prstDash val="solid"/>
          </a:ln>
        </p:spPr>
      </p:sp>
      <p:sp>
        <p:nvSpPr>
          <p:cNvPr id="15" name="Text 13"/>
          <p:cNvSpPr/>
          <p:nvPr/>
        </p:nvSpPr>
        <p:spPr>
          <a:xfrm>
            <a:off x="7699248" y="1188720"/>
            <a:ext cx="914400" cy="274320"/>
          </a:xfrm>
          <a:prstGeom prst="rect">
            <a:avLst/>
          </a:prstGeom>
          <a:noFill/>
          <a:ln/>
        </p:spPr>
        <p:txBody>
          <a:bodyPr wrap="square" lIns="0" tIns="0" rIns="0" bIns="0" rtlCol="0" anchor="ctr"/>
          <a:lstStyle/>
          <a:p>
            <a:pPr algn="ctr" indent="0" marL="0">
              <a:buNone/>
            </a:pPr>
            <a:r>
              <a:rPr lang="en-US" sz="750" b="1" spc="50" kern="0" dirty="0">
                <a:solidFill>
                  <a:srgbClr val="387F6A"/>
                </a:solidFill>
                <a:latin typeface="Calibri" pitchFamily="34" charset="0"/>
                <a:ea typeface="Calibri" pitchFamily="34" charset="-122"/>
                <a:cs typeface="Calibri" pitchFamily="34" charset="-120"/>
              </a:rPr>
              <a:t>GREEN*</a:t>
            </a:r>
            <a:endParaRPr lang="en-US" sz="750" dirty="0"/>
          </a:p>
        </p:txBody>
      </p:sp>
      <p:sp>
        <p:nvSpPr>
          <p:cNvPr id="16" name="Text 14"/>
          <p:cNvSpPr/>
          <p:nvPr/>
        </p:nvSpPr>
        <p:spPr>
          <a:xfrm>
            <a:off x="987552" y="1024128"/>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Mobile-first performance on Barbadian networks</a:t>
            </a:r>
            <a:endParaRPr lang="en-US" sz="1000" dirty="0"/>
          </a:p>
        </p:txBody>
      </p:sp>
      <p:sp>
        <p:nvSpPr>
          <p:cNvPr id="17" name="Text 15"/>
          <p:cNvSpPr/>
          <p:nvPr/>
        </p:nvSpPr>
        <p:spPr>
          <a:xfrm>
            <a:off x="987552" y="1316736"/>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Platform confirmed mobile-optimised and low-data. But specific performance benchmarks — page load times, data per session — were not provided. Given high data costs in Barbados are a stated drop-off risk, the gap in detail matters.</a:t>
            </a:r>
            <a:endParaRPr lang="en-US" sz="850" dirty="0"/>
          </a:p>
        </p:txBody>
      </p:sp>
      <p:sp>
        <p:nvSpPr>
          <p:cNvPr id="18" name="Shape 16"/>
          <p:cNvSpPr/>
          <p:nvPr/>
        </p:nvSpPr>
        <p:spPr>
          <a:xfrm>
            <a:off x="457200" y="1741932"/>
            <a:ext cx="8321040" cy="722376"/>
          </a:xfrm>
          <a:prstGeom prst="rect">
            <a:avLst/>
          </a:prstGeom>
          <a:solidFill>
            <a:srgbClr val="F5F5F5"/>
          </a:solidFill>
          <a:ln w="12700">
            <a:solidFill>
              <a:srgbClr val="E8E8E8"/>
            </a:solidFill>
            <a:prstDash val="solid"/>
          </a:ln>
        </p:spPr>
      </p:sp>
      <p:sp>
        <p:nvSpPr>
          <p:cNvPr id="19" name="Shape 17"/>
          <p:cNvSpPr/>
          <p:nvPr/>
        </p:nvSpPr>
        <p:spPr>
          <a:xfrm>
            <a:off x="457200" y="1741932"/>
            <a:ext cx="438912" cy="722376"/>
          </a:xfrm>
          <a:prstGeom prst="rect">
            <a:avLst/>
          </a:prstGeom>
          <a:solidFill>
            <a:srgbClr val="387F6A"/>
          </a:solidFill>
          <a:ln w="12700">
            <a:solidFill>
              <a:srgbClr val="387F6A"/>
            </a:solidFill>
            <a:prstDash val="solid"/>
          </a:ln>
        </p:spPr>
      </p:sp>
      <p:sp>
        <p:nvSpPr>
          <p:cNvPr id="20" name="Text 18"/>
          <p:cNvSpPr/>
          <p:nvPr/>
        </p:nvSpPr>
        <p:spPr>
          <a:xfrm>
            <a:off x="457200" y="1741932"/>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21" name="Shape 19"/>
          <p:cNvSpPr/>
          <p:nvPr/>
        </p:nvSpPr>
        <p:spPr>
          <a:xfrm>
            <a:off x="7699248" y="1961388"/>
            <a:ext cx="914400" cy="274320"/>
          </a:xfrm>
          <a:prstGeom prst="rect">
            <a:avLst/>
          </a:prstGeom>
          <a:solidFill>
            <a:srgbClr val="387F6A">
              <a:alpha val="15000"/>
            </a:srgbClr>
          </a:solidFill>
          <a:ln w="12700">
            <a:solidFill>
              <a:srgbClr val="387F6A"/>
            </a:solidFill>
            <a:prstDash val="solid"/>
          </a:ln>
        </p:spPr>
      </p:sp>
      <p:sp>
        <p:nvSpPr>
          <p:cNvPr id="22" name="Text 20"/>
          <p:cNvSpPr/>
          <p:nvPr/>
        </p:nvSpPr>
        <p:spPr>
          <a:xfrm>
            <a:off x="7699248" y="1961388"/>
            <a:ext cx="914400" cy="274320"/>
          </a:xfrm>
          <a:prstGeom prst="rect">
            <a:avLst/>
          </a:prstGeom>
          <a:noFill/>
          <a:ln/>
        </p:spPr>
        <p:txBody>
          <a:bodyPr wrap="square" lIns="0" tIns="0" rIns="0" bIns="0" rtlCol="0" anchor="ctr"/>
          <a:lstStyle/>
          <a:p>
            <a:pPr algn="ctr" indent="0" marL="0">
              <a:buNone/>
            </a:pPr>
            <a:r>
              <a:rPr lang="en-US" sz="750" b="1" spc="50" kern="0" dirty="0">
                <a:solidFill>
                  <a:srgbClr val="387F6A"/>
                </a:solidFill>
                <a:latin typeface="Calibri" pitchFamily="34" charset="0"/>
                <a:ea typeface="Calibri" pitchFamily="34" charset="-122"/>
                <a:cs typeface="Calibri" pitchFamily="34" charset="-120"/>
              </a:rPr>
              <a:t>GREEN*</a:t>
            </a:r>
            <a:endParaRPr lang="en-US" sz="750" dirty="0"/>
          </a:p>
        </p:txBody>
      </p:sp>
      <p:sp>
        <p:nvSpPr>
          <p:cNvPr id="23" name="Text 21"/>
          <p:cNvSpPr/>
          <p:nvPr/>
        </p:nvSpPr>
        <p:spPr>
          <a:xfrm>
            <a:off x="987552" y="1796796"/>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Youth onboarding under 5 minutes, with under-18 considerations</a:t>
            </a:r>
            <a:endParaRPr lang="en-US" sz="1000" dirty="0"/>
          </a:p>
        </p:txBody>
      </p:sp>
      <p:sp>
        <p:nvSpPr>
          <p:cNvPr id="24" name="Text 22"/>
          <p:cNvSpPr/>
          <p:nvPr/>
        </p:nvSpPr>
        <p:spPr>
          <a:xfrm>
            <a:off x="987552" y="2089404"/>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Onboarding confirmed under 5 minutes. But there is no parental consent mechanism and age is entirely self-reported. For a government-backed programme targeting 13-year-olds, this is a safeguarding gap FutureBARBADOS must address programmatically.</a:t>
            </a:r>
            <a:endParaRPr lang="en-US" sz="850" dirty="0"/>
          </a:p>
        </p:txBody>
      </p:sp>
      <p:sp>
        <p:nvSpPr>
          <p:cNvPr id="25" name="Shape 23"/>
          <p:cNvSpPr/>
          <p:nvPr/>
        </p:nvSpPr>
        <p:spPr>
          <a:xfrm>
            <a:off x="457200" y="2514600"/>
            <a:ext cx="8321040" cy="722376"/>
          </a:xfrm>
          <a:prstGeom prst="rect">
            <a:avLst/>
          </a:prstGeom>
          <a:solidFill>
            <a:srgbClr val="F5F5F5"/>
          </a:solidFill>
          <a:ln w="12700">
            <a:solidFill>
              <a:srgbClr val="E8E8E8"/>
            </a:solidFill>
            <a:prstDash val="solid"/>
          </a:ln>
        </p:spPr>
      </p:sp>
      <p:sp>
        <p:nvSpPr>
          <p:cNvPr id="26" name="Shape 24"/>
          <p:cNvSpPr/>
          <p:nvPr/>
        </p:nvSpPr>
        <p:spPr>
          <a:xfrm>
            <a:off x="457200" y="2514600"/>
            <a:ext cx="438912" cy="722376"/>
          </a:xfrm>
          <a:prstGeom prst="rect">
            <a:avLst/>
          </a:prstGeom>
          <a:solidFill>
            <a:srgbClr val="387F6A"/>
          </a:solidFill>
          <a:ln w="12700">
            <a:solidFill>
              <a:srgbClr val="387F6A"/>
            </a:solidFill>
            <a:prstDash val="solid"/>
          </a:ln>
        </p:spPr>
      </p:sp>
      <p:sp>
        <p:nvSpPr>
          <p:cNvPr id="27" name="Text 25"/>
          <p:cNvSpPr/>
          <p:nvPr/>
        </p:nvSpPr>
        <p:spPr>
          <a:xfrm>
            <a:off x="457200" y="2514600"/>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28" name="Shape 26"/>
          <p:cNvSpPr/>
          <p:nvPr/>
        </p:nvSpPr>
        <p:spPr>
          <a:xfrm>
            <a:off x="7699248" y="2734056"/>
            <a:ext cx="914400" cy="274320"/>
          </a:xfrm>
          <a:prstGeom prst="rect">
            <a:avLst/>
          </a:prstGeom>
          <a:solidFill>
            <a:srgbClr val="387F6A">
              <a:alpha val="15000"/>
            </a:srgbClr>
          </a:solidFill>
          <a:ln w="12700">
            <a:solidFill>
              <a:srgbClr val="387F6A"/>
            </a:solidFill>
            <a:prstDash val="solid"/>
          </a:ln>
        </p:spPr>
      </p:sp>
      <p:sp>
        <p:nvSpPr>
          <p:cNvPr id="29" name="Text 27"/>
          <p:cNvSpPr/>
          <p:nvPr/>
        </p:nvSpPr>
        <p:spPr>
          <a:xfrm>
            <a:off x="7699248" y="2734056"/>
            <a:ext cx="914400" cy="274320"/>
          </a:xfrm>
          <a:prstGeom prst="rect">
            <a:avLst/>
          </a:prstGeom>
          <a:noFill/>
          <a:ln/>
        </p:spPr>
        <p:txBody>
          <a:bodyPr wrap="square" lIns="0" tIns="0" rIns="0" bIns="0" rtlCol="0" anchor="ctr"/>
          <a:lstStyle/>
          <a:p>
            <a:pPr algn="ctr" indent="0" marL="0">
              <a:buNone/>
            </a:pPr>
            <a:r>
              <a:rPr lang="en-US" sz="750" b="1" spc="50" kern="0" dirty="0">
                <a:solidFill>
                  <a:srgbClr val="387F6A"/>
                </a:solidFill>
                <a:latin typeface="Calibri" pitchFamily="34" charset="0"/>
                <a:ea typeface="Calibri" pitchFamily="34" charset="-122"/>
                <a:cs typeface="Calibri" pitchFamily="34" charset="-120"/>
              </a:rPr>
              <a:t>GREEN*</a:t>
            </a:r>
            <a:endParaRPr lang="en-US" sz="750" dirty="0"/>
          </a:p>
        </p:txBody>
      </p:sp>
      <p:sp>
        <p:nvSpPr>
          <p:cNvPr id="30" name="Text 28"/>
          <p:cNvSpPr/>
          <p:nvPr/>
        </p:nvSpPr>
        <p:spPr>
          <a:xfrm>
            <a:off x="987552" y="2569464"/>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Opportunity verification that is manageable at pilot scale</a:t>
            </a:r>
            <a:endParaRPr lang="en-US" sz="1000" dirty="0"/>
          </a:p>
        </p:txBody>
      </p:sp>
      <p:sp>
        <p:nvSpPr>
          <p:cNvPr id="31" name="Text 29"/>
          <p:cNvSpPr/>
          <p:nvPr/>
        </p:nvSpPr>
        <p:spPr>
          <a:xfrm>
            <a:off x="987552" y="2862072"/>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QR and link-based verification are available, but open links can be shared and abused, creating false credentials. No documentation exists on verification design approaches. FutureBARBADOS must develop its own guidance.</a:t>
            </a:r>
            <a:endParaRPr lang="en-US" sz="850" dirty="0"/>
          </a:p>
        </p:txBody>
      </p:sp>
      <p:sp>
        <p:nvSpPr>
          <p:cNvPr id="32" name="Shape 30"/>
          <p:cNvSpPr/>
          <p:nvPr/>
        </p:nvSpPr>
        <p:spPr>
          <a:xfrm>
            <a:off x="457200" y="3287268"/>
            <a:ext cx="8321040" cy="722376"/>
          </a:xfrm>
          <a:prstGeom prst="rect">
            <a:avLst/>
          </a:prstGeom>
          <a:solidFill>
            <a:srgbClr val="F5F5F5"/>
          </a:solidFill>
          <a:ln w="12700">
            <a:solidFill>
              <a:srgbClr val="E8E8E8"/>
            </a:solidFill>
            <a:prstDash val="solid"/>
          </a:ln>
        </p:spPr>
      </p:sp>
      <p:sp>
        <p:nvSpPr>
          <p:cNvPr id="33" name="Shape 31"/>
          <p:cNvSpPr/>
          <p:nvPr/>
        </p:nvSpPr>
        <p:spPr>
          <a:xfrm>
            <a:off x="457200" y="3287268"/>
            <a:ext cx="438912" cy="722376"/>
          </a:xfrm>
          <a:prstGeom prst="rect">
            <a:avLst/>
          </a:prstGeom>
          <a:solidFill>
            <a:srgbClr val="387F6A"/>
          </a:solidFill>
          <a:ln w="12700">
            <a:solidFill>
              <a:srgbClr val="387F6A"/>
            </a:solidFill>
            <a:prstDash val="solid"/>
          </a:ln>
        </p:spPr>
      </p:sp>
      <p:sp>
        <p:nvSpPr>
          <p:cNvPr id="34" name="Text 32"/>
          <p:cNvSpPr/>
          <p:nvPr/>
        </p:nvSpPr>
        <p:spPr>
          <a:xfrm>
            <a:off x="457200" y="3287268"/>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35" name="Shape 33"/>
          <p:cNvSpPr/>
          <p:nvPr/>
        </p:nvSpPr>
        <p:spPr>
          <a:xfrm>
            <a:off x="7699248" y="3506724"/>
            <a:ext cx="914400" cy="274320"/>
          </a:xfrm>
          <a:prstGeom prst="rect">
            <a:avLst/>
          </a:prstGeom>
          <a:solidFill>
            <a:srgbClr val="387F6A">
              <a:alpha val="15000"/>
            </a:srgbClr>
          </a:solidFill>
          <a:ln w="12700">
            <a:solidFill>
              <a:srgbClr val="387F6A"/>
            </a:solidFill>
            <a:prstDash val="solid"/>
          </a:ln>
        </p:spPr>
      </p:sp>
      <p:sp>
        <p:nvSpPr>
          <p:cNvPr id="36" name="Text 34"/>
          <p:cNvSpPr/>
          <p:nvPr/>
        </p:nvSpPr>
        <p:spPr>
          <a:xfrm>
            <a:off x="7699248" y="3506724"/>
            <a:ext cx="914400" cy="274320"/>
          </a:xfrm>
          <a:prstGeom prst="rect">
            <a:avLst/>
          </a:prstGeom>
          <a:noFill/>
          <a:ln/>
        </p:spPr>
        <p:txBody>
          <a:bodyPr wrap="square" lIns="0" tIns="0" rIns="0" bIns="0" rtlCol="0" anchor="ctr"/>
          <a:lstStyle/>
          <a:p>
            <a:pPr algn="ctr" indent="0" marL="0">
              <a:buNone/>
            </a:pPr>
            <a:r>
              <a:rPr lang="en-US" sz="750" b="1" spc="50" kern="0" dirty="0">
                <a:solidFill>
                  <a:srgbClr val="387F6A"/>
                </a:solidFill>
                <a:latin typeface="Calibri" pitchFamily="34" charset="0"/>
                <a:ea typeface="Calibri" pitchFamily="34" charset="-122"/>
                <a:cs typeface="Calibri" pitchFamily="34" charset="-120"/>
              </a:rPr>
              <a:t>GREEN*</a:t>
            </a:r>
            <a:endParaRPr lang="en-US" sz="750" dirty="0"/>
          </a:p>
        </p:txBody>
      </p:sp>
      <p:sp>
        <p:nvSpPr>
          <p:cNvPr id="37" name="Text 35"/>
          <p:cNvSpPr/>
          <p:nvPr/>
        </p:nvSpPr>
        <p:spPr>
          <a:xfrm>
            <a:off x="987552" y="3342132"/>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Role-based access for a multi-stakeholder pilot</a:t>
            </a:r>
            <a:endParaRPr lang="en-US" sz="1000" dirty="0"/>
          </a:p>
        </p:txBody>
      </p:sp>
      <p:sp>
        <p:nvSpPr>
          <p:cNvPr id="38" name="Text 36"/>
          <p:cNvSpPr/>
          <p:nvPr/>
        </p:nvSpPr>
        <p:spPr>
          <a:xfrm>
            <a:off x="987552" y="3634740"/>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Only three fixed roles exist. No custom roles can be created. Government observers wanting read-only access, or FutureBARBADOS needing to oversee multiple partner organisations from a single dashboard, cannot currently be accommodated.</a:t>
            </a:r>
            <a:endParaRPr lang="en-US" sz="850" dirty="0"/>
          </a:p>
        </p:txBody>
      </p:sp>
      <p:sp>
        <p:nvSpPr>
          <p:cNvPr id="39" name="Shape 37"/>
          <p:cNvSpPr/>
          <p:nvPr/>
        </p:nvSpPr>
        <p:spPr>
          <a:xfrm>
            <a:off x="457200" y="4059936"/>
            <a:ext cx="8321040" cy="722376"/>
          </a:xfrm>
          <a:prstGeom prst="rect">
            <a:avLst/>
          </a:prstGeom>
          <a:solidFill>
            <a:srgbClr val="F5F5F5"/>
          </a:solidFill>
          <a:ln w="12700">
            <a:solidFill>
              <a:srgbClr val="E8E8E8"/>
            </a:solidFill>
            <a:prstDash val="solid"/>
          </a:ln>
        </p:spPr>
      </p:sp>
      <p:sp>
        <p:nvSpPr>
          <p:cNvPr id="40" name="Shape 38"/>
          <p:cNvSpPr/>
          <p:nvPr/>
        </p:nvSpPr>
        <p:spPr>
          <a:xfrm>
            <a:off x="457200" y="4059936"/>
            <a:ext cx="438912" cy="722376"/>
          </a:xfrm>
          <a:prstGeom prst="rect">
            <a:avLst/>
          </a:prstGeom>
          <a:solidFill>
            <a:srgbClr val="387F6A"/>
          </a:solidFill>
          <a:ln w="12700">
            <a:solidFill>
              <a:srgbClr val="387F6A"/>
            </a:solidFill>
            <a:prstDash val="solid"/>
          </a:ln>
        </p:spPr>
      </p:sp>
      <p:sp>
        <p:nvSpPr>
          <p:cNvPr id="41" name="Text 39"/>
          <p:cNvSpPr/>
          <p:nvPr/>
        </p:nvSpPr>
        <p:spPr>
          <a:xfrm>
            <a:off x="457200" y="4059936"/>
            <a:ext cx="438912" cy="7223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2" name="Shape 40"/>
          <p:cNvSpPr/>
          <p:nvPr/>
        </p:nvSpPr>
        <p:spPr>
          <a:xfrm>
            <a:off x="7699248" y="4279392"/>
            <a:ext cx="914400" cy="274320"/>
          </a:xfrm>
          <a:prstGeom prst="rect">
            <a:avLst/>
          </a:prstGeom>
          <a:solidFill>
            <a:srgbClr val="387F6A">
              <a:alpha val="15000"/>
            </a:srgbClr>
          </a:solidFill>
          <a:ln w="12700">
            <a:solidFill>
              <a:srgbClr val="387F6A"/>
            </a:solidFill>
            <a:prstDash val="solid"/>
          </a:ln>
        </p:spPr>
      </p:sp>
      <p:sp>
        <p:nvSpPr>
          <p:cNvPr id="43" name="Text 41"/>
          <p:cNvSpPr/>
          <p:nvPr/>
        </p:nvSpPr>
        <p:spPr>
          <a:xfrm>
            <a:off x="7699248" y="4279392"/>
            <a:ext cx="914400" cy="274320"/>
          </a:xfrm>
          <a:prstGeom prst="rect">
            <a:avLst/>
          </a:prstGeom>
          <a:noFill/>
          <a:ln/>
        </p:spPr>
        <p:txBody>
          <a:bodyPr wrap="square" lIns="0" tIns="0" rIns="0" bIns="0" rtlCol="0" anchor="ctr"/>
          <a:lstStyle/>
          <a:p>
            <a:pPr algn="ctr" indent="0" marL="0">
              <a:buNone/>
            </a:pPr>
            <a:r>
              <a:rPr lang="en-US" sz="750" b="1" spc="50" kern="0" dirty="0">
                <a:solidFill>
                  <a:srgbClr val="387F6A"/>
                </a:solidFill>
                <a:latin typeface="Calibri" pitchFamily="34" charset="0"/>
                <a:ea typeface="Calibri" pitchFamily="34" charset="-122"/>
                <a:cs typeface="Calibri" pitchFamily="34" charset="-120"/>
              </a:rPr>
              <a:t>GREEN*</a:t>
            </a:r>
            <a:endParaRPr lang="en-US" sz="750" dirty="0"/>
          </a:p>
        </p:txBody>
      </p:sp>
      <p:sp>
        <p:nvSpPr>
          <p:cNvPr id="44" name="Text 42"/>
          <p:cNvSpPr/>
          <p:nvPr/>
        </p:nvSpPr>
        <p:spPr>
          <a:xfrm>
            <a:off x="987552" y="4114800"/>
            <a:ext cx="6629400" cy="274320"/>
          </a:xfrm>
          <a:prstGeom prst="rect">
            <a:avLst/>
          </a:prstGeom>
          <a:noFill/>
          <a:ln/>
        </p:spPr>
        <p:txBody>
          <a:bodyPr wrap="square" lIns="0" tIns="0" rIns="0" bIns="0" rtlCol="0" anchor="t"/>
          <a:lstStyle/>
          <a:p>
            <a:pPr algn="l" indent="0" marL="0">
              <a:buNone/>
            </a:pPr>
            <a:r>
              <a:rPr lang="en-US" sz="1000" b="1" dirty="0">
                <a:solidFill>
                  <a:srgbClr val="020304"/>
                </a:solidFill>
                <a:latin typeface="Calibri" pitchFamily="34" charset="0"/>
                <a:ea typeface="Calibri" pitchFamily="34" charset="-122"/>
                <a:cs typeface="Calibri" pitchFamily="34" charset="-120"/>
              </a:rPr>
              <a:t>A clear Zlto economy calibrated for the Barbados context</a:t>
            </a:r>
            <a:endParaRPr lang="en-US" sz="1000" dirty="0"/>
          </a:p>
        </p:txBody>
      </p:sp>
      <p:sp>
        <p:nvSpPr>
          <p:cNvPr id="45" name="Text 43"/>
          <p:cNvSpPr/>
          <p:nvPr/>
        </p:nvSpPr>
        <p:spPr>
          <a:xfrm>
            <a:off x="987552" y="4407408"/>
            <a:ext cx="6629400" cy="347472"/>
          </a:xfrm>
          <a:prstGeom prst="rect">
            <a:avLst/>
          </a:prstGeom>
          <a:noFill/>
          <a:ln/>
        </p:spPr>
        <p:txBody>
          <a:bodyPr wrap="square" lIns="0" tIns="0" rIns="0" bIns="0" rtlCol="0" anchor="t"/>
          <a:lstStyle/>
          <a:p>
            <a:pPr algn="l" indent="0" marL="0">
              <a:buNone/>
            </a:pPr>
            <a:r>
              <a:rPr lang="en-US" sz="850" dirty="0">
                <a:solidFill>
                  <a:srgbClr val="737373"/>
                </a:solidFill>
                <a:latin typeface="Calibri" pitchFamily="34" charset="0"/>
                <a:ea typeface="Calibri" pitchFamily="34" charset="-122"/>
                <a:cs typeface="Calibri" pitchFamily="34" charset="-120"/>
              </a:rPr>
              <a:t>Partners set Zlto values per opportunity but the Barbados exchange rate economics had not been worked through at the workshop. Without calibration, the incentive model risks feeling exploitative or becoming unsustainable.</a:t>
            </a:r>
            <a:endParaRPr lang="en-US" sz="850" dirty="0"/>
          </a:p>
        </p:txBody>
      </p:sp>
      <p:sp>
        <p:nvSpPr>
          <p:cNvPr id="46" name="Shape 44"/>
          <p:cNvSpPr/>
          <p:nvPr/>
        </p:nvSpPr>
        <p:spPr>
          <a:xfrm>
            <a:off x="457200" y="4818888"/>
            <a:ext cx="8321040" cy="256032"/>
          </a:xfrm>
          <a:prstGeom prst="rect">
            <a:avLst/>
          </a:prstGeom>
          <a:solidFill>
            <a:srgbClr val="41204B"/>
          </a:solidFill>
          <a:ln w="12700">
            <a:solidFill>
              <a:srgbClr val="41204B"/>
            </a:solidFill>
            <a:prstDash val="solid"/>
          </a:ln>
        </p:spPr>
      </p:sp>
      <p:sp>
        <p:nvSpPr>
          <p:cNvPr id="47" name="Text 45"/>
          <p:cNvSpPr/>
          <p:nvPr/>
        </p:nvSpPr>
        <p:spPr>
          <a:xfrm>
            <a:off x="594360" y="4818888"/>
            <a:ext cx="8046720" cy="256032"/>
          </a:xfrm>
          <a:prstGeom prst="rect">
            <a:avLst/>
          </a:prstGeom>
          <a:noFill/>
          <a:ln/>
        </p:spPr>
        <p:txBody>
          <a:bodyPr wrap="square" lIns="0" tIns="0" rIns="0" bIns="0" rtlCol="0" anchor="ctr"/>
          <a:lstStyle/>
          <a:p>
            <a:pPr algn="l" indent="0" marL="0">
              <a:buNone/>
            </a:pPr>
            <a:r>
              <a:rPr lang="en-US" sz="850" i="1" dirty="0">
                <a:solidFill>
                  <a:srgbClr val="FFFFFF"/>
                </a:solidFill>
                <a:latin typeface="Calibri" pitchFamily="34" charset="0"/>
                <a:ea typeface="Calibri" pitchFamily="34" charset="-122"/>
                <a:cs typeface="Calibri" pitchFamily="34" charset="-120"/>
              </a:rPr>
              <a:t>* Green means the technology exists. It does not mean it's operationally ready. Every Green item has an unresolved process, decision, or dependency behind it.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Yoma × Barbados — The Good Bank</dc:title>
  <dc:subject>PptxGenJS Presentation</dc:subject>
  <dc:creator>FutureBARBADOS</dc:creator>
  <cp:lastModifiedBy>FutureBARBADOS</cp:lastModifiedBy>
  <cp:revision>1</cp:revision>
  <dcterms:created xsi:type="dcterms:W3CDTF">2026-03-09T15:02:36Z</dcterms:created>
  <dcterms:modified xsi:type="dcterms:W3CDTF">2026-03-09T15:02:36Z</dcterms:modified>
</cp:coreProperties>
</file>